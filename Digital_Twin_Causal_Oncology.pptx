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7254" y="200377"/>
            <a:ext cx="16520690" cy="1393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559" y="2858911"/>
            <a:ext cx="7598409" cy="2216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4.jp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7.jpg" /><Relationship Id="rId4" Type="http://schemas.openxmlformats.org/officeDocument/2006/relationships/image" Target="../media/image6.jpg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7" Type="http://schemas.openxmlformats.org/officeDocument/2006/relationships/image" Target="../media/image14.png" /><Relationship Id="rId2" Type="http://schemas.openxmlformats.org/officeDocument/2006/relationships/image" Target="../media/image9.jp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3.jpg" /><Relationship Id="rId5" Type="http://schemas.openxmlformats.org/officeDocument/2006/relationships/image" Target="../media/image12.png" /><Relationship Id="rId4" Type="http://schemas.openxmlformats.org/officeDocument/2006/relationships/image" Target="../media/image11.jp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image" Target="../media/image15.jp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 /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 /><Relationship Id="rId3" Type="http://schemas.openxmlformats.org/officeDocument/2006/relationships/image" Target="../media/image22.jpg" /><Relationship Id="rId7" Type="http://schemas.openxmlformats.org/officeDocument/2006/relationships/image" Target="../media/image26.jpg" /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5.jpg" /><Relationship Id="rId5" Type="http://schemas.openxmlformats.org/officeDocument/2006/relationships/image" Target="../media/image24.jpg" /><Relationship Id="rId4" Type="http://schemas.openxmlformats.org/officeDocument/2006/relationships/image" Target="../media/image23.jpg" /><Relationship Id="rId9" Type="http://schemas.openxmlformats.org/officeDocument/2006/relationships/image" Target="../media/image28.jp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 /><Relationship Id="rId2" Type="http://schemas.openxmlformats.org/officeDocument/2006/relationships/image" Target="../media/image29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 /><Relationship Id="rId2" Type="http://schemas.openxmlformats.org/officeDocument/2006/relationships/image" Target="../media/image31.jp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35.png" /><Relationship Id="rId5" Type="http://schemas.openxmlformats.org/officeDocument/2006/relationships/image" Target="../media/image34.jpg" /><Relationship Id="rId4" Type="http://schemas.openxmlformats.org/officeDocument/2006/relationships/image" Target="../media/image33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 /><Relationship Id="rId2" Type="http://schemas.openxmlformats.org/officeDocument/2006/relationships/image" Target="../media/image36.jp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 /><Relationship Id="rId2" Type="http://schemas.openxmlformats.org/officeDocument/2006/relationships/image" Target="../media/image38.jp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42.jpg" /><Relationship Id="rId5" Type="http://schemas.openxmlformats.org/officeDocument/2006/relationships/image" Target="../media/image41.jpg" /><Relationship Id="rId4" Type="http://schemas.openxmlformats.org/officeDocument/2006/relationships/image" Target="../media/image40.jpg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9700" y="6184900"/>
            <a:ext cx="2476500" cy="2578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33500" y="6591300"/>
            <a:ext cx="2311400" cy="21590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01132" y="372886"/>
            <a:ext cx="15171419" cy="129159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25400" marR="5080" indent="-12700">
              <a:lnSpc>
                <a:spcPts val="4550"/>
              </a:lnSpc>
              <a:spcBef>
                <a:spcPts val="969"/>
              </a:spcBef>
              <a:tabLst>
                <a:tab pos="6513830" algn="l"/>
              </a:tabLst>
            </a:pPr>
            <a:r>
              <a:rPr sz="4500" dirty="0">
                <a:latin typeface="Cambria"/>
                <a:cs typeface="Cambria"/>
              </a:rPr>
              <a:t>La</a:t>
            </a:r>
            <a:r>
              <a:rPr sz="4500" spc="-250" dirty="0">
                <a:latin typeface="Cambria"/>
                <a:cs typeface="Cambria"/>
              </a:rPr>
              <a:t> </a:t>
            </a:r>
            <a:r>
              <a:rPr sz="4500" dirty="0">
                <a:latin typeface="Cambria"/>
                <a:cs typeface="Cambria"/>
              </a:rPr>
              <a:t>Question</a:t>
            </a:r>
            <a:r>
              <a:rPr sz="4500" spc="20" dirty="0">
                <a:latin typeface="Cambria"/>
                <a:cs typeface="Cambria"/>
              </a:rPr>
              <a:t> </a:t>
            </a:r>
            <a:r>
              <a:rPr sz="4500" spc="-10" dirty="0">
                <a:latin typeface="Cambria"/>
                <a:cs typeface="Cambria"/>
              </a:rPr>
              <a:t>Fondamentale</a:t>
            </a:r>
            <a:r>
              <a:rPr sz="4500" dirty="0">
                <a:latin typeface="Cambria"/>
                <a:cs typeface="Cambria"/>
              </a:rPr>
              <a:t>	:</a:t>
            </a:r>
            <a:r>
              <a:rPr sz="4500" spc="-250" dirty="0">
                <a:latin typeface="Cambria"/>
                <a:cs typeface="Cambria"/>
              </a:rPr>
              <a:t> </a:t>
            </a:r>
            <a:r>
              <a:rPr sz="4500" spc="-45" dirty="0">
                <a:latin typeface="Cambria"/>
                <a:cs typeface="Cambria"/>
              </a:rPr>
              <a:t>Corrélation</a:t>
            </a:r>
            <a:r>
              <a:rPr sz="4500" spc="75" dirty="0">
                <a:latin typeface="Cambria"/>
                <a:cs typeface="Cambria"/>
              </a:rPr>
              <a:t> </a:t>
            </a:r>
            <a:r>
              <a:rPr sz="4500" spc="-65" dirty="0">
                <a:latin typeface="Cambria"/>
                <a:cs typeface="Cambria"/>
              </a:rPr>
              <a:t>Statistique</a:t>
            </a:r>
            <a:r>
              <a:rPr sz="4500" spc="65" dirty="0">
                <a:latin typeface="Cambria"/>
                <a:cs typeface="Cambria"/>
              </a:rPr>
              <a:t> </a:t>
            </a:r>
            <a:r>
              <a:rPr sz="4500" dirty="0">
                <a:latin typeface="Cambria"/>
                <a:cs typeface="Cambria"/>
              </a:rPr>
              <a:t>ou</a:t>
            </a:r>
            <a:r>
              <a:rPr sz="4500" spc="-220" dirty="0">
                <a:latin typeface="Cambria"/>
                <a:cs typeface="Cambria"/>
              </a:rPr>
              <a:t> </a:t>
            </a:r>
            <a:r>
              <a:rPr sz="4500" spc="-70" dirty="0">
                <a:latin typeface="Cambria"/>
                <a:cs typeface="Cambria"/>
              </a:rPr>
              <a:t>Causalité </a:t>
            </a:r>
            <a:r>
              <a:rPr sz="4500" spc="-90" dirty="0">
                <a:latin typeface="Cambria"/>
                <a:cs typeface="Cambria"/>
              </a:rPr>
              <a:t>Biologique</a:t>
            </a:r>
            <a:r>
              <a:rPr sz="4500" spc="-120" dirty="0">
                <a:latin typeface="Cambria"/>
                <a:cs typeface="Cambria"/>
              </a:rPr>
              <a:t> </a:t>
            </a:r>
            <a:r>
              <a:rPr sz="4500" spc="120" dirty="0">
                <a:latin typeface="Cambria"/>
                <a:cs typeface="Cambria"/>
              </a:rPr>
              <a:t>?</a:t>
            </a:r>
            <a:endParaRPr sz="45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069" y="1825272"/>
            <a:ext cx="16151225" cy="80454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4765" marR="5080" indent="-12700">
              <a:lnSpc>
                <a:spcPts val="2800"/>
              </a:lnSpc>
              <a:spcBef>
                <a:spcPts val="635"/>
              </a:spcBef>
            </a:pPr>
            <a:r>
              <a:rPr sz="2750" spc="-235" dirty="0">
                <a:latin typeface="Arial"/>
                <a:cs typeface="Arial"/>
              </a:rPr>
              <a:t>«</a:t>
            </a:r>
            <a:r>
              <a:rPr sz="2750" spc="-105" dirty="0">
                <a:latin typeface="Arial"/>
                <a:cs typeface="Arial"/>
              </a:rPr>
              <a:t> </a:t>
            </a:r>
            <a:r>
              <a:rPr sz="2750" spc="-225" dirty="0">
                <a:latin typeface="Arial"/>
                <a:cs typeface="Arial"/>
              </a:rPr>
              <a:t>Voulons-nous</a:t>
            </a:r>
            <a:r>
              <a:rPr sz="2750" spc="35" dirty="0">
                <a:latin typeface="Arial"/>
                <a:cs typeface="Arial"/>
              </a:rPr>
              <a:t> </a:t>
            </a:r>
            <a:r>
              <a:rPr sz="2750" spc="-210" dirty="0">
                <a:latin typeface="Arial"/>
                <a:cs typeface="Arial"/>
              </a:rPr>
              <a:t>un</a:t>
            </a:r>
            <a:r>
              <a:rPr sz="2750" spc="-130" dirty="0">
                <a:latin typeface="Arial"/>
                <a:cs typeface="Arial"/>
              </a:rPr>
              <a:t> </a:t>
            </a:r>
            <a:r>
              <a:rPr sz="2750" spc="-225" dirty="0">
                <a:latin typeface="Arial"/>
                <a:cs typeface="Arial"/>
              </a:rPr>
              <a:t>modèle</a:t>
            </a:r>
            <a:r>
              <a:rPr sz="2750" spc="35" dirty="0">
                <a:latin typeface="Arial"/>
                <a:cs typeface="Arial"/>
              </a:rPr>
              <a:t> </a:t>
            </a:r>
            <a:r>
              <a:rPr sz="2750" spc="-170" dirty="0">
                <a:latin typeface="Arial"/>
                <a:cs typeface="Arial"/>
              </a:rPr>
              <a:t>qui</a:t>
            </a:r>
            <a:r>
              <a:rPr sz="2750" spc="-145" dirty="0">
                <a:latin typeface="Arial"/>
                <a:cs typeface="Arial"/>
              </a:rPr>
              <a:t> </a:t>
            </a:r>
            <a:r>
              <a:rPr sz="2750" spc="-114" dirty="0">
                <a:latin typeface="Arial"/>
                <a:cs typeface="Arial"/>
              </a:rPr>
              <a:t>prédit</a:t>
            </a:r>
            <a:r>
              <a:rPr sz="2750" spc="75" dirty="0">
                <a:latin typeface="Arial"/>
                <a:cs typeface="Arial"/>
              </a:rPr>
              <a:t> </a:t>
            </a:r>
            <a:r>
              <a:rPr sz="2750" spc="-215" dirty="0">
                <a:latin typeface="Arial"/>
                <a:cs typeface="Arial"/>
              </a:rPr>
              <a:t>simplement</a:t>
            </a:r>
            <a:r>
              <a:rPr sz="2750" spc="45" dirty="0">
                <a:latin typeface="Arial"/>
                <a:cs typeface="Arial"/>
              </a:rPr>
              <a:t> </a:t>
            </a:r>
            <a:r>
              <a:rPr sz="2750" spc="-185" dirty="0">
                <a:latin typeface="Arial"/>
                <a:cs typeface="Arial"/>
              </a:rPr>
              <a:t>ce</a:t>
            </a:r>
            <a:r>
              <a:rPr sz="2750" spc="-105" dirty="0">
                <a:latin typeface="Arial"/>
                <a:cs typeface="Arial"/>
              </a:rPr>
              <a:t> </a:t>
            </a:r>
            <a:r>
              <a:rPr sz="2750" spc="-210" dirty="0">
                <a:latin typeface="Arial"/>
                <a:cs typeface="Arial"/>
              </a:rPr>
              <a:t>que</a:t>
            </a:r>
            <a:r>
              <a:rPr sz="2750" spc="-135" dirty="0">
                <a:latin typeface="Arial"/>
                <a:cs typeface="Arial"/>
              </a:rPr>
              <a:t> </a:t>
            </a:r>
            <a:r>
              <a:rPr sz="2750" spc="-165" dirty="0">
                <a:latin typeface="Arial"/>
                <a:cs typeface="Arial"/>
              </a:rPr>
              <a:t>montrent</a:t>
            </a:r>
            <a:r>
              <a:rPr sz="2750" spc="114" dirty="0">
                <a:latin typeface="Arial"/>
                <a:cs typeface="Arial"/>
              </a:rPr>
              <a:t> </a:t>
            </a:r>
            <a:r>
              <a:rPr sz="2750" spc="-195" dirty="0">
                <a:latin typeface="Arial"/>
                <a:cs typeface="Arial"/>
              </a:rPr>
              <a:t>les</a:t>
            </a:r>
            <a:r>
              <a:rPr sz="2750" spc="-65" dirty="0">
                <a:latin typeface="Arial"/>
                <a:cs typeface="Arial"/>
              </a:rPr>
              <a:t> </a:t>
            </a:r>
            <a:r>
              <a:rPr sz="2750" spc="-204" dirty="0">
                <a:latin typeface="Arial"/>
                <a:cs typeface="Arial"/>
              </a:rPr>
              <a:t>données...</a:t>
            </a:r>
            <a:r>
              <a:rPr sz="2750" spc="75" dirty="0">
                <a:latin typeface="Arial"/>
                <a:cs typeface="Arial"/>
              </a:rPr>
              <a:t> </a:t>
            </a:r>
            <a:r>
              <a:rPr sz="2750" spc="-195" dirty="0">
                <a:latin typeface="Arial"/>
                <a:cs typeface="Arial"/>
              </a:rPr>
              <a:t>ou</a:t>
            </a:r>
            <a:r>
              <a:rPr sz="2750" spc="-140" dirty="0">
                <a:latin typeface="Arial"/>
                <a:cs typeface="Arial"/>
              </a:rPr>
              <a:t> </a:t>
            </a:r>
            <a:r>
              <a:rPr sz="2750" spc="-254" dirty="0">
                <a:latin typeface="Arial"/>
                <a:cs typeface="Arial"/>
              </a:rPr>
              <a:t>un</a:t>
            </a:r>
            <a:r>
              <a:rPr sz="2750" spc="-135" dirty="0">
                <a:latin typeface="Arial"/>
                <a:cs typeface="Arial"/>
              </a:rPr>
              <a:t> </a:t>
            </a:r>
            <a:r>
              <a:rPr sz="2750" spc="-220" dirty="0">
                <a:latin typeface="Arial"/>
                <a:cs typeface="Arial"/>
              </a:rPr>
              <a:t>modèle</a:t>
            </a:r>
            <a:r>
              <a:rPr sz="2750" spc="-25" dirty="0">
                <a:latin typeface="Arial"/>
                <a:cs typeface="Arial"/>
              </a:rPr>
              <a:t> </a:t>
            </a:r>
            <a:r>
              <a:rPr sz="2750" spc="-130" dirty="0">
                <a:latin typeface="Arial"/>
                <a:cs typeface="Arial"/>
              </a:rPr>
              <a:t>qui</a:t>
            </a:r>
            <a:r>
              <a:rPr sz="2750" spc="-180" dirty="0">
                <a:latin typeface="Arial"/>
                <a:cs typeface="Arial"/>
              </a:rPr>
              <a:t> </a:t>
            </a:r>
            <a:r>
              <a:rPr sz="2750" spc="-215" dirty="0">
                <a:latin typeface="Arial"/>
                <a:cs typeface="Arial"/>
              </a:rPr>
              <a:t>comprend</a:t>
            </a:r>
            <a:r>
              <a:rPr sz="2750" spc="60" dirty="0">
                <a:latin typeface="Arial"/>
                <a:cs typeface="Arial"/>
              </a:rPr>
              <a:t> </a:t>
            </a:r>
            <a:r>
              <a:rPr sz="2750" spc="-135" dirty="0">
                <a:latin typeface="Arial"/>
                <a:cs typeface="Arial"/>
              </a:rPr>
              <a:t>réellement </a:t>
            </a:r>
            <a:r>
              <a:rPr sz="2750" spc="-190" dirty="0">
                <a:latin typeface="Arial"/>
                <a:cs typeface="Arial"/>
              </a:rPr>
              <a:t>pourquoi</a:t>
            </a:r>
            <a:r>
              <a:rPr sz="2750" dirty="0">
                <a:latin typeface="Arial"/>
                <a:cs typeface="Arial"/>
              </a:rPr>
              <a:t> </a:t>
            </a:r>
            <a:r>
              <a:rPr sz="2750" spc="-180" dirty="0">
                <a:latin typeface="Arial"/>
                <a:cs typeface="Arial"/>
              </a:rPr>
              <a:t>le</a:t>
            </a:r>
            <a:r>
              <a:rPr sz="2750" spc="-114" dirty="0">
                <a:latin typeface="Arial"/>
                <a:cs typeface="Arial"/>
              </a:rPr>
              <a:t> </a:t>
            </a:r>
            <a:r>
              <a:rPr sz="2750" spc="-185" dirty="0">
                <a:latin typeface="Arial"/>
                <a:cs typeface="Arial"/>
              </a:rPr>
              <a:t>cancer</a:t>
            </a:r>
            <a:r>
              <a:rPr sz="2750" spc="-5" dirty="0">
                <a:latin typeface="Arial"/>
                <a:cs typeface="Arial"/>
              </a:rPr>
              <a:t> </a:t>
            </a:r>
            <a:r>
              <a:rPr sz="2750" spc="-220" dirty="0">
                <a:latin typeface="Arial"/>
                <a:cs typeface="Arial"/>
              </a:rPr>
              <a:t>évolue</a:t>
            </a:r>
            <a:r>
              <a:rPr sz="2750" spc="30" dirty="0">
                <a:latin typeface="Arial"/>
                <a:cs typeface="Arial"/>
              </a:rPr>
              <a:t> </a:t>
            </a:r>
            <a:r>
              <a:rPr sz="2750" spc="-125" dirty="0">
                <a:latin typeface="Arial"/>
                <a:cs typeface="Arial"/>
              </a:rPr>
              <a:t>et</a:t>
            </a:r>
            <a:r>
              <a:rPr sz="2750" spc="-140" dirty="0">
                <a:latin typeface="Arial"/>
                <a:cs typeface="Arial"/>
              </a:rPr>
              <a:t> </a:t>
            </a:r>
            <a:r>
              <a:rPr sz="2750" spc="-204" dirty="0">
                <a:latin typeface="Arial"/>
                <a:cs typeface="Arial"/>
              </a:rPr>
              <a:t>comment</a:t>
            </a:r>
            <a:r>
              <a:rPr sz="2750" spc="50" dirty="0">
                <a:latin typeface="Arial"/>
                <a:cs typeface="Arial"/>
              </a:rPr>
              <a:t> </a:t>
            </a:r>
            <a:r>
              <a:rPr sz="2750" spc="-165" dirty="0">
                <a:latin typeface="Arial"/>
                <a:cs typeface="Arial"/>
              </a:rPr>
              <a:t>transformer</a:t>
            </a:r>
            <a:r>
              <a:rPr sz="2750" spc="175" dirty="0">
                <a:latin typeface="Arial"/>
                <a:cs typeface="Arial"/>
              </a:rPr>
              <a:t> </a:t>
            </a:r>
            <a:r>
              <a:rPr sz="2750" spc="-100" dirty="0">
                <a:latin typeface="Arial"/>
                <a:cs typeface="Arial"/>
              </a:rPr>
              <a:t>cette</a:t>
            </a:r>
            <a:r>
              <a:rPr sz="2750" spc="-150" dirty="0">
                <a:latin typeface="Arial"/>
                <a:cs typeface="Arial"/>
              </a:rPr>
              <a:t> </a:t>
            </a:r>
            <a:r>
              <a:rPr sz="2750" spc="-200" dirty="0">
                <a:latin typeface="Arial"/>
                <a:cs typeface="Arial"/>
              </a:rPr>
              <a:t>compréhension</a:t>
            </a:r>
            <a:r>
              <a:rPr sz="2750" spc="180" dirty="0">
                <a:latin typeface="Arial"/>
                <a:cs typeface="Arial"/>
              </a:rPr>
              <a:t> </a:t>
            </a:r>
            <a:r>
              <a:rPr sz="2750" spc="-240" dirty="0">
                <a:latin typeface="Arial"/>
                <a:cs typeface="Arial"/>
              </a:rPr>
              <a:t>en</a:t>
            </a:r>
            <a:r>
              <a:rPr sz="2750" spc="-150" dirty="0">
                <a:latin typeface="Arial"/>
                <a:cs typeface="Arial"/>
              </a:rPr>
              <a:t> </a:t>
            </a:r>
            <a:r>
              <a:rPr sz="2750" spc="-180" dirty="0">
                <a:latin typeface="Arial"/>
                <a:cs typeface="Arial"/>
              </a:rPr>
              <a:t>décisions</a:t>
            </a:r>
            <a:r>
              <a:rPr sz="2750" spc="114" dirty="0">
                <a:latin typeface="Arial"/>
                <a:cs typeface="Arial"/>
              </a:rPr>
              <a:t> </a:t>
            </a:r>
            <a:r>
              <a:rPr sz="2750" spc="-165" dirty="0">
                <a:latin typeface="Arial"/>
                <a:cs typeface="Arial"/>
              </a:rPr>
              <a:t>thérapeutiques</a:t>
            </a:r>
            <a:r>
              <a:rPr sz="2750" spc="-95" dirty="0">
                <a:latin typeface="Arial"/>
                <a:cs typeface="Arial"/>
              </a:rPr>
              <a:t> </a:t>
            </a:r>
            <a:r>
              <a:rPr sz="2750" spc="-235" dirty="0">
                <a:latin typeface="Arial"/>
                <a:cs typeface="Arial"/>
              </a:rPr>
              <a:t>sûres</a:t>
            </a:r>
            <a:r>
              <a:rPr sz="2750" spc="-50" dirty="0">
                <a:latin typeface="Arial"/>
                <a:cs typeface="Arial"/>
              </a:rPr>
              <a:t> </a:t>
            </a:r>
            <a:r>
              <a:rPr sz="2750" spc="-25" dirty="0">
                <a:latin typeface="Arial"/>
                <a:cs typeface="Arial"/>
              </a:rPr>
              <a:t>?›)</a:t>
            </a:r>
            <a:endParaRPr sz="27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890" y="2820614"/>
            <a:ext cx="6555740" cy="1233805"/>
          </a:xfrm>
          <a:prstGeom prst="rect">
            <a:avLst/>
          </a:prstGeom>
        </p:spPr>
        <p:txBody>
          <a:bodyPr vert="horz" wrap="square" lIns="0" tIns="2463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sz="2700" spc="-10" dirty="0">
                <a:latin typeface="Arial"/>
                <a:cs typeface="Arial"/>
              </a:rPr>
              <a:t>L'IA</a:t>
            </a:r>
            <a:r>
              <a:rPr sz="2700" spc="-180" dirty="0">
                <a:latin typeface="Arial"/>
                <a:cs typeface="Arial"/>
              </a:rPr>
              <a:t> </a:t>
            </a:r>
            <a:r>
              <a:rPr sz="2700" spc="60" dirty="0">
                <a:latin typeface="Arial"/>
                <a:cs typeface="Arial"/>
              </a:rPr>
              <a:t>Traditionnelle</a:t>
            </a:r>
            <a:r>
              <a:rPr sz="2700" spc="-285" dirty="0">
                <a:latin typeface="Arial"/>
                <a:cs typeface="Arial"/>
              </a:rPr>
              <a:t> </a:t>
            </a:r>
            <a:r>
              <a:rPr sz="2700" spc="-20" dirty="0">
                <a:latin typeface="Arial"/>
                <a:cs typeface="Arial"/>
              </a:rPr>
              <a:t>(L'Approche</a:t>
            </a:r>
            <a:r>
              <a:rPr sz="2700" spc="30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Statistique)</a:t>
            </a:r>
            <a:endParaRPr sz="27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1610"/>
              </a:spcBef>
            </a:pPr>
            <a:r>
              <a:rPr sz="2350" spc="-140" dirty="0">
                <a:latin typeface="Arial"/>
                <a:cs typeface="Arial"/>
              </a:rPr>
              <a:t>Les</a:t>
            </a:r>
            <a:r>
              <a:rPr sz="2350" spc="-20" dirty="0">
                <a:latin typeface="Arial"/>
                <a:cs typeface="Arial"/>
              </a:rPr>
              <a:t> </a:t>
            </a:r>
            <a:r>
              <a:rPr sz="2350" spc="-100" dirty="0">
                <a:latin typeface="Arial"/>
                <a:cs typeface="Arial"/>
              </a:rPr>
              <a:t>réseaux</a:t>
            </a:r>
            <a:r>
              <a:rPr sz="2350" spc="-65" dirty="0">
                <a:latin typeface="Arial"/>
                <a:cs typeface="Arial"/>
              </a:rPr>
              <a:t> </a:t>
            </a:r>
            <a:r>
              <a:rPr sz="2350" spc="-100" dirty="0">
                <a:latin typeface="Arial"/>
                <a:cs typeface="Arial"/>
              </a:rPr>
              <a:t>neuronaux</a:t>
            </a:r>
            <a:r>
              <a:rPr sz="2350" spc="-45" dirty="0">
                <a:latin typeface="Arial"/>
                <a:cs typeface="Arial"/>
              </a:rPr>
              <a:t> </a:t>
            </a:r>
            <a:r>
              <a:rPr sz="2350" spc="-85" dirty="0">
                <a:latin typeface="Arial"/>
                <a:cs typeface="Arial"/>
              </a:rPr>
              <a:t>apprennent</a:t>
            </a:r>
            <a:r>
              <a:rPr sz="2350" spc="-60" dirty="0">
                <a:latin typeface="Arial"/>
                <a:cs typeface="Arial"/>
              </a:rPr>
              <a:t> des</a:t>
            </a:r>
            <a:r>
              <a:rPr sz="2350" spc="-105" dirty="0">
                <a:latin typeface="Arial"/>
                <a:cs typeface="Arial"/>
              </a:rPr>
              <a:t> </a:t>
            </a:r>
            <a:r>
              <a:rPr sz="2350" spc="-45" dirty="0">
                <a:latin typeface="Arial"/>
                <a:cs typeface="Arial"/>
              </a:rPr>
              <a:t>corrélations.</a:t>
            </a:r>
            <a:endParaRPr sz="23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3488" y="4620330"/>
            <a:ext cx="7473950" cy="402082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2600"/>
              </a:lnSpc>
              <a:spcBef>
                <a:spcPts val="590"/>
              </a:spcBef>
            </a:pPr>
            <a:r>
              <a:rPr sz="2550" spc="-270" dirty="0">
                <a:latin typeface="Arial"/>
                <a:cs typeface="Arial"/>
              </a:rPr>
              <a:t>«</a:t>
            </a:r>
            <a:r>
              <a:rPr sz="2550" spc="-75" dirty="0">
                <a:latin typeface="Arial"/>
                <a:cs typeface="Arial"/>
              </a:rPr>
              <a:t> </a:t>
            </a:r>
            <a:r>
              <a:rPr sz="2550" spc="-260" dirty="0">
                <a:latin typeface="Arial"/>
                <a:cs typeface="Arial"/>
              </a:rPr>
              <a:t>Les</a:t>
            </a:r>
            <a:r>
              <a:rPr sz="2550" spc="-45" dirty="0">
                <a:latin typeface="Arial"/>
                <a:cs typeface="Arial"/>
              </a:rPr>
              <a:t> </a:t>
            </a:r>
            <a:r>
              <a:rPr sz="2550" spc="-229" dirty="0">
                <a:latin typeface="Arial"/>
                <a:cs typeface="Arial"/>
              </a:rPr>
              <a:t>données</a:t>
            </a:r>
            <a:r>
              <a:rPr sz="2550" spc="55" dirty="0">
                <a:latin typeface="Arial"/>
                <a:cs typeface="Arial"/>
              </a:rPr>
              <a:t> </a:t>
            </a:r>
            <a:r>
              <a:rPr sz="2550" spc="-215" dirty="0">
                <a:latin typeface="Arial"/>
                <a:cs typeface="Arial"/>
              </a:rPr>
              <a:t>nous</a:t>
            </a:r>
            <a:r>
              <a:rPr sz="2550" spc="-40" dirty="0">
                <a:latin typeface="Arial"/>
                <a:cs typeface="Arial"/>
              </a:rPr>
              <a:t> </a:t>
            </a:r>
            <a:r>
              <a:rPr sz="2550" spc="-175" dirty="0">
                <a:latin typeface="Arial"/>
                <a:cs typeface="Arial"/>
              </a:rPr>
              <a:t>disent</a:t>
            </a:r>
            <a:r>
              <a:rPr sz="2550" spc="40" dirty="0">
                <a:latin typeface="Arial"/>
                <a:cs typeface="Arial"/>
              </a:rPr>
              <a:t> </a:t>
            </a:r>
            <a:r>
              <a:rPr sz="2550" i="1" spc="-145" dirty="0">
                <a:latin typeface="Arial"/>
                <a:cs typeface="Arial"/>
              </a:rPr>
              <a:t>ce</a:t>
            </a:r>
            <a:r>
              <a:rPr sz="2550" i="1" spc="-120" dirty="0">
                <a:latin typeface="Arial"/>
                <a:cs typeface="Arial"/>
              </a:rPr>
              <a:t> </a:t>
            </a:r>
            <a:r>
              <a:rPr sz="2550" i="1" spc="-160" dirty="0">
                <a:latin typeface="Arial"/>
                <a:cs typeface="Arial"/>
              </a:rPr>
              <a:t>qui</a:t>
            </a:r>
            <a:r>
              <a:rPr sz="2550" i="1" spc="-90" dirty="0">
                <a:latin typeface="Arial"/>
                <a:cs typeface="Arial"/>
              </a:rPr>
              <a:t> </a:t>
            </a:r>
            <a:r>
              <a:rPr sz="2550" spc="-155" dirty="0">
                <a:latin typeface="Arial"/>
                <a:cs typeface="Arial"/>
              </a:rPr>
              <a:t>s'est</a:t>
            </a:r>
            <a:r>
              <a:rPr sz="2550" spc="-160" dirty="0">
                <a:latin typeface="Arial"/>
                <a:cs typeface="Arial"/>
              </a:rPr>
              <a:t> </a:t>
            </a:r>
            <a:r>
              <a:rPr sz="2550" i="1" spc="-215" dirty="0">
                <a:latin typeface="Arial"/>
                <a:cs typeface="Arial"/>
              </a:rPr>
              <a:t>passé</a:t>
            </a:r>
            <a:r>
              <a:rPr sz="2550" i="1" spc="5" dirty="0">
                <a:latin typeface="Arial"/>
                <a:cs typeface="Arial"/>
              </a:rPr>
              <a:t> </a:t>
            </a:r>
            <a:r>
              <a:rPr sz="2550" i="1" spc="-315" dirty="0">
                <a:latin typeface="Arial"/>
                <a:cs typeface="Arial"/>
              </a:rPr>
              <a:t>,</a:t>
            </a:r>
            <a:r>
              <a:rPr sz="2550" i="1" spc="425" dirty="0">
                <a:latin typeface="Arial"/>
                <a:cs typeface="Arial"/>
              </a:rPr>
              <a:t>'</a:t>
            </a:r>
            <a:r>
              <a:rPr sz="2550" spc="-290" dirty="0">
                <a:latin typeface="Arial"/>
                <a:cs typeface="Arial"/>
              </a:rPr>
              <a:t>les</a:t>
            </a:r>
            <a:r>
              <a:rPr sz="2550" spc="-75" dirty="0">
                <a:latin typeface="Arial"/>
                <a:cs typeface="Arial"/>
              </a:rPr>
              <a:t> </a:t>
            </a:r>
            <a:r>
              <a:rPr sz="2550" spc="-135" dirty="0">
                <a:latin typeface="Arial"/>
                <a:cs typeface="Arial"/>
              </a:rPr>
              <a:t>équations </a:t>
            </a:r>
            <a:r>
              <a:rPr sz="2550" spc="-190" dirty="0">
                <a:latin typeface="Arial"/>
                <a:cs typeface="Arial"/>
              </a:rPr>
              <a:t>mathématiques</a:t>
            </a:r>
            <a:r>
              <a:rPr sz="2550" spc="195" dirty="0">
                <a:latin typeface="Arial"/>
                <a:cs typeface="Arial"/>
              </a:rPr>
              <a:t> </a:t>
            </a:r>
            <a:r>
              <a:rPr sz="2550" spc="-240" dirty="0">
                <a:latin typeface="Arial"/>
                <a:cs typeface="Arial"/>
              </a:rPr>
              <a:t>nous</a:t>
            </a:r>
            <a:r>
              <a:rPr sz="2550" spc="-35" dirty="0">
                <a:latin typeface="Arial"/>
                <a:cs typeface="Arial"/>
              </a:rPr>
              <a:t> </a:t>
            </a:r>
            <a:r>
              <a:rPr sz="2550" spc="-175" dirty="0">
                <a:latin typeface="Arial"/>
                <a:cs typeface="Arial"/>
              </a:rPr>
              <a:t>révèlent</a:t>
            </a:r>
            <a:r>
              <a:rPr sz="2550" spc="95" dirty="0">
                <a:latin typeface="Arial"/>
                <a:cs typeface="Arial"/>
              </a:rPr>
              <a:t> </a:t>
            </a:r>
            <a:r>
              <a:rPr sz="2550" i="1" spc="-170" dirty="0">
                <a:latin typeface="Arial"/>
                <a:cs typeface="Arial"/>
              </a:rPr>
              <a:t>pourquoi</a:t>
            </a:r>
            <a:r>
              <a:rPr sz="2550" i="1" spc="-30" dirty="0">
                <a:latin typeface="Arial"/>
                <a:cs typeface="Arial"/>
              </a:rPr>
              <a:t> </a:t>
            </a:r>
            <a:r>
              <a:rPr sz="2550" spc="-215" dirty="0">
                <a:latin typeface="Arial"/>
                <a:cs typeface="Arial"/>
              </a:rPr>
              <a:t>cela</a:t>
            </a:r>
            <a:r>
              <a:rPr sz="2550" spc="35" dirty="0">
                <a:latin typeface="Arial"/>
                <a:cs typeface="Arial"/>
              </a:rPr>
              <a:t> </a:t>
            </a:r>
            <a:r>
              <a:rPr sz="2550" spc="-260" dirty="0">
                <a:latin typeface="Arial"/>
                <a:cs typeface="Arial"/>
              </a:rPr>
              <a:t>se</a:t>
            </a:r>
            <a:r>
              <a:rPr sz="2550" spc="-100" dirty="0">
                <a:latin typeface="Arial"/>
                <a:cs typeface="Arial"/>
              </a:rPr>
              <a:t> </a:t>
            </a:r>
            <a:r>
              <a:rPr sz="2550" spc="-150" dirty="0">
                <a:latin typeface="Arial"/>
                <a:cs typeface="Arial"/>
              </a:rPr>
              <a:t>produit.</a:t>
            </a:r>
            <a:r>
              <a:rPr sz="2550" spc="-55" dirty="0">
                <a:latin typeface="Arial"/>
                <a:cs typeface="Arial"/>
              </a:rPr>
              <a:t> </a:t>
            </a:r>
            <a:r>
              <a:rPr sz="2550" spc="-320" dirty="0">
                <a:latin typeface="Arial"/>
                <a:cs typeface="Arial"/>
              </a:rPr>
              <a:t>»</a:t>
            </a:r>
            <a:endParaRPr sz="2550">
              <a:latin typeface="Arial"/>
              <a:cs typeface="Arial"/>
            </a:endParaRPr>
          </a:p>
          <a:p>
            <a:pPr marL="12700" marR="3956050" indent="13970">
              <a:lnSpc>
                <a:spcPct val="86400"/>
              </a:lnSpc>
              <a:spcBef>
                <a:spcPts val="2595"/>
              </a:spcBef>
            </a:pPr>
            <a:r>
              <a:rPr sz="2550" dirty="0">
                <a:latin typeface="Arial Narrow"/>
                <a:cs typeface="Arial Narrow"/>
              </a:rPr>
              <a:t>Les</a:t>
            </a:r>
            <a:r>
              <a:rPr sz="2550" spc="140" dirty="0">
                <a:latin typeface="Arial Narrow"/>
                <a:cs typeface="Arial Narrow"/>
              </a:rPr>
              <a:t> </a:t>
            </a:r>
            <a:r>
              <a:rPr sz="2550" dirty="0">
                <a:latin typeface="Arial Narrow"/>
                <a:cs typeface="Arial Narrow"/>
              </a:rPr>
              <a:t>modèles</a:t>
            </a:r>
            <a:r>
              <a:rPr sz="2550" spc="200" dirty="0">
                <a:latin typeface="Arial Narrow"/>
                <a:cs typeface="Arial Narrow"/>
              </a:rPr>
              <a:t> </a:t>
            </a:r>
            <a:r>
              <a:rPr sz="2550" spc="-10" dirty="0">
                <a:latin typeface="Arial Narrow"/>
                <a:cs typeface="Arial Narrow"/>
              </a:rPr>
              <a:t>basés </a:t>
            </a:r>
            <a:r>
              <a:rPr sz="2500" spc="-165" dirty="0">
                <a:latin typeface="Arial"/>
                <a:cs typeface="Arial"/>
              </a:rPr>
              <a:t>uniquement</a:t>
            </a:r>
            <a:r>
              <a:rPr sz="2500" spc="80" dirty="0">
                <a:latin typeface="Arial"/>
                <a:cs typeface="Arial"/>
              </a:rPr>
              <a:t> </a:t>
            </a:r>
            <a:r>
              <a:rPr sz="2500" spc="-215" dirty="0">
                <a:latin typeface="Arial"/>
                <a:cs typeface="Arial"/>
              </a:rPr>
              <a:t>sur</a:t>
            </a:r>
            <a:r>
              <a:rPr sz="2500" spc="-60" dirty="0">
                <a:latin typeface="Arial"/>
                <a:cs typeface="Arial"/>
              </a:rPr>
              <a:t> </a:t>
            </a:r>
            <a:r>
              <a:rPr sz="2500" spc="-155" dirty="0">
                <a:latin typeface="Arial"/>
                <a:cs typeface="Arial"/>
              </a:rPr>
              <a:t>les</a:t>
            </a:r>
            <a:r>
              <a:rPr sz="2500" spc="-70" dirty="0">
                <a:latin typeface="Arial"/>
                <a:cs typeface="Arial"/>
              </a:rPr>
              <a:t> </a:t>
            </a:r>
            <a:r>
              <a:rPr sz="2500" spc="-160" dirty="0">
                <a:latin typeface="Arial"/>
                <a:cs typeface="Arial"/>
              </a:rPr>
              <a:t>données </a:t>
            </a:r>
            <a:r>
              <a:rPr sz="2500" spc="-175" dirty="0">
                <a:latin typeface="Arial"/>
                <a:cs typeface="Arial"/>
              </a:rPr>
              <a:t>manquent</a:t>
            </a:r>
            <a:r>
              <a:rPr sz="2500" spc="45" dirty="0">
                <a:latin typeface="Arial"/>
                <a:cs typeface="Arial"/>
              </a:rPr>
              <a:t> </a:t>
            </a:r>
            <a:r>
              <a:rPr sz="2500" spc="-155" dirty="0">
                <a:latin typeface="Arial"/>
                <a:cs typeface="Arial"/>
              </a:rPr>
              <a:t>souvent</a:t>
            </a:r>
            <a:r>
              <a:rPr sz="2500" spc="10" dirty="0">
                <a:latin typeface="Arial"/>
                <a:cs typeface="Arial"/>
              </a:rPr>
              <a:t> </a:t>
            </a:r>
            <a:r>
              <a:rPr sz="2500" spc="-25" dirty="0">
                <a:latin typeface="Arial"/>
                <a:cs typeface="Arial"/>
              </a:rPr>
              <a:t>de </a:t>
            </a:r>
            <a:r>
              <a:rPr sz="2500" spc="-190" dirty="0">
                <a:latin typeface="Arial"/>
                <a:cs typeface="Arial"/>
              </a:rPr>
              <a:t>données</a:t>
            </a:r>
            <a:r>
              <a:rPr sz="2500" spc="80" dirty="0">
                <a:latin typeface="Arial"/>
                <a:cs typeface="Arial"/>
              </a:rPr>
              <a:t> </a:t>
            </a:r>
            <a:r>
              <a:rPr sz="2500" spc="-135" dirty="0">
                <a:latin typeface="Arial"/>
                <a:cs typeface="Arial"/>
              </a:rPr>
              <a:t>étiquetées,</a:t>
            </a:r>
            <a:r>
              <a:rPr sz="2500" spc="-40" dirty="0">
                <a:latin typeface="Arial"/>
                <a:cs typeface="Arial"/>
              </a:rPr>
              <a:t> </a:t>
            </a:r>
            <a:r>
              <a:rPr sz="2500" spc="-170" dirty="0">
                <a:latin typeface="Arial"/>
                <a:cs typeface="Arial"/>
              </a:rPr>
              <a:t>ce</a:t>
            </a:r>
            <a:r>
              <a:rPr sz="2500" spc="-80" dirty="0">
                <a:latin typeface="Arial"/>
                <a:cs typeface="Arial"/>
              </a:rPr>
              <a:t> </a:t>
            </a:r>
            <a:r>
              <a:rPr sz="2500" spc="-25" dirty="0">
                <a:latin typeface="Arial"/>
                <a:cs typeface="Arial"/>
              </a:rPr>
              <a:t>qui </a:t>
            </a:r>
            <a:r>
              <a:rPr sz="2400" spc="-155" dirty="0">
                <a:latin typeface="Arial"/>
                <a:cs typeface="Arial"/>
              </a:rPr>
              <a:t>les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rend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30" dirty="0">
                <a:latin typeface="Arial"/>
                <a:cs typeface="Arial"/>
              </a:rPr>
              <a:t>moins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efficaces </a:t>
            </a:r>
            <a:r>
              <a:rPr sz="2500" spc="-180" dirty="0">
                <a:latin typeface="Arial"/>
                <a:cs typeface="Arial"/>
              </a:rPr>
              <a:t>pour</a:t>
            </a:r>
            <a:r>
              <a:rPr sz="2500" spc="25" dirty="0">
                <a:latin typeface="Arial"/>
                <a:cs typeface="Arial"/>
              </a:rPr>
              <a:t> </a:t>
            </a:r>
            <a:r>
              <a:rPr sz="2500" spc="-155" dirty="0">
                <a:latin typeface="Arial"/>
                <a:cs typeface="Arial"/>
              </a:rPr>
              <a:t>les</a:t>
            </a:r>
            <a:r>
              <a:rPr sz="2500" spc="-60" dirty="0">
                <a:latin typeface="Arial"/>
                <a:cs typeface="Arial"/>
              </a:rPr>
              <a:t> </a:t>
            </a:r>
            <a:r>
              <a:rPr sz="2500" spc="-55" dirty="0">
                <a:latin typeface="Arial"/>
                <a:cs typeface="Arial"/>
              </a:rPr>
              <a:t>applications </a:t>
            </a:r>
            <a:r>
              <a:rPr sz="2500" spc="-155" dirty="0">
                <a:latin typeface="Arial"/>
                <a:cs typeface="Arial"/>
              </a:rPr>
              <a:t>médicales</a:t>
            </a:r>
            <a:r>
              <a:rPr sz="2500" spc="30" dirty="0">
                <a:latin typeface="Arial"/>
                <a:cs typeface="Arial"/>
              </a:rPr>
              <a:t> </a:t>
            </a:r>
            <a:r>
              <a:rPr sz="2500" spc="-60" dirty="0">
                <a:latin typeface="Arial"/>
                <a:cs typeface="Arial"/>
              </a:rPr>
              <a:t>sensibles.</a:t>
            </a:r>
            <a:endParaRPr sz="2500">
              <a:latin typeface="Arial"/>
              <a:cs typeface="Arial"/>
            </a:endParaRPr>
          </a:p>
          <a:p>
            <a:pPr marL="27305">
              <a:lnSpc>
                <a:spcPts val="2400"/>
              </a:lnSpc>
            </a:pPr>
            <a:r>
              <a:rPr sz="2500" spc="-185" dirty="0">
                <a:latin typeface="Arial"/>
                <a:cs typeface="Arial"/>
              </a:rPr>
              <a:t>(Kissel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130" dirty="0">
                <a:latin typeface="Arial"/>
                <a:cs typeface="Arial"/>
              </a:rPr>
              <a:t>et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spc="-155" dirty="0">
                <a:latin typeface="Arial"/>
                <a:cs typeface="Arial"/>
              </a:rPr>
              <a:t>al.,</a:t>
            </a:r>
            <a:r>
              <a:rPr sz="2500" spc="-40" dirty="0">
                <a:latin typeface="Arial"/>
                <a:cs typeface="Arial"/>
              </a:rPr>
              <a:t> </a:t>
            </a:r>
            <a:r>
              <a:rPr sz="2500" spc="-175" dirty="0">
                <a:latin typeface="Arial"/>
                <a:cs typeface="Arial"/>
              </a:rPr>
              <a:t>2023,</a:t>
            </a:r>
            <a:r>
              <a:rPr sz="2500" spc="-90" dirty="0">
                <a:latin typeface="Arial"/>
                <a:cs typeface="Arial"/>
              </a:rPr>
              <a:t> </a:t>
            </a:r>
            <a:r>
              <a:rPr sz="2500" spc="-25" dirty="0">
                <a:latin typeface="Arial"/>
                <a:cs typeface="Arial"/>
              </a:rPr>
              <a:t>npj</a:t>
            </a:r>
            <a:endParaRPr sz="2500">
              <a:latin typeface="Arial"/>
              <a:cs typeface="Arial"/>
            </a:endParaRPr>
          </a:p>
          <a:p>
            <a:pPr marL="22860">
              <a:lnSpc>
                <a:spcPts val="2680"/>
              </a:lnSpc>
            </a:pPr>
            <a:r>
              <a:rPr sz="2400" spc="-114" dirty="0">
                <a:latin typeface="Arial"/>
                <a:cs typeface="Arial"/>
              </a:rPr>
              <a:t>Digital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Medicine)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03093" y="8988425"/>
            <a:ext cx="148717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170" dirty="0">
                <a:latin typeface="Arial"/>
                <a:cs typeface="Arial"/>
              </a:rPr>
              <a:t>CORRÉLATION</a:t>
            </a:r>
            <a:endParaRPr sz="18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31652" y="2776361"/>
            <a:ext cx="7760334" cy="3485515"/>
          </a:xfrm>
          <a:prstGeom prst="rect">
            <a:avLst/>
          </a:prstGeom>
        </p:spPr>
        <p:txBody>
          <a:bodyPr vert="horz" wrap="square" lIns="0" tIns="24574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935"/>
              </a:spcBef>
              <a:tabLst>
                <a:tab pos="5429250" algn="l"/>
              </a:tabLst>
            </a:pPr>
            <a:r>
              <a:rPr sz="3050" spc="-405" dirty="0">
                <a:latin typeface="Times New Roman"/>
                <a:cs typeface="Times New Roman"/>
              </a:rPr>
              <a:t>L’lA</a:t>
            </a:r>
            <a:r>
              <a:rPr sz="3050" spc="120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Physico-</a:t>
            </a:r>
            <a:r>
              <a:rPr sz="3050" dirty="0">
                <a:latin typeface="Times New Roman"/>
                <a:cs typeface="Times New Roman"/>
              </a:rPr>
              <a:t>lnformée</a:t>
            </a:r>
            <a:r>
              <a:rPr sz="3050" spc="-120" dirty="0">
                <a:latin typeface="Times New Roman"/>
                <a:cs typeface="Times New Roman"/>
              </a:rPr>
              <a:t> </a:t>
            </a:r>
            <a:r>
              <a:rPr sz="3050" spc="-35" dirty="0">
                <a:latin typeface="Times New Roman"/>
                <a:cs typeface="Times New Roman"/>
              </a:rPr>
              <a:t>(L'Approche</a:t>
            </a:r>
            <a:r>
              <a:rPr sz="3050" dirty="0">
                <a:latin typeface="Times New Roman"/>
                <a:cs typeface="Times New Roman"/>
              </a:rPr>
              <a:t>	</a:t>
            </a:r>
            <a:r>
              <a:rPr sz="3050" spc="-10" dirty="0">
                <a:latin typeface="Times New Roman"/>
                <a:cs typeface="Times New Roman"/>
              </a:rPr>
              <a:t>Mécaniste)</a:t>
            </a:r>
            <a:endParaRPr sz="3050">
              <a:latin typeface="Times New Roman"/>
              <a:cs typeface="Times New Roman"/>
            </a:endParaRPr>
          </a:p>
          <a:p>
            <a:pPr marL="12700" marR="5080" indent="1905">
              <a:lnSpc>
                <a:spcPts val="2600"/>
              </a:lnSpc>
              <a:spcBef>
                <a:spcPts val="1810"/>
              </a:spcBef>
            </a:pPr>
            <a:r>
              <a:rPr sz="2400" spc="-210" dirty="0">
                <a:latin typeface="Arial"/>
                <a:cs typeface="Arial"/>
              </a:rPr>
              <a:t>Le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cancer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est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régi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par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30" dirty="0">
                <a:latin typeface="Arial"/>
                <a:cs typeface="Arial"/>
              </a:rPr>
              <a:t>des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mécanismes,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pas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40" dirty="0">
                <a:latin typeface="Arial"/>
                <a:cs typeface="Arial"/>
              </a:rPr>
              <a:t>seulement</a:t>
            </a:r>
            <a:r>
              <a:rPr sz="2400" spc="6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par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des </a:t>
            </a:r>
            <a:r>
              <a:rPr sz="2400" spc="-110" dirty="0">
                <a:latin typeface="Arial"/>
                <a:cs typeface="Arial"/>
              </a:rPr>
              <a:t>associations</a:t>
            </a:r>
            <a:r>
              <a:rPr sz="2400" spc="65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statistiques.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Il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s‘agit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d'un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système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dynamique </a:t>
            </a:r>
            <a:r>
              <a:rPr sz="2400" spc="-150" dirty="0">
                <a:latin typeface="Arial"/>
                <a:cs typeface="Arial"/>
              </a:rPr>
              <a:t>complexe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dicté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par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30" dirty="0">
                <a:latin typeface="Arial"/>
                <a:cs typeface="Arial"/>
              </a:rPr>
              <a:t>des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lois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physiques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et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biologiques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377825" indent="-269875">
              <a:lnSpc>
                <a:spcPts val="3000"/>
              </a:lnSpc>
              <a:spcBef>
                <a:spcPts val="730"/>
              </a:spcBef>
              <a:buChar char="•"/>
              <a:tabLst>
                <a:tab pos="377825" algn="l"/>
              </a:tabLst>
            </a:pPr>
            <a:r>
              <a:rPr sz="2750" spc="-315" dirty="0">
                <a:latin typeface="Arial"/>
                <a:cs typeface="Arial"/>
              </a:rPr>
              <a:t>Équations</a:t>
            </a:r>
            <a:r>
              <a:rPr sz="2750" spc="85" dirty="0">
                <a:latin typeface="Arial"/>
                <a:cs typeface="Arial"/>
              </a:rPr>
              <a:t> </a:t>
            </a:r>
            <a:r>
              <a:rPr sz="2750" spc="-325" dirty="0">
                <a:latin typeface="Arial"/>
                <a:cs typeface="Arial"/>
              </a:rPr>
              <a:t>de</a:t>
            </a:r>
            <a:r>
              <a:rPr sz="2750" spc="-45" dirty="0">
                <a:latin typeface="Arial"/>
                <a:cs typeface="Arial"/>
              </a:rPr>
              <a:t> </a:t>
            </a:r>
            <a:r>
              <a:rPr sz="2750" spc="-229" dirty="0">
                <a:latin typeface="Arial"/>
                <a:cs typeface="Arial"/>
              </a:rPr>
              <a:t>diffusion</a:t>
            </a:r>
            <a:r>
              <a:rPr sz="2750" spc="-35" dirty="0">
                <a:latin typeface="Arial"/>
                <a:cs typeface="Arial"/>
              </a:rPr>
              <a:t> </a:t>
            </a:r>
            <a:r>
              <a:rPr sz="2750" spc="-254" dirty="0">
                <a:latin typeface="Arial"/>
                <a:cs typeface="Arial"/>
              </a:rPr>
              <a:t>cellulaire</a:t>
            </a:r>
            <a:r>
              <a:rPr sz="2750" spc="170" dirty="0">
                <a:latin typeface="Arial"/>
                <a:cs typeface="Arial"/>
              </a:rPr>
              <a:t> </a:t>
            </a:r>
            <a:r>
              <a:rPr sz="2750" spc="-505" dirty="0">
                <a:latin typeface="Arial"/>
                <a:cs typeface="Arial"/>
              </a:rPr>
              <a:t>(EDP)</a:t>
            </a:r>
            <a:endParaRPr sz="2750">
              <a:latin typeface="Arial"/>
              <a:cs typeface="Arial"/>
            </a:endParaRPr>
          </a:p>
          <a:p>
            <a:pPr marL="372745" indent="-264795">
              <a:lnSpc>
                <a:spcPts val="2700"/>
              </a:lnSpc>
              <a:buChar char="•"/>
              <a:tabLst>
                <a:tab pos="372745" algn="l"/>
              </a:tabLst>
            </a:pPr>
            <a:r>
              <a:rPr sz="2750" spc="-245" dirty="0">
                <a:latin typeface="Arial"/>
                <a:cs typeface="Arial"/>
              </a:rPr>
              <a:t>Interactions</a:t>
            </a:r>
            <a:r>
              <a:rPr sz="2750" spc="40" dirty="0">
                <a:latin typeface="Arial"/>
                <a:cs typeface="Arial"/>
              </a:rPr>
              <a:t> </a:t>
            </a:r>
            <a:r>
              <a:rPr sz="2750" spc="-290" dirty="0">
                <a:latin typeface="Arial"/>
                <a:cs typeface="Arial"/>
              </a:rPr>
              <a:t>chimiques</a:t>
            </a:r>
            <a:r>
              <a:rPr sz="2750" spc="10" dirty="0">
                <a:latin typeface="Arial"/>
                <a:cs typeface="Arial"/>
              </a:rPr>
              <a:t> </a:t>
            </a:r>
            <a:r>
              <a:rPr sz="2750" spc="-225" dirty="0">
                <a:latin typeface="Arial"/>
                <a:cs typeface="Arial"/>
              </a:rPr>
              <a:t>et</a:t>
            </a:r>
            <a:r>
              <a:rPr sz="2750" spc="-65" dirty="0">
                <a:latin typeface="Arial"/>
                <a:cs typeface="Arial"/>
              </a:rPr>
              <a:t> </a:t>
            </a:r>
            <a:r>
              <a:rPr sz="2750" spc="-275" dirty="0">
                <a:latin typeface="Arial"/>
                <a:cs typeface="Arial"/>
              </a:rPr>
              <a:t>signalisation</a:t>
            </a:r>
            <a:endParaRPr sz="2750">
              <a:latin typeface="Arial"/>
              <a:cs typeface="Arial"/>
            </a:endParaRPr>
          </a:p>
          <a:p>
            <a:pPr marL="375285" indent="-267335">
              <a:lnSpc>
                <a:spcPts val="2700"/>
              </a:lnSpc>
              <a:buChar char="•"/>
              <a:tabLst>
                <a:tab pos="375285" algn="l"/>
              </a:tabLst>
            </a:pPr>
            <a:r>
              <a:rPr sz="2750" spc="-270" dirty="0">
                <a:latin typeface="Arial"/>
                <a:cs typeface="Arial"/>
              </a:rPr>
              <a:t>Contraintes</a:t>
            </a:r>
            <a:r>
              <a:rPr sz="2750" spc="85" dirty="0">
                <a:latin typeface="Arial"/>
                <a:cs typeface="Arial"/>
              </a:rPr>
              <a:t> </a:t>
            </a:r>
            <a:r>
              <a:rPr sz="2750" spc="-345" dirty="0">
                <a:latin typeface="Arial"/>
                <a:cs typeface="Arial"/>
              </a:rPr>
              <a:t>mécaniques</a:t>
            </a:r>
            <a:r>
              <a:rPr sz="2750" spc="114" dirty="0">
                <a:latin typeface="Arial"/>
                <a:cs typeface="Arial"/>
              </a:rPr>
              <a:t> </a:t>
            </a:r>
            <a:r>
              <a:rPr sz="2750" spc="-295" dirty="0">
                <a:latin typeface="Arial"/>
                <a:cs typeface="Arial"/>
              </a:rPr>
              <a:t>du</a:t>
            </a:r>
            <a:r>
              <a:rPr sz="2750" spc="-210" dirty="0">
                <a:latin typeface="Arial"/>
                <a:cs typeface="Arial"/>
              </a:rPr>
              <a:t> </a:t>
            </a:r>
            <a:r>
              <a:rPr sz="2750" spc="-295" dirty="0">
                <a:latin typeface="Arial"/>
                <a:cs typeface="Arial"/>
              </a:rPr>
              <a:t>microenvironnement</a:t>
            </a:r>
            <a:endParaRPr sz="2750">
              <a:latin typeface="Arial"/>
              <a:cs typeface="Arial"/>
            </a:endParaRPr>
          </a:p>
          <a:p>
            <a:pPr marL="375285" indent="-267335">
              <a:lnSpc>
                <a:spcPts val="3000"/>
              </a:lnSpc>
              <a:buChar char="•"/>
              <a:tabLst>
                <a:tab pos="375285" algn="l"/>
              </a:tabLst>
            </a:pPr>
            <a:r>
              <a:rPr sz="2750" spc="-285" dirty="0">
                <a:latin typeface="Arial"/>
                <a:cs typeface="Arial"/>
              </a:rPr>
              <a:t>Calcul</a:t>
            </a:r>
            <a:r>
              <a:rPr sz="2750" spc="-60" dirty="0">
                <a:latin typeface="Arial"/>
                <a:cs typeface="Arial"/>
              </a:rPr>
              <a:t> </a:t>
            </a:r>
            <a:r>
              <a:rPr sz="2750" spc="-250" dirty="0">
                <a:latin typeface="Arial"/>
                <a:cs typeface="Arial"/>
              </a:rPr>
              <a:t>fractionnaire</a:t>
            </a:r>
            <a:r>
              <a:rPr sz="2750" spc="130" dirty="0">
                <a:latin typeface="Arial"/>
                <a:cs typeface="Arial"/>
              </a:rPr>
              <a:t> </a:t>
            </a:r>
            <a:r>
              <a:rPr sz="2750" spc="-305" dirty="0">
                <a:latin typeface="Arial"/>
                <a:cs typeface="Arial"/>
              </a:rPr>
              <a:t>pour</a:t>
            </a:r>
            <a:r>
              <a:rPr sz="2750" spc="-15" dirty="0">
                <a:latin typeface="Arial"/>
                <a:cs typeface="Arial"/>
              </a:rPr>
              <a:t> </a:t>
            </a:r>
            <a:r>
              <a:rPr sz="2750" spc="-295" dirty="0">
                <a:latin typeface="Arial"/>
                <a:cs typeface="Arial"/>
              </a:rPr>
              <a:t>la</a:t>
            </a:r>
            <a:r>
              <a:rPr sz="2750" spc="-30" dirty="0">
                <a:latin typeface="Arial"/>
                <a:cs typeface="Arial"/>
              </a:rPr>
              <a:t> </a:t>
            </a:r>
            <a:r>
              <a:rPr sz="2750" spc="-365" dirty="0">
                <a:latin typeface="Arial"/>
                <a:cs typeface="Arial"/>
              </a:rPr>
              <a:t>mémoire</a:t>
            </a:r>
            <a:r>
              <a:rPr sz="2750" spc="80" dirty="0">
                <a:latin typeface="Arial"/>
                <a:cs typeface="Arial"/>
              </a:rPr>
              <a:t> </a:t>
            </a:r>
            <a:r>
              <a:rPr sz="2750" spc="-300" dirty="0">
                <a:latin typeface="Arial"/>
                <a:cs typeface="Arial"/>
              </a:rPr>
              <a:t>temporelle</a:t>
            </a:r>
            <a:endParaRPr sz="27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23936" y="6568369"/>
            <a:ext cx="4582795" cy="268033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 indent="-635">
              <a:lnSpc>
                <a:spcPct val="90300"/>
              </a:lnSpc>
              <a:spcBef>
                <a:spcPts val="409"/>
              </a:spcBef>
            </a:pPr>
            <a:r>
              <a:rPr sz="2400" spc="90" dirty="0">
                <a:latin typeface="Arial"/>
                <a:cs typeface="Arial"/>
              </a:rPr>
              <a:t>«</a:t>
            </a:r>
            <a:r>
              <a:rPr sz="2400" spc="-320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Les</a:t>
            </a:r>
            <a:r>
              <a:rPr sz="2400" spc="-21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réseaux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informés </a:t>
            </a:r>
            <a:r>
              <a:rPr sz="2400" spc="-75" dirty="0">
                <a:latin typeface="Arial"/>
                <a:cs typeface="Arial"/>
              </a:rPr>
              <a:t>par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la </a:t>
            </a:r>
            <a:r>
              <a:rPr sz="2350" spc="-30" dirty="0">
                <a:latin typeface="Arial"/>
                <a:cs typeface="Arial"/>
              </a:rPr>
              <a:t>physique</a:t>
            </a:r>
            <a:r>
              <a:rPr sz="2350" spc="-125" dirty="0">
                <a:latin typeface="Arial"/>
                <a:cs typeface="Arial"/>
              </a:rPr>
              <a:t> </a:t>
            </a:r>
            <a:r>
              <a:rPr sz="2350" spc="-100" dirty="0">
                <a:latin typeface="Arial"/>
                <a:cs typeface="Arial"/>
              </a:rPr>
              <a:t>(PlNNs)</a:t>
            </a:r>
            <a:r>
              <a:rPr sz="2350" spc="-3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intègrent</a:t>
            </a:r>
            <a:r>
              <a:rPr sz="2350" spc="-135" dirty="0">
                <a:latin typeface="Arial"/>
                <a:cs typeface="Arial"/>
              </a:rPr>
              <a:t> </a:t>
            </a:r>
            <a:r>
              <a:rPr sz="2350" spc="-25" dirty="0">
                <a:latin typeface="Arial"/>
                <a:cs typeface="Arial"/>
              </a:rPr>
              <a:t>les </a:t>
            </a:r>
            <a:r>
              <a:rPr sz="2350" spc="-30" dirty="0">
                <a:latin typeface="Arial"/>
                <a:cs typeface="Arial"/>
              </a:rPr>
              <a:t>équations</a:t>
            </a:r>
            <a:r>
              <a:rPr sz="2350" spc="-7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directrices</a:t>
            </a:r>
            <a:r>
              <a:rPr sz="2350" spc="-160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directement </a:t>
            </a:r>
            <a:r>
              <a:rPr sz="2350" spc="-65" dirty="0">
                <a:latin typeface="Arial"/>
                <a:cs typeface="Arial"/>
              </a:rPr>
              <a:t>dans</a:t>
            </a:r>
            <a:r>
              <a:rPr sz="2350" spc="-100" dirty="0">
                <a:latin typeface="Arial"/>
                <a:cs typeface="Arial"/>
              </a:rPr>
              <a:t> </a:t>
            </a:r>
            <a:r>
              <a:rPr sz="2350" spc="-105" dirty="0">
                <a:latin typeface="Arial"/>
                <a:cs typeface="Arial"/>
              </a:rPr>
              <a:t>la</a:t>
            </a:r>
            <a:r>
              <a:rPr sz="2350" spc="-55" dirty="0">
                <a:latin typeface="Arial"/>
                <a:cs typeface="Arial"/>
              </a:rPr>
              <a:t> </a:t>
            </a:r>
            <a:r>
              <a:rPr sz="2350" spc="-50" dirty="0">
                <a:latin typeface="Arial"/>
                <a:cs typeface="Arial"/>
              </a:rPr>
              <a:t>fonction</a:t>
            </a:r>
            <a:r>
              <a:rPr sz="2350" spc="-95" dirty="0">
                <a:latin typeface="Arial"/>
                <a:cs typeface="Arial"/>
              </a:rPr>
              <a:t> </a:t>
            </a:r>
            <a:r>
              <a:rPr sz="2350" spc="-110" dirty="0">
                <a:latin typeface="Arial"/>
                <a:cs typeface="Arial"/>
              </a:rPr>
              <a:t>de</a:t>
            </a:r>
            <a:r>
              <a:rPr sz="2350" spc="-150" dirty="0">
                <a:latin typeface="Arial"/>
                <a:cs typeface="Arial"/>
              </a:rPr>
              <a:t> </a:t>
            </a:r>
            <a:r>
              <a:rPr sz="2350" spc="-50" dirty="0">
                <a:latin typeface="Arial"/>
                <a:cs typeface="Arial"/>
              </a:rPr>
              <a:t>perte,</a:t>
            </a:r>
            <a:r>
              <a:rPr sz="2350" spc="-114" dirty="0">
                <a:latin typeface="Arial"/>
                <a:cs typeface="Arial"/>
              </a:rPr>
              <a:t> </a:t>
            </a:r>
            <a:r>
              <a:rPr sz="2350" spc="-70" dirty="0">
                <a:latin typeface="Arial"/>
                <a:cs typeface="Arial"/>
              </a:rPr>
              <a:t>permettant </a:t>
            </a:r>
            <a:r>
              <a:rPr sz="2400" spc="-195" dirty="0">
                <a:latin typeface="Arial"/>
                <a:cs typeface="Arial"/>
              </a:rPr>
              <a:t>un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30" dirty="0">
                <a:latin typeface="Arial"/>
                <a:cs typeface="Arial"/>
              </a:rPr>
              <a:t>apprentissage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efficace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méme </a:t>
            </a:r>
            <a:r>
              <a:rPr sz="2350" spc="-130" dirty="0">
                <a:latin typeface="Arial"/>
                <a:cs typeface="Arial"/>
              </a:rPr>
              <a:t>avec</a:t>
            </a:r>
            <a:r>
              <a:rPr sz="2350" spc="-5" dirty="0">
                <a:latin typeface="Arial"/>
                <a:cs typeface="Arial"/>
              </a:rPr>
              <a:t> </a:t>
            </a:r>
            <a:r>
              <a:rPr sz="2350" spc="-105" dirty="0">
                <a:latin typeface="Arial"/>
                <a:cs typeface="Arial"/>
              </a:rPr>
              <a:t>des</a:t>
            </a:r>
            <a:r>
              <a:rPr sz="2350" spc="-55" dirty="0">
                <a:latin typeface="Arial"/>
                <a:cs typeface="Arial"/>
              </a:rPr>
              <a:t> </a:t>
            </a:r>
            <a:r>
              <a:rPr sz="2350" spc="-110" dirty="0">
                <a:latin typeface="Arial"/>
                <a:cs typeface="Arial"/>
              </a:rPr>
              <a:t>données</a:t>
            </a:r>
            <a:r>
              <a:rPr sz="2350" spc="60" dirty="0">
                <a:latin typeface="Arial"/>
                <a:cs typeface="Arial"/>
              </a:rPr>
              <a:t> </a:t>
            </a:r>
            <a:r>
              <a:rPr sz="2350" spc="-95" dirty="0">
                <a:latin typeface="Arial"/>
                <a:cs typeface="Arial"/>
              </a:rPr>
              <a:t>limitées.</a:t>
            </a:r>
            <a:r>
              <a:rPr sz="2350" spc="-70" dirty="0">
                <a:latin typeface="Arial"/>
                <a:cs typeface="Arial"/>
              </a:rPr>
              <a:t> </a:t>
            </a:r>
            <a:r>
              <a:rPr sz="2350" spc="-50" dirty="0">
                <a:latin typeface="Arial"/>
                <a:cs typeface="Arial"/>
              </a:rPr>
              <a:t>»</a:t>
            </a:r>
            <a:endParaRPr sz="2350">
              <a:latin typeface="Arial"/>
              <a:cs typeface="Arial"/>
            </a:endParaRPr>
          </a:p>
          <a:p>
            <a:pPr marL="17145" marR="1002030" indent="8890">
              <a:lnSpc>
                <a:spcPts val="2600"/>
              </a:lnSpc>
              <a:spcBef>
                <a:spcPts val="50"/>
              </a:spcBef>
            </a:pPr>
            <a:r>
              <a:rPr sz="2350" spc="-150" dirty="0">
                <a:latin typeface="Arial"/>
                <a:cs typeface="Arial"/>
              </a:rPr>
              <a:t>(Raissi</a:t>
            </a:r>
            <a:r>
              <a:rPr sz="2350" spc="20" dirty="0">
                <a:latin typeface="Arial"/>
                <a:cs typeface="Arial"/>
              </a:rPr>
              <a:t> </a:t>
            </a:r>
            <a:r>
              <a:rPr sz="2350" spc="-55" dirty="0">
                <a:latin typeface="Arial"/>
                <a:cs typeface="Arial"/>
              </a:rPr>
              <a:t>et</a:t>
            </a:r>
            <a:r>
              <a:rPr sz="2350" spc="-120" dirty="0">
                <a:latin typeface="Arial"/>
                <a:cs typeface="Arial"/>
              </a:rPr>
              <a:t> </a:t>
            </a:r>
            <a:r>
              <a:rPr sz="2350" spc="-80" dirty="0">
                <a:latin typeface="Arial"/>
                <a:cs typeface="Arial"/>
              </a:rPr>
              <a:t>al.,</a:t>
            </a:r>
            <a:r>
              <a:rPr sz="2350" spc="-50" dirty="0">
                <a:latin typeface="Arial"/>
                <a:cs typeface="Arial"/>
              </a:rPr>
              <a:t> </a:t>
            </a:r>
            <a:r>
              <a:rPr sz="2350" spc="-165" dirty="0">
                <a:latin typeface="Arial"/>
                <a:cs typeface="Arial"/>
              </a:rPr>
              <a:t>2019,</a:t>
            </a:r>
            <a:r>
              <a:rPr sz="2350" spc="-85" dirty="0">
                <a:latin typeface="Arial"/>
                <a:cs typeface="Arial"/>
              </a:rPr>
              <a:t> </a:t>
            </a:r>
            <a:r>
              <a:rPr sz="2350" spc="-100" dirty="0">
                <a:latin typeface="Arial"/>
                <a:cs typeface="Arial"/>
              </a:rPr>
              <a:t>Journal</a:t>
            </a:r>
            <a:r>
              <a:rPr sz="2350" spc="-35" dirty="0">
                <a:latin typeface="Arial"/>
                <a:cs typeface="Arial"/>
              </a:rPr>
              <a:t> </a:t>
            </a:r>
            <a:r>
              <a:rPr sz="2350" spc="-25" dirty="0">
                <a:latin typeface="Arial"/>
                <a:cs typeface="Arial"/>
              </a:rPr>
              <a:t>of </a:t>
            </a:r>
            <a:r>
              <a:rPr sz="2350" spc="-95" dirty="0">
                <a:latin typeface="Arial"/>
                <a:cs typeface="Arial"/>
              </a:rPr>
              <a:t>Computational</a:t>
            </a:r>
            <a:r>
              <a:rPr sz="2350" spc="35" dirty="0">
                <a:latin typeface="Arial"/>
                <a:cs typeface="Arial"/>
              </a:rPr>
              <a:t> </a:t>
            </a:r>
            <a:r>
              <a:rPr sz="2350" spc="-25" dirty="0">
                <a:latin typeface="Arial"/>
                <a:cs typeface="Arial"/>
              </a:rPr>
              <a:t>Physics)</a:t>
            </a:r>
            <a:endParaRPr sz="2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720099" y="8988425"/>
            <a:ext cx="1175385" cy="681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140" dirty="0">
                <a:latin typeface="Arial"/>
                <a:cs typeface="Arial"/>
              </a:rPr>
              <a:t>CAUSALITÉ</a:t>
            </a:r>
            <a:endParaRPr sz="1850">
              <a:latin typeface="Arial"/>
              <a:cs typeface="Arial"/>
            </a:endParaRPr>
          </a:p>
          <a:p>
            <a:pPr marR="111760" algn="r">
              <a:lnSpc>
                <a:spcPct val="100000"/>
              </a:lnSpc>
              <a:spcBef>
                <a:spcPts val="1180"/>
              </a:spcBef>
            </a:pPr>
            <a:r>
              <a:rPr sz="1450" spc="-50" dirty="0">
                <a:latin typeface="Cambria"/>
                <a:cs typeface="Cambria"/>
              </a:rPr>
              <a:t>G</a:t>
            </a:r>
            <a:endParaRPr sz="14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2159000"/>
            <a:ext cx="16395700" cy="5651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4037" y="194733"/>
            <a:ext cx="16268065" cy="6604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150" spc="165" dirty="0">
                <a:latin typeface="Cambria"/>
                <a:cs typeface="Cambria"/>
              </a:rPr>
              <a:t>La</a:t>
            </a:r>
            <a:r>
              <a:rPr sz="4150" spc="85" dirty="0">
                <a:latin typeface="Cambria"/>
                <a:cs typeface="Cambria"/>
              </a:rPr>
              <a:t> </a:t>
            </a:r>
            <a:r>
              <a:rPr sz="4150" spc="125" dirty="0">
                <a:latin typeface="Cambria"/>
                <a:cs typeface="Cambria"/>
              </a:rPr>
              <a:t>Vision</a:t>
            </a:r>
            <a:r>
              <a:rPr sz="4150" spc="50" dirty="0">
                <a:latin typeface="Cambria"/>
                <a:cs typeface="Cambria"/>
              </a:rPr>
              <a:t> </a:t>
            </a:r>
            <a:r>
              <a:rPr sz="4150" spc="65" dirty="0">
                <a:latin typeface="Cambria"/>
                <a:cs typeface="Cambria"/>
              </a:rPr>
              <a:t>:</a:t>
            </a:r>
            <a:r>
              <a:rPr sz="4150" spc="20" dirty="0">
                <a:latin typeface="Cambria"/>
                <a:cs typeface="Cambria"/>
              </a:rPr>
              <a:t> </a:t>
            </a:r>
            <a:r>
              <a:rPr sz="4150" spc="210" dirty="0">
                <a:latin typeface="Cambria"/>
                <a:cs typeface="Cambria"/>
              </a:rPr>
              <a:t>Le</a:t>
            </a:r>
            <a:r>
              <a:rPr sz="4150" dirty="0">
                <a:latin typeface="Cambria"/>
                <a:cs typeface="Cambria"/>
              </a:rPr>
              <a:t> </a:t>
            </a:r>
            <a:r>
              <a:rPr sz="4150" spc="100" dirty="0">
                <a:latin typeface="Cambria"/>
                <a:cs typeface="Cambria"/>
              </a:rPr>
              <a:t>Réseau</a:t>
            </a:r>
            <a:r>
              <a:rPr sz="4150" spc="190" dirty="0">
                <a:latin typeface="Cambria"/>
                <a:cs typeface="Cambria"/>
              </a:rPr>
              <a:t> </a:t>
            </a:r>
            <a:r>
              <a:rPr sz="4150" spc="105" dirty="0">
                <a:latin typeface="Cambria"/>
                <a:cs typeface="Cambria"/>
              </a:rPr>
              <a:t>Décisionnel</a:t>
            </a:r>
            <a:r>
              <a:rPr sz="4150" spc="450" dirty="0">
                <a:latin typeface="Cambria"/>
                <a:cs typeface="Cambria"/>
              </a:rPr>
              <a:t> </a:t>
            </a:r>
            <a:r>
              <a:rPr sz="4150" spc="65" dirty="0">
                <a:latin typeface="Cambria"/>
                <a:cs typeface="Cambria"/>
              </a:rPr>
              <a:t>Adaptatif</a:t>
            </a:r>
            <a:r>
              <a:rPr sz="4150" spc="425" dirty="0">
                <a:latin typeface="Cambria"/>
                <a:cs typeface="Cambria"/>
              </a:rPr>
              <a:t> </a:t>
            </a:r>
            <a:r>
              <a:rPr sz="4150" spc="80" dirty="0">
                <a:latin typeface="Cambria"/>
                <a:cs typeface="Cambria"/>
              </a:rPr>
              <a:t>en</a:t>
            </a:r>
            <a:r>
              <a:rPr sz="4150" spc="235" dirty="0">
                <a:latin typeface="Cambria"/>
                <a:cs typeface="Cambria"/>
              </a:rPr>
              <a:t> </a:t>
            </a:r>
            <a:r>
              <a:rPr sz="4150" spc="110" dirty="0">
                <a:latin typeface="Cambria"/>
                <a:cs typeface="Cambria"/>
              </a:rPr>
              <a:t>Cancérologie</a:t>
            </a:r>
            <a:r>
              <a:rPr sz="4150" spc="220" dirty="0">
                <a:latin typeface="Cambria"/>
                <a:cs typeface="Cambria"/>
              </a:rPr>
              <a:t> </a:t>
            </a:r>
            <a:r>
              <a:rPr sz="4150" spc="50" dirty="0">
                <a:latin typeface="Cambria"/>
                <a:cs typeface="Cambria"/>
              </a:rPr>
              <a:t>(ACDN)</a:t>
            </a:r>
            <a:endParaRPr sz="41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3398" y="1055511"/>
            <a:ext cx="16113125" cy="810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3495">
              <a:lnSpc>
                <a:spcPts val="3010"/>
              </a:lnSpc>
              <a:spcBef>
                <a:spcPts val="135"/>
              </a:spcBef>
            </a:pPr>
            <a:r>
              <a:rPr sz="2600" spc="-35" dirty="0">
                <a:latin typeface="Arial"/>
                <a:cs typeface="Arial"/>
              </a:rPr>
              <a:t>Le</a:t>
            </a:r>
            <a:r>
              <a:rPr sz="2600" spc="-1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point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culminant</a:t>
            </a:r>
            <a:r>
              <a:rPr sz="2600" spc="10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de</a:t>
            </a:r>
            <a:r>
              <a:rPr sz="2600" spc="-1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notre</a:t>
            </a:r>
            <a:r>
              <a:rPr sz="2600" spc="-114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approche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est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une</a:t>
            </a:r>
            <a:r>
              <a:rPr sz="2600" spc="-1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plateforme</a:t>
            </a:r>
            <a:r>
              <a:rPr sz="2600" spc="1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de</a:t>
            </a:r>
            <a:r>
              <a:rPr sz="2600" spc="-9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décision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qui</a:t>
            </a:r>
            <a:r>
              <a:rPr sz="2600" spc="-18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traduit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une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compréhension</a:t>
            </a:r>
            <a:r>
              <a:rPr sz="2600" spc="12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biologique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ts val="3130"/>
              </a:lnSpc>
            </a:pPr>
            <a:r>
              <a:rPr sz="2700" spc="-20" dirty="0">
                <a:latin typeface="Arial"/>
                <a:cs typeface="Arial"/>
              </a:rPr>
              <a:t>profonde</a:t>
            </a:r>
            <a:r>
              <a:rPr sz="2700" spc="-17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en</a:t>
            </a:r>
            <a:r>
              <a:rPr sz="2700" spc="-180" dirty="0">
                <a:latin typeface="Arial"/>
                <a:cs typeface="Arial"/>
              </a:rPr>
              <a:t> </a:t>
            </a:r>
            <a:r>
              <a:rPr sz="2700" spc="-50" dirty="0">
                <a:latin typeface="Arial"/>
                <a:cs typeface="Arial"/>
              </a:rPr>
              <a:t>recommandations</a:t>
            </a:r>
            <a:r>
              <a:rPr sz="2700" spc="-200" dirty="0">
                <a:latin typeface="Arial"/>
                <a:cs typeface="Arial"/>
              </a:rPr>
              <a:t> </a:t>
            </a:r>
            <a:r>
              <a:rPr sz="2700" spc="-30" dirty="0">
                <a:latin typeface="Arial"/>
                <a:cs typeface="Arial"/>
              </a:rPr>
              <a:t>thérapeutiques</a:t>
            </a:r>
            <a:r>
              <a:rPr sz="2700" spc="-95" dirty="0">
                <a:latin typeface="Arial"/>
                <a:cs typeface="Arial"/>
              </a:rPr>
              <a:t> </a:t>
            </a:r>
            <a:r>
              <a:rPr sz="2700" spc="-65" dirty="0">
                <a:latin typeface="Arial"/>
                <a:cs typeface="Arial"/>
              </a:rPr>
              <a:t>personnalisées,</a:t>
            </a:r>
            <a:r>
              <a:rPr sz="2700" spc="-120" dirty="0">
                <a:latin typeface="Arial"/>
                <a:cs typeface="Arial"/>
              </a:rPr>
              <a:t> </a:t>
            </a:r>
            <a:r>
              <a:rPr sz="2700" spc="-60" dirty="0">
                <a:latin typeface="Arial"/>
                <a:cs typeface="Arial"/>
              </a:rPr>
              <a:t>dynamiques</a:t>
            </a:r>
            <a:r>
              <a:rPr sz="2700" spc="6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et</a:t>
            </a:r>
            <a:r>
              <a:rPr sz="2700" spc="-50" dirty="0">
                <a:latin typeface="Arial"/>
                <a:cs typeface="Arial"/>
              </a:rPr>
              <a:t> </a:t>
            </a:r>
            <a:r>
              <a:rPr sz="2700" spc="-45" dirty="0">
                <a:latin typeface="Arial"/>
                <a:cs typeface="Arial"/>
              </a:rPr>
              <a:t>entièrement</a:t>
            </a:r>
            <a:r>
              <a:rPr sz="2700" spc="60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interprétables.</a:t>
            </a:r>
            <a:endParaRPr sz="2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16517" y="3429000"/>
            <a:ext cx="93281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35" dirty="0">
                <a:latin typeface="Arial"/>
                <a:cs typeface="Arial"/>
              </a:rPr>
              <a:t>Entrée</a:t>
            </a:r>
            <a:endParaRPr sz="2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8027" y="5558366"/>
            <a:ext cx="3863340" cy="6369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2330"/>
              </a:lnSpc>
              <a:spcBef>
                <a:spcPts val="130"/>
              </a:spcBef>
            </a:pPr>
            <a:r>
              <a:rPr sz="2050" spc="-45" dirty="0">
                <a:latin typeface="Arial"/>
                <a:cs typeface="Arial"/>
              </a:rPr>
              <a:t>Données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10" dirty="0">
                <a:latin typeface="Arial"/>
                <a:cs typeface="Arial"/>
              </a:rPr>
              <a:t>multimodales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-13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Imagerie,</a:t>
            </a:r>
            <a:endParaRPr sz="2050">
              <a:latin typeface="Arial"/>
              <a:cs typeface="Arial"/>
            </a:endParaRPr>
          </a:p>
          <a:p>
            <a:pPr marL="158115">
              <a:lnSpc>
                <a:spcPts val="2450"/>
              </a:lnSpc>
            </a:pPr>
            <a:r>
              <a:rPr sz="2150" spc="-114" dirty="0">
                <a:latin typeface="Arial"/>
                <a:cs typeface="Arial"/>
              </a:rPr>
              <a:t>Génomique,</a:t>
            </a:r>
            <a:r>
              <a:rPr sz="2150" spc="-10" dirty="0">
                <a:latin typeface="Arial"/>
                <a:cs typeface="Arial"/>
              </a:rPr>
              <a:t> </a:t>
            </a:r>
            <a:r>
              <a:rPr sz="2150" spc="-120" dirty="0">
                <a:latin typeface="Arial"/>
                <a:cs typeface="Arial"/>
              </a:rPr>
              <a:t>Données</a:t>
            </a:r>
            <a:r>
              <a:rPr sz="2150" spc="20" dirty="0">
                <a:latin typeface="Arial"/>
                <a:cs typeface="Arial"/>
              </a:rPr>
              <a:t> </a:t>
            </a:r>
            <a:r>
              <a:rPr sz="2150" spc="-10" dirty="0">
                <a:latin typeface="Arial"/>
                <a:cs typeface="Arial"/>
              </a:rPr>
              <a:t>Cliniques</a:t>
            </a:r>
            <a:endParaRPr sz="2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0584" y="7158555"/>
            <a:ext cx="2903855" cy="1932305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2550" spc="-35" dirty="0">
                <a:latin typeface="Arial"/>
                <a:cs typeface="Arial"/>
              </a:rPr>
              <a:t>Capacités</a:t>
            </a:r>
            <a:r>
              <a:rPr sz="2550" spc="-120" dirty="0">
                <a:latin typeface="Arial"/>
                <a:cs typeface="Arial"/>
              </a:rPr>
              <a:t> </a:t>
            </a:r>
            <a:r>
              <a:rPr sz="2550" spc="-20" dirty="0">
                <a:latin typeface="Arial"/>
                <a:cs typeface="Arial"/>
              </a:rPr>
              <a:t>Clés</a:t>
            </a:r>
            <a:endParaRPr sz="2550">
              <a:latin typeface="Arial"/>
              <a:cs typeface="Arial"/>
            </a:endParaRPr>
          </a:p>
          <a:p>
            <a:pPr marL="15875" marR="5080" indent="3810">
              <a:lnSpc>
                <a:spcPct val="106600"/>
              </a:lnSpc>
              <a:spcBef>
                <a:spcPts val="770"/>
              </a:spcBef>
            </a:pPr>
            <a:r>
              <a:rPr sz="2150" spc="30" dirty="0">
                <a:latin typeface="Arial"/>
                <a:cs typeface="Arial"/>
              </a:rPr>
              <a:t>Personnalisation</a:t>
            </a:r>
            <a:r>
              <a:rPr sz="2150" spc="-55" dirty="0">
                <a:latin typeface="Arial"/>
                <a:cs typeface="Arial"/>
              </a:rPr>
              <a:t> </a:t>
            </a:r>
            <a:r>
              <a:rPr sz="2150" spc="-50" dirty="0">
                <a:latin typeface="Arial"/>
                <a:cs typeface="Arial"/>
              </a:rPr>
              <a:t>: </a:t>
            </a:r>
            <a:r>
              <a:rPr sz="2150" spc="-105" dirty="0">
                <a:latin typeface="Arial"/>
                <a:cs typeface="Arial"/>
              </a:rPr>
              <a:t>Simule</a:t>
            </a:r>
            <a:r>
              <a:rPr sz="2150" spc="-45" dirty="0">
                <a:latin typeface="Arial"/>
                <a:cs typeface="Arial"/>
              </a:rPr>
              <a:t> </a:t>
            </a:r>
            <a:r>
              <a:rPr sz="2150" spc="-30" dirty="0">
                <a:latin typeface="Arial"/>
                <a:cs typeface="Arial"/>
              </a:rPr>
              <a:t>la</a:t>
            </a:r>
            <a:r>
              <a:rPr sz="2150" spc="-60" dirty="0">
                <a:latin typeface="Arial"/>
                <a:cs typeface="Arial"/>
              </a:rPr>
              <a:t> </a:t>
            </a:r>
            <a:r>
              <a:rPr sz="2150" spc="-35" dirty="0">
                <a:latin typeface="Arial"/>
                <a:cs typeface="Arial"/>
              </a:rPr>
              <a:t>trajectoire</a:t>
            </a:r>
            <a:r>
              <a:rPr sz="2150" spc="-65" dirty="0">
                <a:latin typeface="Arial"/>
                <a:cs typeface="Arial"/>
              </a:rPr>
              <a:t> </a:t>
            </a:r>
            <a:r>
              <a:rPr sz="2150" spc="-50" dirty="0">
                <a:latin typeface="Arial"/>
                <a:cs typeface="Arial"/>
              </a:rPr>
              <a:t>de</a:t>
            </a:r>
            <a:r>
              <a:rPr sz="2150" spc="-100" dirty="0">
                <a:latin typeface="Arial"/>
                <a:cs typeface="Arial"/>
              </a:rPr>
              <a:t> </a:t>
            </a:r>
            <a:r>
              <a:rPr sz="2150" spc="-75" dirty="0">
                <a:latin typeface="Arial"/>
                <a:cs typeface="Arial"/>
              </a:rPr>
              <a:t>la</a:t>
            </a:r>
            <a:endParaRPr sz="2150">
              <a:latin typeface="Arial"/>
              <a:cs typeface="Arial"/>
            </a:endParaRPr>
          </a:p>
          <a:p>
            <a:pPr marL="22860">
              <a:lnSpc>
                <a:spcPts val="2115"/>
              </a:lnSpc>
            </a:pPr>
            <a:r>
              <a:rPr sz="2200" spc="-130" dirty="0">
                <a:latin typeface="Arial"/>
                <a:cs typeface="Arial"/>
              </a:rPr>
              <a:t>maladie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spc="-85" dirty="0">
                <a:latin typeface="Arial"/>
                <a:cs typeface="Arial"/>
              </a:rPr>
              <a:t>pour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chaque</a:t>
            </a:r>
            <a:endParaRPr sz="2200">
              <a:latin typeface="Arial"/>
              <a:cs typeface="Arial"/>
            </a:endParaRPr>
          </a:p>
          <a:p>
            <a:pPr marL="23495">
              <a:lnSpc>
                <a:spcPts val="2435"/>
              </a:lnSpc>
            </a:pPr>
            <a:r>
              <a:rPr sz="2150" spc="-10" dirty="0">
                <a:latin typeface="Arial"/>
                <a:cs typeface="Arial"/>
              </a:rPr>
              <a:t>patient.</a:t>
            </a:r>
            <a:endParaRPr sz="2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0999" y="3210630"/>
            <a:ext cx="902969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85" dirty="0">
                <a:latin typeface="Arial"/>
                <a:cs typeface="Arial"/>
              </a:rPr>
              <a:t>Noyau</a:t>
            </a:r>
            <a:endParaRPr sz="25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51794" y="5701947"/>
            <a:ext cx="357632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70" dirty="0">
                <a:latin typeface="Arial"/>
                <a:cs typeface="Arial"/>
              </a:rPr>
              <a:t>Modélisation</a:t>
            </a:r>
            <a:r>
              <a:rPr sz="2150" spc="40" dirty="0">
                <a:latin typeface="Arial"/>
                <a:cs typeface="Arial"/>
              </a:rPr>
              <a:t> </a:t>
            </a:r>
            <a:r>
              <a:rPr sz="2150" spc="-55" dirty="0">
                <a:latin typeface="Arial"/>
                <a:cs typeface="Arial"/>
              </a:rPr>
              <a:t>Physico-</a:t>
            </a:r>
            <a:r>
              <a:rPr sz="2150" spc="-10" dirty="0">
                <a:latin typeface="Arial"/>
                <a:cs typeface="Arial"/>
              </a:rPr>
              <a:t>informée</a:t>
            </a:r>
            <a:endParaRPr sz="2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01319" y="6273447"/>
            <a:ext cx="308483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65" dirty="0">
                <a:latin typeface="Arial"/>
                <a:cs typeface="Arial"/>
              </a:rPr>
              <a:t>Adaptation</a:t>
            </a:r>
            <a:r>
              <a:rPr sz="2150" spc="-60" dirty="0">
                <a:latin typeface="Arial"/>
                <a:cs typeface="Arial"/>
              </a:rPr>
              <a:t> </a:t>
            </a:r>
            <a:r>
              <a:rPr sz="2150" spc="-45" dirty="0">
                <a:latin typeface="Arial"/>
                <a:cs typeface="Arial"/>
              </a:rPr>
              <a:t>Neuroplastique</a:t>
            </a:r>
            <a:endParaRPr sz="21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98937" y="7788980"/>
            <a:ext cx="3300095" cy="157988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270"/>
              </a:spcBef>
            </a:pPr>
            <a:r>
              <a:rPr sz="2150" dirty="0">
                <a:latin typeface="Arial"/>
                <a:cs typeface="Arial"/>
              </a:rPr>
              <a:t>Adaptabilité</a:t>
            </a:r>
            <a:r>
              <a:rPr sz="2150" spc="480" dirty="0">
                <a:latin typeface="Arial"/>
                <a:cs typeface="Arial"/>
              </a:rPr>
              <a:t> </a:t>
            </a:r>
            <a:r>
              <a:rPr sz="2150" spc="-50" dirty="0">
                <a:latin typeface="Arial"/>
                <a:cs typeface="Arial"/>
              </a:rPr>
              <a:t>:</a:t>
            </a:r>
            <a:endParaRPr sz="2150">
              <a:latin typeface="Arial"/>
              <a:cs typeface="Arial"/>
            </a:endParaRPr>
          </a:p>
          <a:p>
            <a:pPr marL="12700" marR="5080" indent="4445">
              <a:lnSpc>
                <a:spcPct val="89800"/>
              </a:lnSpc>
              <a:spcBef>
                <a:spcPts val="430"/>
              </a:spcBef>
            </a:pPr>
            <a:r>
              <a:rPr sz="2150" spc="-95" dirty="0">
                <a:latin typeface="Arial"/>
                <a:cs typeface="Arial"/>
              </a:rPr>
              <a:t>S'ajuste</a:t>
            </a:r>
            <a:r>
              <a:rPr sz="2150" spc="-65" dirty="0">
                <a:latin typeface="Arial"/>
                <a:cs typeface="Arial"/>
              </a:rPr>
              <a:t> </a:t>
            </a:r>
            <a:r>
              <a:rPr sz="2150" spc="-85" dirty="0">
                <a:latin typeface="Arial"/>
                <a:cs typeface="Arial"/>
              </a:rPr>
              <a:t>dynamiquement</a:t>
            </a:r>
            <a:r>
              <a:rPr sz="2150" spc="130" dirty="0">
                <a:latin typeface="Arial"/>
                <a:cs typeface="Arial"/>
              </a:rPr>
              <a:t> </a:t>
            </a:r>
            <a:r>
              <a:rPr sz="2150" spc="-40" dirty="0">
                <a:latin typeface="Arial"/>
                <a:cs typeface="Arial"/>
              </a:rPr>
              <a:t>aux </a:t>
            </a:r>
            <a:r>
              <a:rPr sz="2050" spc="-20" dirty="0">
                <a:latin typeface="Arial"/>
                <a:cs typeface="Arial"/>
              </a:rPr>
              <a:t>nouvelles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-10" dirty="0">
                <a:latin typeface="Arial"/>
                <a:cs typeface="Arial"/>
              </a:rPr>
              <a:t>données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grâce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à </a:t>
            </a:r>
            <a:r>
              <a:rPr sz="2150" spc="-120" dirty="0">
                <a:latin typeface="Arial"/>
                <a:cs typeface="Arial"/>
              </a:rPr>
              <a:t>des</a:t>
            </a:r>
            <a:r>
              <a:rPr sz="2150" spc="-30" dirty="0">
                <a:latin typeface="Arial"/>
                <a:cs typeface="Arial"/>
              </a:rPr>
              <a:t> </a:t>
            </a:r>
            <a:r>
              <a:rPr sz="2150" spc="-80" dirty="0">
                <a:latin typeface="Arial"/>
                <a:cs typeface="Arial"/>
              </a:rPr>
              <a:t>mécanismes</a:t>
            </a:r>
            <a:r>
              <a:rPr sz="2150" dirty="0">
                <a:latin typeface="Arial"/>
                <a:cs typeface="Arial"/>
              </a:rPr>
              <a:t> </a:t>
            </a:r>
            <a:r>
              <a:rPr sz="2150" spc="-25" dirty="0">
                <a:latin typeface="Arial"/>
                <a:cs typeface="Arial"/>
              </a:rPr>
              <a:t>de </a:t>
            </a:r>
            <a:r>
              <a:rPr sz="2050" dirty="0">
                <a:latin typeface="Arial"/>
                <a:cs typeface="Arial"/>
              </a:rPr>
              <a:t>neuroplasticité</a:t>
            </a:r>
            <a:r>
              <a:rPr sz="2050" spc="-65" dirty="0">
                <a:latin typeface="Arial"/>
                <a:cs typeface="Arial"/>
              </a:rPr>
              <a:t> </a:t>
            </a:r>
            <a:r>
              <a:rPr sz="2050" spc="-10" dirty="0">
                <a:latin typeface="Arial"/>
                <a:cs typeface="Arial"/>
              </a:rPr>
              <a:t>simulée.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62873" y="7788980"/>
            <a:ext cx="3682365" cy="157988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2150" spc="60" dirty="0">
                <a:latin typeface="Arial"/>
                <a:cs typeface="Arial"/>
              </a:rPr>
              <a:t>Interprétabilité</a:t>
            </a:r>
            <a:r>
              <a:rPr sz="2150" spc="-105" dirty="0">
                <a:latin typeface="Arial"/>
                <a:cs typeface="Arial"/>
              </a:rPr>
              <a:t> </a:t>
            </a:r>
            <a:r>
              <a:rPr sz="2150" spc="-50" dirty="0">
                <a:latin typeface="Arial"/>
                <a:cs typeface="Arial"/>
              </a:rPr>
              <a:t>:</a:t>
            </a:r>
            <a:endParaRPr sz="2150">
              <a:latin typeface="Arial"/>
              <a:cs typeface="Arial"/>
            </a:endParaRPr>
          </a:p>
          <a:p>
            <a:pPr marL="15240" marR="5080" indent="1270">
              <a:lnSpc>
                <a:spcPct val="88400"/>
              </a:lnSpc>
              <a:spcBef>
                <a:spcPts val="465"/>
              </a:spcBef>
            </a:pPr>
            <a:r>
              <a:rPr sz="2150" spc="-125" dirty="0">
                <a:latin typeface="Arial"/>
                <a:cs typeface="Arial"/>
              </a:rPr>
              <a:t>Dépasse</a:t>
            </a:r>
            <a:r>
              <a:rPr sz="2150" spc="-25" dirty="0">
                <a:latin typeface="Arial"/>
                <a:cs typeface="Arial"/>
              </a:rPr>
              <a:t> </a:t>
            </a:r>
            <a:r>
              <a:rPr sz="2150" spc="-35" dirty="0">
                <a:latin typeface="Arial"/>
                <a:cs typeface="Arial"/>
              </a:rPr>
              <a:t>le</a:t>
            </a:r>
            <a:r>
              <a:rPr sz="2150" spc="-114" dirty="0">
                <a:latin typeface="Arial"/>
                <a:cs typeface="Arial"/>
              </a:rPr>
              <a:t> </a:t>
            </a:r>
            <a:r>
              <a:rPr sz="2150" spc="-70" dirty="0">
                <a:latin typeface="Arial"/>
                <a:cs typeface="Arial"/>
              </a:rPr>
              <a:t>problème</a:t>
            </a:r>
            <a:r>
              <a:rPr sz="2150" spc="-40" dirty="0">
                <a:latin typeface="Arial"/>
                <a:cs typeface="Arial"/>
              </a:rPr>
              <a:t> </a:t>
            </a:r>
            <a:r>
              <a:rPr sz="2150" spc="-50" dirty="0">
                <a:latin typeface="Arial"/>
                <a:cs typeface="Arial"/>
              </a:rPr>
              <a:t>de</a:t>
            </a:r>
            <a:r>
              <a:rPr sz="2150" spc="-100" dirty="0">
                <a:latin typeface="Arial"/>
                <a:cs typeface="Arial"/>
              </a:rPr>
              <a:t> </a:t>
            </a:r>
            <a:r>
              <a:rPr sz="2150" spc="-25" dirty="0">
                <a:latin typeface="Arial"/>
                <a:cs typeface="Arial"/>
              </a:rPr>
              <a:t>la </a:t>
            </a:r>
            <a:r>
              <a:rPr sz="2150" spc="-30" dirty="0">
                <a:latin typeface="Arial"/>
                <a:cs typeface="Arial"/>
              </a:rPr>
              <a:t>'boite</a:t>
            </a:r>
            <a:r>
              <a:rPr sz="2150" spc="-130" dirty="0">
                <a:latin typeface="Arial"/>
                <a:cs typeface="Arial"/>
              </a:rPr>
              <a:t> </a:t>
            </a:r>
            <a:r>
              <a:rPr sz="2150" spc="-60" dirty="0">
                <a:latin typeface="Arial"/>
                <a:cs typeface="Arial"/>
              </a:rPr>
              <a:t>noire'</a:t>
            </a:r>
            <a:r>
              <a:rPr sz="2150" spc="-90" dirty="0">
                <a:latin typeface="Arial"/>
                <a:cs typeface="Arial"/>
              </a:rPr>
              <a:t> </a:t>
            </a:r>
            <a:r>
              <a:rPr sz="2150" spc="-114" dirty="0">
                <a:latin typeface="Arial"/>
                <a:cs typeface="Arial"/>
              </a:rPr>
              <a:t>en</a:t>
            </a:r>
            <a:r>
              <a:rPr sz="2150" spc="-35" dirty="0">
                <a:latin typeface="Arial"/>
                <a:cs typeface="Arial"/>
              </a:rPr>
              <a:t> </a:t>
            </a:r>
            <a:r>
              <a:rPr sz="2150" spc="-60" dirty="0">
                <a:latin typeface="Arial"/>
                <a:cs typeface="Arial"/>
              </a:rPr>
              <a:t>fournissant</a:t>
            </a:r>
            <a:r>
              <a:rPr sz="2150" spc="90" dirty="0">
                <a:latin typeface="Arial"/>
                <a:cs typeface="Arial"/>
              </a:rPr>
              <a:t> </a:t>
            </a:r>
            <a:r>
              <a:rPr sz="2150" spc="-25" dirty="0">
                <a:latin typeface="Arial"/>
                <a:cs typeface="Arial"/>
              </a:rPr>
              <a:t>des </a:t>
            </a:r>
            <a:r>
              <a:rPr sz="2150" spc="-50" dirty="0">
                <a:latin typeface="Arial"/>
                <a:cs typeface="Arial"/>
              </a:rPr>
              <a:t>explications</a:t>
            </a:r>
            <a:r>
              <a:rPr sz="2150" spc="-100" dirty="0">
                <a:latin typeface="Arial"/>
                <a:cs typeface="Arial"/>
              </a:rPr>
              <a:t> </a:t>
            </a:r>
            <a:r>
              <a:rPr sz="2150" spc="-65" dirty="0">
                <a:latin typeface="Arial"/>
                <a:cs typeface="Arial"/>
              </a:rPr>
              <a:t>adaptées</a:t>
            </a:r>
            <a:r>
              <a:rPr sz="2150" spc="25" dirty="0">
                <a:latin typeface="Arial"/>
                <a:cs typeface="Arial"/>
              </a:rPr>
              <a:t> </a:t>
            </a:r>
            <a:r>
              <a:rPr sz="2150" spc="-130" dirty="0">
                <a:latin typeface="Arial"/>
                <a:cs typeface="Arial"/>
              </a:rPr>
              <a:t>au</a:t>
            </a:r>
            <a:r>
              <a:rPr sz="2150" spc="-145" dirty="0">
                <a:latin typeface="Arial"/>
                <a:cs typeface="Arial"/>
              </a:rPr>
              <a:t> </a:t>
            </a:r>
            <a:r>
              <a:rPr sz="2150" spc="-65" dirty="0">
                <a:latin typeface="Arial"/>
                <a:cs typeface="Arial"/>
              </a:rPr>
              <a:t>niveau </a:t>
            </a:r>
            <a:r>
              <a:rPr sz="2050" dirty="0">
                <a:latin typeface="Arial"/>
                <a:cs typeface="Arial"/>
              </a:rPr>
              <a:t>d'expertise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-10" dirty="0">
                <a:latin typeface="Arial"/>
                <a:cs typeface="Arial"/>
              </a:rPr>
              <a:t>l'utilisateur.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064621" y="2258130"/>
            <a:ext cx="4565650" cy="123190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065" marR="5080" algn="ctr">
              <a:lnSpc>
                <a:spcPts val="2700"/>
              </a:lnSpc>
              <a:spcBef>
                <a:spcPts val="509"/>
              </a:spcBef>
            </a:pPr>
            <a:r>
              <a:rPr sz="2550" spc="-70" dirty="0">
                <a:latin typeface="Arial"/>
                <a:cs typeface="Arial"/>
              </a:rPr>
              <a:t>Recommandation</a:t>
            </a:r>
            <a:r>
              <a:rPr sz="2550" spc="-80" dirty="0">
                <a:latin typeface="Arial"/>
                <a:cs typeface="Arial"/>
              </a:rPr>
              <a:t> </a:t>
            </a:r>
            <a:r>
              <a:rPr sz="2550" spc="-30" dirty="0">
                <a:latin typeface="Arial"/>
                <a:cs typeface="Arial"/>
              </a:rPr>
              <a:t>Thérapeutique </a:t>
            </a:r>
            <a:r>
              <a:rPr sz="2550" dirty="0">
                <a:latin typeface="Arial"/>
                <a:cs typeface="Arial"/>
              </a:rPr>
              <a:t>Multi-</a:t>
            </a:r>
            <a:r>
              <a:rPr sz="2550" spc="-10" dirty="0">
                <a:latin typeface="Arial"/>
                <a:cs typeface="Arial"/>
              </a:rPr>
              <a:t>facettes</a:t>
            </a:r>
            <a:endParaRPr sz="2550">
              <a:latin typeface="Arial"/>
              <a:cs typeface="Arial"/>
            </a:endParaRPr>
          </a:p>
          <a:p>
            <a:pPr marR="104139" algn="ctr">
              <a:lnSpc>
                <a:spcPct val="100000"/>
              </a:lnSpc>
              <a:spcBef>
                <a:spcPts val="1110"/>
              </a:spcBef>
            </a:pPr>
            <a:r>
              <a:rPr sz="2150" spc="-145" dirty="0">
                <a:latin typeface="Arial"/>
                <a:cs typeface="Arial"/>
              </a:rPr>
              <a:t>Schéma</a:t>
            </a:r>
            <a:r>
              <a:rPr sz="2150" spc="20" dirty="0">
                <a:latin typeface="Arial"/>
                <a:cs typeface="Arial"/>
              </a:rPr>
              <a:t> </a:t>
            </a:r>
            <a:r>
              <a:rPr sz="2150" spc="-10" dirty="0">
                <a:latin typeface="Arial"/>
                <a:cs typeface="Arial"/>
              </a:rPr>
              <a:t>Thérapeutique</a:t>
            </a:r>
            <a:endParaRPr sz="21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965734" y="3720747"/>
            <a:ext cx="3558540" cy="9378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70" dirty="0">
                <a:latin typeface="Arial"/>
                <a:cs typeface="Arial"/>
              </a:rPr>
              <a:t>Calendrier</a:t>
            </a:r>
            <a:r>
              <a:rPr sz="2150" spc="10" dirty="0">
                <a:latin typeface="Arial"/>
                <a:cs typeface="Arial"/>
              </a:rPr>
              <a:t> </a:t>
            </a:r>
            <a:r>
              <a:rPr sz="2150" spc="-55" dirty="0">
                <a:latin typeface="Arial"/>
                <a:cs typeface="Arial"/>
              </a:rPr>
              <a:t>de</a:t>
            </a:r>
            <a:r>
              <a:rPr sz="2150" spc="-114" dirty="0">
                <a:latin typeface="Arial"/>
                <a:cs typeface="Arial"/>
              </a:rPr>
              <a:t> </a:t>
            </a:r>
            <a:r>
              <a:rPr sz="2150" spc="-125" dirty="0">
                <a:latin typeface="Arial"/>
                <a:cs typeface="Arial"/>
              </a:rPr>
              <a:t>Dosage</a:t>
            </a:r>
            <a:r>
              <a:rPr sz="2150" spc="-10" dirty="0">
                <a:latin typeface="Arial"/>
                <a:cs typeface="Arial"/>
              </a:rPr>
              <a:t> </a:t>
            </a:r>
            <a:r>
              <a:rPr sz="2150" spc="-70" dirty="0">
                <a:latin typeface="Arial"/>
                <a:cs typeface="Arial"/>
              </a:rPr>
              <a:t>Optimisé</a:t>
            </a:r>
            <a:endParaRPr sz="215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2020"/>
              </a:spcBef>
            </a:pPr>
            <a:r>
              <a:rPr sz="2150" spc="-120" dirty="0">
                <a:latin typeface="Arial"/>
                <a:cs typeface="Arial"/>
              </a:rPr>
              <a:t>Soins</a:t>
            </a:r>
            <a:r>
              <a:rPr sz="2150" spc="-30" dirty="0">
                <a:latin typeface="Arial"/>
                <a:cs typeface="Arial"/>
              </a:rPr>
              <a:t> </a:t>
            </a:r>
            <a:r>
              <a:rPr sz="2150" spc="-10" dirty="0">
                <a:latin typeface="Arial"/>
                <a:cs typeface="Arial"/>
              </a:rPr>
              <a:t>de</a:t>
            </a:r>
            <a:r>
              <a:rPr sz="2150" spc="-114" dirty="0">
                <a:latin typeface="Arial"/>
                <a:cs typeface="Arial"/>
              </a:rPr>
              <a:t> </a:t>
            </a:r>
            <a:r>
              <a:rPr sz="2150" spc="-10" dirty="0">
                <a:latin typeface="Arial"/>
                <a:cs typeface="Arial"/>
              </a:rPr>
              <a:t>Support</a:t>
            </a:r>
            <a:endParaRPr sz="21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269152" y="5302250"/>
            <a:ext cx="4584700" cy="1209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25" dirty="0">
                <a:latin typeface="Arial"/>
                <a:cs typeface="Arial"/>
              </a:rPr>
              <a:t>Dossier</a:t>
            </a:r>
            <a:r>
              <a:rPr sz="2500" spc="-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d'Explication</a:t>
            </a:r>
            <a:r>
              <a:rPr sz="2500" spc="-160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Complet</a:t>
            </a:r>
            <a:endParaRPr sz="2500">
              <a:latin typeface="Arial"/>
              <a:cs typeface="Arial"/>
            </a:endParaRPr>
          </a:p>
          <a:p>
            <a:pPr marL="738505" marR="5080" indent="4445">
              <a:lnSpc>
                <a:spcPts val="2100"/>
              </a:lnSpc>
              <a:spcBef>
                <a:spcPts val="2120"/>
              </a:spcBef>
            </a:pPr>
            <a:r>
              <a:rPr sz="2050" spc="-110" dirty="0">
                <a:latin typeface="Arial"/>
                <a:cs typeface="Arial"/>
              </a:rPr>
              <a:t>hliveau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spc="-70" dirty="0">
                <a:latin typeface="Arial"/>
                <a:cs typeface="Arial"/>
              </a:rPr>
              <a:t>Expert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-40" dirty="0">
                <a:latin typeface="Arial"/>
                <a:cs typeface="Arial"/>
              </a:rPr>
              <a:t>: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spc="-170" dirty="0">
                <a:latin typeface="Arial"/>
                <a:cs typeface="Arial"/>
              </a:rPr>
              <a:t>Base</a:t>
            </a:r>
            <a:r>
              <a:rPr sz="2050" spc="15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mathématique, </a:t>
            </a:r>
            <a:r>
              <a:rPr sz="2050" spc="-60" dirty="0">
                <a:latin typeface="Arial"/>
                <a:cs typeface="Arial"/>
              </a:rPr>
              <a:t>quantification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de</a:t>
            </a:r>
            <a:r>
              <a:rPr sz="2050" spc="-120" dirty="0">
                <a:latin typeface="Arial"/>
                <a:cs typeface="Arial"/>
              </a:rPr>
              <a:t> </a:t>
            </a:r>
            <a:r>
              <a:rPr sz="2050" spc="-10" dirty="0">
                <a:latin typeface="Arial"/>
                <a:cs typeface="Arial"/>
              </a:rPr>
              <a:t>l'incertitude.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998729" y="6903155"/>
            <a:ext cx="3736975" cy="58229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5240" marR="5080" indent="-3175">
              <a:lnSpc>
                <a:spcPts val="2050"/>
              </a:lnSpc>
              <a:spcBef>
                <a:spcPts val="405"/>
              </a:spcBef>
            </a:pPr>
            <a:r>
              <a:rPr sz="1950" spc="-50" dirty="0">
                <a:latin typeface="Arial"/>
                <a:cs typeface="Arial"/>
              </a:rPr>
              <a:t>Niveau</a:t>
            </a:r>
            <a:r>
              <a:rPr sz="1950" spc="-114" dirty="0">
                <a:latin typeface="Arial"/>
                <a:cs typeface="Arial"/>
              </a:rPr>
              <a:t> </a:t>
            </a:r>
            <a:r>
              <a:rPr sz="1950" spc="-20" dirty="0">
                <a:latin typeface="Arial"/>
                <a:cs typeface="Arial"/>
              </a:rPr>
              <a:t>Patient </a:t>
            </a:r>
            <a:r>
              <a:rPr sz="1950" dirty="0">
                <a:latin typeface="Arial"/>
                <a:cs typeface="Arial"/>
              </a:rPr>
              <a:t>:</a:t>
            </a:r>
            <a:r>
              <a:rPr sz="1950" spc="-75" dirty="0">
                <a:latin typeface="Arial"/>
                <a:cs typeface="Arial"/>
              </a:rPr>
              <a:t> </a:t>
            </a:r>
            <a:r>
              <a:rPr sz="1950" spc="-10" dirty="0">
                <a:latin typeface="Arial"/>
                <a:cs typeface="Arial"/>
              </a:rPr>
              <a:t>Métaphores </a:t>
            </a:r>
            <a:r>
              <a:rPr sz="1950" spc="-50" dirty="0">
                <a:latin typeface="Arial"/>
                <a:cs typeface="Arial"/>
              </a:rPr>
              <a:t>visuelles,</a:t>
            </a:r>
            <a:r>
              <a:rPr sz="1950" spc="-85" dirty="0">
                <a:latin typeface="Arial"/>
                <a:cs typeface="Arial"/>
              </a:rPr>
              <a:t> </a:t>
            </a:r>
            <a:r>
              <a:rPr sz="1950" spc="-30" dirty="0">
                <a:latin typeface="Arial"/>
                <a:cs typeface="Arial"/>
              </a:rPr>
              <a:t>informations</a:t>
            </a:r>
            <a:r>
              <a:rPr sz="1950" spc="-5" dirty="0">
                <a:latin typeface="Arial"/>
                <a:cs typeface="Arial"/>
              </a:rPr>
              <a:t> </a:t>
            </a:r>
            <a:r>
              <a:rPr sz="1950" spc="-45" dirty="0">
                <a:latin typeface="Arial"/>
                <a:cs typeface="Arial"/>
              </a:rPr>
              <a:t>exploitables.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0100" y="3048000"/>
            <a:ext cx="7480300" cy="3771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29900" y="3810000"/>
            <a:ext cx="2146300" cy="21209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512800" y="5306483"/>
            <a:ext cx="347345" cy="0"/>
          </a:xfrm>
          <a:custGeom>
            <a:avLst/>
            <a:gdLst/>
            <a:ahLst/>
            <a:cxnLst/>
            <a:rect l="l" t="t" r="r" b="b"/>
            <a:pathLst>
              <a:path w="347344">
                <a:moveTo>
                  <a:pt x="0" y="0"/>
                </a:moveTo>
                <a:lnTo>
                  <a:pt x="347133" y="0"/>
                </a:lnTo>
              </a:path>
            </a:pathLst>
          </a:custGeom>
          <a:ln w="29633">
            <a:solidFill>
              <a:srgbClr val="444B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979400" y="4936070"/>
            <a:ext cx="474345" cy="42545"/>
          </a:xfrm>
          <a:custGeom>
            <a:avLst/>
            <a:gdLst/>
            <a:ahLst/>
            <a:cxnLst/>
            <a:rect l="l" t="t" r="r" b="b"/>
            <a:pathLst>
              <a:path w="474344" h="42545">
                <a:moveTo>
                  <a:pt x="474129" y="0"/>
                </a:moveTo>
                <a:lnTo>
                  <a:pt x="0" y="0"/>
                </a:lnTo>
                <a:lnTo>
                  <a:pt x="0" y="12700"/>
                </a:lnTo>
                <a:lnTo>
                  <a:pt x="0" y="29641"/>
                </a:lnTo>
                <a:lnTo>
                  <a:pt x="0" y="42341"/>
                </a:lnTo>
                <a:lnTo>
                  <a:pt x="474129" y="42341"/>
                </a:lnTo>
                <a:lnTo>
                  <a:pt x="474129" y="29641"/>
                </a:lnTo>
                <a:lnTo>
                  <a:pt x="474129" y="12700"/>
                </a:lnTo>
                <a:lnTo>
                  <a:pt x="474129" y="0"/>
                </a:lnTo>
                <a:close/>
              </a:path>
            </a:pathLst>
          </a:custGeom>
          <a:solidFill>
            <a:srgbClr val="3B484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3220700" y="4593166"/>
            <a:ext cx="728345" cy="17145"/>
            <a:chOff x="13220700" y="4593166"/>
            <a:chExt cx="728345" cy="17145"/>
          </a:xfrm>
        </p:grpSpPr>
        <p:sp>
          <p:nvSpPr>
            <p:cNvPr id="7" name="object 7"/>
            <p:cNvSpPr/>
            <p:nvPr/>
          </p:nvSpPr>
          <p:spPr>
            <a:xfrm>
              <a:off x="13220700" y="4607983"/>
              <a:ext cx="728345" cy="0"/>
            </a:xfrm>
            <a:custGeom>
              <a:avLst/>
              <a:gdLst/>
              <a:ahLst/>
              <a:cxnLst/>
              <a:rect l="l" t="t" r="r" b="b"/>
              <a:pathLst>
                <a:path w="728344">
                  <a:moveTo>
                    <a:pt x="0" y="0"/>
                  </a:moveTo>
                  <a:lnTo>
                    <a:pt x="728133" y="0"/>
                  </a:lnTo>
                </a:path>
              </a:pathLst>
            </a:custGeom>
            <a:ln w="4233">
              <a:solidFill>
                <a:srgbClr val="3F4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220700" y="4595283"/>
              <a:ext cx="728345" cy="0"/>
            </a:xfrm>
            <a:custGeom>
              <a:avLst/>
              <a:gdLst/>
              <a:ahLst/>
              <a:cxnLst/>
              <a:rect l="l" t="t" r="r" b="b"/>
              <a:pathLst>
                <a:path w="728344">
                  <a:moveTo>
                    <a:pt x="0" y="0"/>
                  </a:moveTo>
                  <a:lnTo>
                    <a:pt x="728133" y="0"/>
                  </a:lnTo>
                </a:path>
              </a:pathLst>
            </a:custGeom>
            <a:ln w="4233">
              <a:solidFill>
                <a:srgbClr val="3F4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42500" y="4826000"/>
            <a:ext cx="584200" cy="2921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195300" y="4508500"/>
            <a:ext cx="2679700" cy="83820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 indent="7620">
              <a:lnSpc>
                <a:spcPts val="5100"/>
              </a:lnSpc>
              <a:spcBef>
                <a:spcPts val="740"/>
              </a:spcBef>
            </a:pPr>
            <a:r>
              <a:rPr dirty="0">
                <a:latin typeface="Cambria"/>
                <a:cs typeface="Cambria"/>
              </a:rPr>
              <a:t>Le</a:t>
            </a:r>
            <a:r>
              <a:rPr spc="-70" dirty="0">
                <a:latin typeface="Cambria"/>
                <a:cs typeface="Cambria"/>
              </a:rPr>
              <a:t> </a:t>
            </a:r>
            <a:r>
              <a:rPr spc="55" dirty="0">
                <a:latin typeface="Cambria"/>
                <a:cs typeface="Cambria"/>
              </a:rPr>
              <a:t>Défi</a:t>
            </a:r>
            <a:r>
              <a:rPr spc="-9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Existentiel</a:t>
            </a:r>
            <a:r>
              <a:rPr spc="229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:</a:t>
            </a:r>
            <a:r>
              <a:rPr spc="-12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Comment</a:t>
            </a:r>
            <a:r>
              <a:rPr spc="204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Alimenter</a:t>
            </a:r>
            <a:r>
              <a:rPr spc="11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une</a:t>
            </a:r>
            <a:r>
              <a:rPr spc="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Telle</a:t>
            </a:r>
            <a:r>
              <a:rPr spc="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Vision</a:t>
            </a:r>
            <a:r>
              <a:rPr spc="25" dirty="0">
                <a:latin typeface="Cambria"/>
                <a:cs typeface="Cambria"/>
              </a:rPr>
              <a:t> </a:t>
            </a:r>
            <a:r>
              <a:rPr spc="-20" dirty="0">
                <a:latin typeface="Cambria"/>
                <a:cs typeface="Cambria"/>
              </a:rPr>
              <a:t>avec </a:t>
            </a:r>
            <a:r>
              <a:rPr dirty="0">
                <a:latin typeface="Cambria"/>
                <a:cs typeface="Cambria"/>
              </a:rPr>
              <a:t>des</a:t>
            </a:r>
            <a:r>
              <a:rPr spc="-9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Données</a:t>
            </a:r>
            <a:r>
              <a:rPr spc="16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du</a:t>
            </a:r>
            <a:r>
              <a:rPr spc="-16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Monde</a:t>
            </a:r>
            <a:r>
              <a:rPr spc="10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Réel</a:t>
            </a:r>
            <a:r>
              <a:rPr spc="-60" dirty="0">
                <a:latin typeface="Cambria"/>
                <a:cs typeface="Cambria"/>
              </a:rPr>
              <a:t> </a:t>
            </a:r>
            <a:r>
              <a:rPr spc="145" dirty="0">
                <a:latin typeface="Cambria"/>
                <a:cs typeface="Cambria"/>
              </a:rPr>
              <a:t>?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20990" y="1770591"/>
            <a:ext cx="16491585" cy="81915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3335" marR="5080" indent="-1270">
              <a:lnSpc>
                <a:spcPts val="3000"/>
              </a:lnSpc>
              <a:spcBef>
                <a:spcPts val="405"/>
              </a:spcBef>
            </a:pPr>
            <a:r>
              <a:rPr sz="2700" spc="-160" dirty="0">
                <a:latin typeface="Arial"/>
                <a:cs typeface="Arial"/>
              </a:rPr>
              <a:t>Les</a:t>
            </a:r>
            <a:r>
              <a:rPr sz="2700" spc="-30" dirty="0">
                <a:latin typeface="Arial"/>
                <a:cs typeface="Arial"/>
              </a:rPr>
              <a:t> </a:t>
            </a:r>
            <a:r>
              <a:rPr sz="2700" spc="-165" dirty="0">
                <a:latin typeface="Arial"/>
                <a:cs typeface="Arial"/>
              </a:rPr>
              <a:t>données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spc="-160" dirty="0">
                <a:latin typeface="Arial"/>
                <a:cs typeface="Arial"/>
              </a:rPr>
              <a:t>en</a:t>
            </a:r>
            <a:r>
              <a:rPr sz="2700" spc="-155" dirty="0">
                <a:latin typeface="Arial"/>
                <a:cs typeface="Arial"/>
              </a:rPr>
              <a:t> </a:t>
            </a:r>
            <a:r>
              <a:rPr sz="2700" spc="-105" dirty="0">
                <a:latin typeface="Arial"/>
                <a:cs typeface="Arial"/>
              </a:rPr>
              <a:t>oncologie</a:t>
            </a:r>
            <a:r>
              <a:rPr sz="2700" spc="-80" dirty="0">
                <a:latin typeface="Arial"/>
                <a:cs typeface="Arial"/>
              </a:rPr>
              <a:t> </a:t>
            </a:r>
            <a:r>
              <a:rPr sz="2700" spc="-65" dirty="0">
                <a:latin typeface="Arial"/>
                <a:cs typeface="Arial"/>
              </a:rPr>
              <a:t>sont</a:t>
            </a:r>
            <a:r>
              <a:rPr sz="2700" spc="35" dirty="0">
                <a:latin typeface="Arial"/>
                <a:cs typeface="Arial"/>
              </a:rPr>
              <a:t> </a:t>
            </a:r>
            <a:r>
              <a:rPr sz="2700" spc="-105" dirty="0">
                <a:latin typeface="Arial"/>
                <a:cs typeface="Arial"/>
              </a:rPr>
              <a:t>le</a:t>
            </a:r>
            <a:r>
              <a:rPr sz="2700" spc="-185" dirty="0">
                <a:latin typeface="Arial"/>
                <a:cs typeface="Arial"/>
              </a:rPr>
              <a:t> </a:t>
            </a:r>
            <a:r>
              <a:rPr sz="2700" spc="-80" dirty="0">
                <a:latin typeface="Arial"/>
                <a:cs typeface="Arial"/>
              </a:rPr>
              <a:t>défi</a:t>
            </a:r>
            <a:r>
              <a:rPr sz="2700" spc="-105" dirty="0">
                <a:latin typeface="Arial"/>
                <a:cs typeface="Arial"/>
              </a:rPr>
              <a:t> </a:t>
            </a:r>
            <a:r>
              <a:rPr sz="2700" spc="-114" dirty="0">
                <a:latin typeface="Arial"/>
                <a:cs typeface="Arial"/>
              </a:rPr>
              <a:t>majeur</a:t>
            </a:r>
            <a:r>
              <a:rPr sz="2700" spc="70" dirty="0">
                <a:latin typeface="Arial"/>
                <a:cs typeface="Arial"/>
              </a:rPr>
              <a:t> </a:t>
            </a:r>
            <a:r>
              <a:rPr sz="2700" spc="-140" dirty="0">
                <a:latin typeface="Arial"/>
                <a:cs typeface="Arial"/>
              </a:rPr>
              <a:t>de</a:t>
            </a:r>
            <a:r>
              <a:rPr sz="2700" spc="-180" dirty="0">
                <a:latin typeface="Arial"/>
                <a:cs typeface="Arial"/>
              </a:rPr>
              <a:t> </a:t>
            </a:r>
            <a:r>
              <a:rPr sz="2700" spc="-70" dirty="0">
                <a:latin typeface="Arial"/>
                <a:cs typeface="Arial"/>
              </a:rPr>
              <a:t>l'informatique</a:t>
            </a:r>
            <a:r>
              <a:rPr sz="2700" spc="-170" dirty="0">
                <a:latin typeface="Arial"/>
                <a:cs typeface="Arial"/>
              </a:rPr>
              <a:t> </a:t>
            </a:r>
            <a:r>
              <a:rPr sz="2700" spc="-110" dirty="0">
                <a:latin typeface="Arial"/>
                <a:cs typeface="Arial"/>
              </a:rPr>
              <a:t>biomédicale.</a:t>
            </a:r>
            <a:r>
              <a:rPr sz="2700" spc="75" dirty="0">
                <a:latin typeface="Arial"/>
                <a:cs typeface="Arial"/>
              </a:rPr>
              <a:t> </a:t>
            </a:r>
            <a:r>
              <a:rPr sz="2700" spc="-160" dirty="0">
                <a:latin typeface="Arial"/>
                <a:cs typeface="Arial"/>
              </a:rPr>
              <a:t>Elles</a:t>
            </a:r>
            <a:r>
              <a:rPr sz="2700" spc="20" dirty="0">
                <a:latin typeface="Arial"/>
                <a:cs typeface="Arial"/>
              </a:rPr>
              <a:t> </a:t>
            </a:r>
            <a:r>
              <a:rPr sz="2700" spc="-105" dirty="0">
                <a:latin typeface="Arial"/>
                <a:cs typeface="Arial"/>
              </a:rPr>
              <a:t>sont</a:t>
            </a:r>
            <a:r>
              <a:rPr sz="2700" spc="-65" dirty="0">
                <a:latin typeface="Arial"/>
                <a:cs typeface="Arial"/>
              </a:rPr>
              <a:t> </a:t>
            </a:r>
            <a:r>
              <a:rPr sz="2700" spc="-100" dirty="0">
                <a:latin typeface="Arial"/>
                <a:cs typeface="Arial"/>
              </a:rPr>
              <a:t>intrinsèquement</a:t>
            </a:r>
            <a:r>
              <a:rPr sz="2700" spc="-60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incomplètes, </a:t>
            </a:r>
            <a:r>
              <a:rPr sz="2700" spc="-130" dirty="0">
                <a:latin typeface="Arial"/>
                <a:cs typeface="Arial"/>
              </a:rPr>
              <a:t>désorganisées</a:t>
            </a:r>
            <a:r>
              <a:rPr sz="2700" spc="-60" dirty="0">
                <a:latin typeface="Arial"/>
                <a:cs typeface="Arial"/>
              </a:rPr>
              <a:t> </a:t>
            </a:r>
            <a:r>
              <a:rPr sz="2700" spc="-95" dirty="0">
                <a:latin typeface="Arial"/>
                <a:cs typeface="Arial"/>
              </a:rPr>
              <a:t>et</a:t>
            </a:r>
            <a:r>
              <a:rPr sz="2700" spc="-105" dirty="0">
                <a:latin typeface="Arial"/>
                <a:cs typeface="Arial"/>
              </a:rPr>
              <a:t> </a:t>
            </a:r>
            <a:r>
              <a:rPr sz="2700" spc="-135" dirty="0">
                <a:latin typeface="Arial"/>
                <a:cs typeface="Arial"/>
              </a:rPr>
              <a:t>hétérogènes.</a:t>
            </a:r>
            <a:r>
              <a:rPr sz="2700" spc="-50" dirty="0">
                <a:latin typeface="Arial"/>
                <a:cs typeface="Arial"/>
              </a:rPr>
              <a:t> </a:t>
            </a:r>
            <a:r>
              <a:rPr sz="2700" spc="-250" dirty="0">
                <a:latin typeface="Arial"/>
                <a:cs typeface="Arial"/>
              </a:rPr>
              <a:t>Un</a:t>
            </a:r>
            <a:r>
              <a:rPr sz="2700" spc="-90" dirty="0">
                <a:latin typeface="Arial"/>
                <a:cs typeface="Arial"/>
              </a:rPr>
              <a:t> </a:t>
            </a:r>
            <a:r>
              <a:rPr sz="2700" spc="-160" dirty="0">
                <a:latin typeface="Arial"/>
                <a:cs typeface="Arial"/>
              </a:rPr>
              <a:t>réseau</a:t>
            </a:r>
            <a:r>
              <a:rPr sz="2700" spc="10" dirty="0">
                <a:latin typeface="Arial"/>
                <a:cs typeface="Arial"/>
              </a:rPr>
              <a:t> </a:t>
            </a:r>
            <a:r>
              <a:rPr sz="2700" spc="-125" dirty="0">
                <a:latin typeface="Arial"/>
                <a:cs typeface="Arial"/>
              </a:rPr>
              <a:t>décisionnel,</a:t>
            </a:r>
            <a:r>
              <a:rPr sz="2700" spc="-30" dirty="0">
                <a:latin typeface="Arial"/>
                <a:cs typeface="Arial"/>
              </a:rPr>
              <a:t> </a:t>
            </a:r>
            <a:r>
              <a:rPr sz="2700" spc="-125" dirty="0">
                <a:latin typeface="Arial"/>
                <a:cs typeface="Arial"/>
              </a:rPr>
              <a:t>aussi</a:t>
            </a:r>
            <a:r>
              <a:rPr sz="2700" spc="-85" dirty="0">
                <a:latin typeface="Arial"/>
                <a:cs typeface="Arial"/>
              </a:rPr>
              <a:t> puissant</a:t>
            </a:r>
            <a:r>
              <a:rPr sz="2700" spc="145" dirty="0">
                <a:latin typeface="Arial"/>
                <a:cs typeface="Arial"/>
              </a:rPr>
              <a:t> </a:t>
            </a:r>
            <a:r>
              <a:rPr sz="2700" spc="-105" dirty="0">
                <a:latin typeface="Arial"/>
                <a:cs typeface="Arial"/>
              </a:rPr>
              <a:t>soit-</a:t>
            </a:r>
            <a:r>
              <a:rPr sz="2700" spc="-70" dirty="0">
                <a:latin typeface="Arial"/>
                <a:cs typeface="Arial"/>
              </a:rPr>
              <a:t>il,</a:t>
            </a:r>
            <a:r>
              <a:rPr sz="2700" spc="-190" dirty="0">
                <a:latin typeface="Arial"/>
                <a:cs typeface="Arial"/>
              </a:rPr>
              <a:t> </a:t>
            </a:r>
            <a:r>
              <a:rPr sz="2700" spc="-85" dirty="0">
                <a:latin typeface="Arial"/>
                <a:cs typeface="Arial"/>
              </a:rPr>
              <a:t>est</a:t>
            </a:r>
            <a:r>
              <a:rPr sz="2700" spc="-105" dirty="0">
                <a:latin typeface="Arial"/>
                <a:cs typeface="Arial"/>
              </a:rPr>
              <a:t> </a:t>
            </a:r>
            <a:r>
              <a:rPr sz="2700" spc="-70" dirty="0">
                <a:latin typeface="Arial"/>
                <a:cs typeface="Arial"/>
              </a:rPr>
              <a:t>inutile</a:t>
            </a:r>
            <a:r>
              <a:rPr sz="2700" spc="-114" dirty="0">
                <a:latin typeface="Arial"/>
                <a:cs typeface="Arial"/>
              </a:rPr>
              <a:t> </a:t>
            </a:r>
            <a:r>
              <a:rPr sz="2700" spc="-150" dirty="0">
                <a:latin typeface="Arial"/>
                <a:cs typeface="Arial"/>
              </a:rPr>
              <a:t>sans</a:t>
            </a:r>
            <a:r>
              <a:rPr sz="2700" spc="-90" dirty="0">
                <a:latin typeface="Arial"/>
                <a:cs typeface="Arial"/>
              </a:rPr>
              <a:t> </a:t>
            </a:r>
            <a:r>
              <a:rPr sz="2700" spc="-130" dirty="0">
                <a:latin typeface="Arial"/>
                <a:cs typeface="Arial"/>
              </a:rPr>
              <a:t>un</a:t>
            </a:r>
            <a:r>
              <a:rPr sz="2700" spc="-75" dirty="0">
                <a:latin typeface="Arial"/>
                <a:cs typeface="Arial"/>
              </a:rPr>
              <a:t> </a:t>
            </a:r>
            <a:r>
              <a:rPr sz="2700" spc="-55" dirty="0">
                <a:latin typeface="Arial"/>
                <a:cs typeface="Arial"/>
              </a:rPr>
              <a:t>flux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spc="-204" dirty="0">
                <a:latin typeface="Arial"/>
                <a:cs typeface="Arial"/>
              </a:rPr>
              <a:t>de</a:t>
            </a:r>
            <a:r>
              <a:rPr sz="2700" spc="-75" dirty="0">
                <a:latin typeface="Arial"/>
                <a:cs typeface="Arial"/>
              </a:rPr>
              <a:t> </a:t>
            </a:r>
            <a:r>
              <a:rPr sz="2700" spc="-150" dirty="0">
                <a:latin typeface="Arial"/>
                <a:cs typeface="Arial"/>
              </a:rPr>
              <a:t>données</a:t>
            </a:r>
            <a:r>
              <a:rPr sz="2700" spc="40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fiables.</a:t>
            </a:r>
            <a:endParaRPr sz="2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86222" y="4716638"/>
            <a:ext cx="17716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-50" dirty="0">
                <a:solidFill>
                  <a:srgbClr val="696969"/>
                </a:solidFill>
                <a:latin typeface="Consolas"/>
                <a:cs typeface="Consolas"/>
              </a:rPr>
              <a:t>•</a:t>
            </a:r>
            <a:endParaRPr sz="235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67505" y="4716638"/>
            <a:ext cx="71056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-20" dirty="0">
                <a:solidFill>
                  <a:srgbClr val="525252"/>
                </a:solidFill>
                <a:latin typeface="Consolas"/>
                <a:cs typeface="Consolas"/>
              </a:rPr>
              <a:t>TTGT</a:t>
            </a:r>
            <a:endParaRPr sz="235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922999" y="5938661"/>
            <a:ext cx="1578610" cy="808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100" spc="-605" dirty="0">
                <a:solidFill>
                  <a:srgbClr val="344860"/>
                </a:solidFill>
                <a:latin typeface="Arial"/>
                <a:cs typeface="Arial"/>
              </a:rPr>
              <a:t>ACDN</a:t>
            </a:r>
            <a:endParaRPr sz="5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0741" y="7153153"/>
            <a:ext cx="10570845" cy="240411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2150" spc="-110" dirty="0">
                <a:latin typeface="Arial"/>
                <a:cs typeface="Arial"/>
              </a:rPr>
              <a:t>Les</a:t>
            </a:r>
            <a:r>
              <a:rPr sz="2150" spc="-40" dirty="0">
                <a:latin typeface="Arial"/>
                <a:cs typeface="Arial"/>
              </a:rPr>
              <a:t> </a:t>
            </a:r>
            <a:r>
              <a:rPr sz="2150" spc="-160" dirty="0">
                <a:latin typeface="Arial"/>
                <a:cs typeface="Arial"/>
              </a:rPr>
              <a:t>Causes</a:t>
            </a:r>
            <a:r>
              <a:rPr sz="2150" spc="10" dirty="0">
                <a:latin typeface="Arial"/>
                <a:cs typeface="Arial"/>
              </a:rPr>
              <a:t> </a:t>
            </a:r>
            <a:r>
              <a:rPr sz="2150" spc="-100" dirty="0">
                <a:latin typeface="Arial"/>
                <a:cs typeface="Arial"/>
              </a:rPr>
              <a:t>Fondamentales</a:t>
            </a:r>
            <a:r>
              <a:rPr sz="2150" spc="180" dirty="0">
                <a:latin typeface="Arial"/>
                <a:cs typeface="Arial"/>
              </a:rPr>
              <a:t> </a:t>
            </a:r>
            <a:r>
              <a:rPr sz="2150" spc="-90" dirty="0">
                <a:latin typeface="Arial"/>
                <a:cs typeface="Arial"/>
              </a:rPr>
              <a:t>des</a:t>
            </a:r>
            <a:r>
              <a:rPr sz="2150" spc="-155" dirty="0">
                <a:latin typeface="Arial"/>
                <a:cs typeface="Arial"/>
              </a:rPr>
              <a:t> </a:t>
            </a:r>
            <a:r>
              <a:rPr sz="2150" spc="-145" dirty="0">
                <a:latin typeface="Arial"/>
                <a:cs typeface="Arial"/>
              </a:rPr>
              <a:t>Données</a:t>
            </a:r>
            <a:r>
              <a:rPr sz="2150" spc="-50" dirty="0">
                <a:latin typeface="Arial"/>
                <a:cs typeface="Arial"/>
              </a:rPr>
              <a:t> </a:t>
            </a:r>
            <a:r>
              <a:rPr sz="2150" spc="-95" dirty="0">
                <a:latin typeface="Arial"/>
                <a:cs typeface="Arial"/>
              </a:rPr>
              <a:t>Manquantes</a:t>
            </a:r>
            <a:r>
              <a:rPr sz="2150" spc="5" dirty="0">
                <a:latin typeface="Arial"/>
                <a:cs typeface="Arial"/>
              </a:rPr>
              <a:t> </a:t>
            </a:r>
            <a:r>
              <a:rPr sz="2150" spc="-65" dirty="0">
                <a:latin typeface="Arial"/>
                <a:cs typeface="Arial"/>
              </a:rPr>
              <a:t>(selon</a:t>
            </a:r>
            <a:r>
              <a:rPr sz="2150" spc="-85" dirty="0">
                <a:latin typeface="Arial"/>
                <a:cs typeface="Arial"/>
              </a:rPr>
              <a:t> </a:t>
            </a:r>
            <a:r>
              <a:rPr sz="2150" spc="-65" dirty="0">
                <a:latin typeface="Arial"/>
                <a:cs typeface="Arial"/>
              </a:rPr>
              <a:t>les</a:t>
            </a:r>
            <a:r>
              <a:rPr sz="2150" spc="-90" dirty="0">
                <a:latin typeface="Arial"/>
                <a:cs typeface="Arial"/>
              </a:rPr>
              <a:t> </a:t>
            </a:r>
            <a:r>
              <a:rPr sz="2150" spc="-75" dirty="0">
                <a:latin typeface="Arial"/>
                <a:cs typeface="Arial"/>
              </a:rPr>
              <a:t>sources</a:t>
            </a:r>
            <a:r>
              <a:rPr sz="2150" spc="-25" dirty="0">
                <a:latin typeface="Arial"/>
                <a:cs typeface="Arial"/>
              </a:rPr>
              <a:t> </a:t>
            </a:r>
            <a:r>
              <a:rPr sz="2150" spc="-10" dirty="0">
                <a:latin typeface="Arial"/>
                <a:cs typeface="Arial"/>
              </a:rPr>
              <a:t>documentées):</a:t>
            </a:r>
            <a:endParaRPr sz="2150">
              <a:latin typeface="Arial"/>
              <a:cs typeface="Arial"/>
            </a:endParaRPr>
          </a:p>
          <a:p>
            <a:pPr marL="415925" indent="-206375">
              <a:lnSpc>
                <a:spcPts val="2300"/>
              </a:lnSpc>
              <a:spcBef>
                <a:spcPts val="270"/>
              </a:spcBef>
              <a:buChar char="•"/>
              <a:tabLst>
                <a:tab pos="415925" algn="l"/>
              </a:tabLst>
            </a:pPr>
            <a:r>
              <a:rPr sz="2000" spc="-95" dirty="0">
                <a:latin typeface="Arial"/>
                <a:cs typeface="Arial"/>
              </a:rPr>
              <a:t>Hétérogénéité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35" dirty="0">
                <a:latin typeface="Arial"/>
                <a:cs typeface="Arial"/>
              </a:rPr>
              <a:t>des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Protocoles</a:t>
            </a:r>
            <a:r>
              <a:rPr sz="2000" spc="-1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Disparités</a:t>
            </a:r>
            <a:r>
              <a:rPr sz="2000" spc="114" dirty="0">
                <a:latin typeface="Arial"/>
                <a:cs typeface="Arial"/>
              </a:rPr>
              <a:t> </a:t>
            </a:r>
            <a:r>
              <a:rPr sz="2000" spc="-140" dirty="0">
                <a:latin typeface="Arial"/>
                <a:cs typeface="Arial"/>
              </a:rPr>
              <a:t>entre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les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institutions.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i="1" spc="-254" dirty="0">
                <a:latin typeface="Arial"/>
                <a:cs typeface="Arial"/>
              </a:rPr>
              <a:t>(TCGA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Research</a:t>
            </a:r>
            <a:r>
              <a:rPr sz="2000" spc="6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/\/etn'ork,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i="1" spc="-60" dirty="0">
                <a:latin typeface="Arial"/>
                <a:cs typeface="Arial"/>
              </a:rPr>
              <a:t>cell,</a:t>
            </a:r>
            <a:r>
              <a:rPr sz="2000" i="1" spc="-1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2023)</a:t>
            </a:r>
            <a:endParaRPr sz="2000">
              <a:latin typeface="Arial"/>
              <a:cs typeface="Arial"/>
            </a:endParaRPr>
          </a:p>
          <a:p>
            <a:pPr marL="417195" marR="234950" indent="-195580">
              <a:lnSpc>
                <a:spcPts val="2200"/>
              </a:lnSpc>
              <a:spcBef>
                <a:spcPts val="140"/>
              </a:spcBef>
              <a:buChar char="•"/>
              <a:tabLst>
                <a:tab pos="430530" algn="l"/>
              </a:tabLst>
            </a:pPr>
            <a:r>
              <a:rPr sz="2000" spc="-110" dirty="0">
                <a:latin typeface="Arial"/>
                <a:cs typeface="Arial"/>
              </a:rPr>
              <a:t>Manque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de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Données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Longitudinales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Moins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de</a:t>
            </a:r>
            <a:r>
              <a:rPr sz="2000" spc="-204" dirty="0">
                <a:latin typeface="Arial"/>
                <a:cs typeface="Arial"/>
              </a:rPr>
              <a:t> </a:t>
            </a:r>
            <a:r>
              <a:rPr sz="2000" spc="-170" dirty="0">
                <a:latin typeface="Arial"/>
                <a:cs typeface="Arial"/>
              </a:rPr>
              <a:t>12°4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des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ensembles</a:t>
            </a:r>
            <a:r>
              <a:rPr sz="2000" spc="7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de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données</a:t>
            </a:r>
            <a:r>
              <a:rPr sz="2000" spc="3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sur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les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tumeurs 	</a:t>
            </a:r>
            <a:r>
              <a:rPr sz="2000" spc="-85" dirty="0">
                <a:latin typeface="Arial"/>
                <a:cs typeface="Arial"/>
              </a:rPr>
              <a:t>solides</a:t>
            </a:r>
            <a:r>
              <a:rPr sz="2000" spc="-55" dirty="0">
                <a:latin typeface="Arial"/>
                <a:cs typeface="Arial"/>
              </a:rPr>
              <a:t> sont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complets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au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fil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du</a:t>
            </a:r>
            <a:r>
              <a:rPr sz="2000" spc="-18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temps.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(Uk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i="1" spc="-135" dirty="0">
                <a:latin typeface="Arial"/>
                <a:cs typeface="Arial"/>
              </a:rPr>
              <a:t>Biobank</a:t>
            </a:r>
            <a:r>
              <a:rPr sz="2000" i="1" spc="45" dirty="0">
                <a:latin typeface="Arial"/>
                <a:cs typeface="Arial"/>
              </a:rPr>
              <a:t> </a:t>
            </a:r>
            <a:r>
              <a:rPr sz="2000" i="1" spc="-140" dirty="0">
                <a:latin typeface="Arial"/>
                <a:cs typeface="Arial"/>
              </a:rPr>
              <a:t>Oncology,</a:t>
            </a:r>
            <a:r>
              <a:rPr sz="2000" i="1" spc="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2024)</a:t>
            </a:r>
            <a:endParaRPr sz="2000">
              <a:latin typeface="Arial"/>
              <a:cs typeface="Arial"/>
            </a:endParaRPr>
          </a:p>
          <a:p>
            <a:pPr marL="415925" marR="987425" indent="-194310">
              <a:lnSpc>
                <a:spcPts val="2200"/>
              </a:lnSpc>
              <a:buChar char="•"/>
              <a:tabLst>
                <a:tab pos="422275" algn="l"/>
              </a:tabLst>
            </a:pPr>
            <a:r>
              <a:rPr sz="2000" spc="-105" dirty="0">
                <a:latin typeface="Arial"/>
                <a:cs typeface="Arial"/>
              </a:rPr>
              <a:t>H“elérogénéité</a:t>
            </a:r>
            <a:r>
              <a:rPr sz="2000" spc="-26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Intra-</a:t>
            </a:r>
            <a:r>
              <a:rPr sz="2000" spc="-50" dirty="0">
                <a:latin typeface="Arial"/>
                <a:cs typeface="Arial"/>
              </a:rPr>
              <a:t>tumorale</a:t>
            </a:r>
            <a:r>
              <a:rPr sz="2000" spc="-1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200" dirty="0">
                <a:latin typeface="Arial"/>
                <a:cs typeface="Arial"/>
              </a:rPr>
              <a:t>La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diversité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moléculaire</a:t>
            </a:r>
            <a:r>
              <a:rPr sz="2000" spc="150" dirty="0">
                <a:latin typeface="Arial"/>
                <a:cs typeface="Arial"/>
              </a:rPr>
              <a:t> </a:t>
            </a:r>
            <a:r>
              <a:rPr sz="2000" spc="-150" dirty="0">
                <a:latin typeface="Arial"/>
                <a:cs typeface="Arial"/>
              </a:rPr>
              <a:t>au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sein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d'une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35" dirty="0">
                <a:latin typeface="Arial"/>
                <a:cs typeface="Arial"/>
              </a:rPr>
              <a:t>même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tumeur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rend 	</a:t>
            </a:r>
            <a:r>
              <a:rPr sz="2000" spc="-80" dirty="0">
                <a:latin typeface="Arial"/>
                <a:cs typeface="Arial"/>
              </a:rPr>
              <a:t>l'échantillonnage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incomplet</a:t>
            </a:r>
            <a:r>
              <a:rPr sz="2000" spc="17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par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nature.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(Marusyk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ef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a/.,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35" dirty="0">
                <a:latin typeface="Arial"/>
                <a:cs typeface="Arial"/>
              </a:rPr>
              <a:t>/\/af.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Rer.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60" dirty="0">
                <a:latin typeface="Arial"/>
                <a:cs typeface="Arial"/>
              </a:rPr>
              <a:t>Cancer,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2023)</a:t>
            </a:r>
            <a:endParaRPr sz="2000">
              <a:latin typeface="Arial"/>
              <a:cs typeface="Arial"/>
            </a:endParaRPr>
          </a:p>
          <a:p>
            <a:pPr marL="419734" marR="304800" indent="-210820">
              <a:lnSpc>
                <a:spcPts val="2200"/>
              </a:lnSpc>
              <a:buChar char="•"/>
              <a:tabLst>
                <a:tab pos="422275" algn="l"/>
              </a:tabLst>
            </a:pPr>
            <a:r>
              <a:rPr sz="2000" spc="-55" dirty="0">
                <a:latin typeface="Arial"/>
                <a:cs typeface="Arial"/>
              </a:rPr>
              <a:t>Limites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des</a:t>
            </a:r>
            <a:r>
              <a:rPr sz="2000" spc="-95" dirty="0">
                <a:latin typeface="Arial"/>
                <a:cs typeface="Arial"/>
              </a:rPr>
              <a:t> Méthodes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Actuelles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80" dirty="0">
                <a:latin typeface="Arial"/>
                <a:cs typeface="Arial"/>
              </a:rPr>
              <a:t>Les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approches</a:t>
            </a:r>
            <a:r>
              <a:rPr sz="2000" spc="7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statistiques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spc="-170" dirty="0">
                <a:latin typeface="Arial"/>
                <a:cs typeface="Arial"/>
              </a:rPr>
              <a:t>(MICE,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00" dirty="0">
                <a:latin typeface="Arial"/>
                <a:cs typeface="Arial"/>
              </a:rPr>
              <a:t>GAIN)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ne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respectent</a:t>
            </a:r>
            <a:r>
              <a:rPr sz="2000" spc="85" dirty="0">
                <a:latin typeface="Arial"/>
                <a:cs typeface="Arial"/>
              </a:rPr>
              <a:t> </a:t>
            </a:r>
            <a:r>
              <a:rPr sz="2000" spc="-145" dirty="0">
                <a:latin typeface="Arial"/>
                <a:cs typeface="Arial"/>
              </a:rPr>
              <a:t>pas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les 	</a:t>
            </a:r>
            <a:r>
              <a:rPr sz="2000" spc="-55" dirty="0">
                <a:latin typeface="Arial"/>
                <a:cs typeface="Arial"/>
              </a:rPr>
              <a:t>lois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biophysiques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sous-</a:t>
            </a:r>
            <a:r>
              <a:rPr sz="2000" spc="-80" dirty="0">
                <a:latin typeface="Arial"/>
                <a:cs typeface="Arial"/>
              </a:rPr>
              <a:t>jacentes</a:t>
            </a:r>
            <a:r>
              <a:rPr sz="2000" spc="120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et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peuvent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générer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135" dirty="0">
                <a:latin typeface="Arial"/>
                <a:cs typeface="Arial"/>
              </a:rPr>
              <a:t>des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artefacts.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379517" y="7485239"/>
            <a:ext cx="5956935" cy="218694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 marR="383540" indent="197485" algn="r">
              <a:lnSpc>
                <a:spcPts val="3600"/>
              </a:lnSpc>
              <a:spcBef>
                <a:spcPts val="830"/>
              </a:spcBef>
            </a:pPr>
            <a:r>
              <a:rPr sz="3600" dirty="0">
                <a:latin typeface="Arial Narrow"/>
                <a:cs typeface="Arial Narrow"/>
              </a:rPr>
              <a:t>Comment</a:t>
            </a:r>
            <a:r>
              <a:rPr sz="3600" spc="140" dirty="0">
                <a:latin typeface="Arial Narrow"/>
                <a:cs typeface="Arial Narrow"/>
              </a:rPr>
              <a:t> </a:t>
            </a:r>
            <a:r>
              <a:rPr sz="3600" spc="-30" dirty="0">
                <a:latin typeface="Arial Narrow"/>
                <a:cs typeface="Arial Narrow"/>
              </a:rPr>
              <a:t>pouvons-</a:t>
            </a:r>
            <a:r>
              <a:rPr sz="3600" dirty="0">
                <a:latin typeface="Arial Narrow"/>
                <a:cs typeface="Arial Narrow"/>
              </a:rPr>
              <a:t>nous</a:t>
            </a:r>
            <a:r>
              <a:rPr sz="3600" spc="185" dirty="0">
                <a:latin typeface="Arial Narrow"/>
                <a:cs typeface="Arial Narrow"/>
              </a:rPr>
              <a:t> </a:t>
            </a:r>
            <a:r>
              <a:rPr sz="3600" spc="-10" dirty="0">
                <a:latin typeface="Arial Narrow"/>
                <a:cs typeface="Arial Narrow"/>
              </a:rPr>
              <a:t>passer </a:t>
            </a:r>
            <a:r>
              <a:rPr sz="3600" dirty="0">
                <a:latin typeface="Arial Narrow"/>
                <a:cs typeface="Arial Narrow"/>
              </a:rPr>
              <a:t>de</a:t>
            </a:r>
            <a:r>
              <a:rPr sz="3600" spc="30" dirty="0">
                <a:latin typeface="Arial Narrow"/>
                <a:cs typeface="Arial Narrow"/>
              </a:rPr>
              <a:t> </a:t>
            </a:r>
            <a:r>
              <a:rPr sz="3600" dirty="0">
                <a:latin typeface="Arial Narrow"/>
                <a:cs typeface="Arial Narrow"/>
              </a:rPr>
              <a:t>données</a:t>
            </a:r>
            <a:r>
              <a:rPr sz="3600" spc="260" dirty="0">
                <a:latin typeface="Arial Narrow"/>
                <a:cs typeface="Arial Narrow"/>
              </a:rPr>
              <a:t> </a:t>
            </a:r>
            <a:r>
              <a:rPr sz="3600" dirty="0">
                <a:latin typeface="Arial Narrow"/>
                <a:cs typeface="Arial Narrow"/>
              </a:rPr>
              <a:t>brutes,</a:t>
            </a:r>
            <a:r>
              <a:rPr sz="3600" spc="25" dirty="0">
                <a:latin typeface="Arial Narrow"/>
                <a:cs typeface="Arial Narrow"/>
              </a:rPr>
              <a:t> </a:t>
            </a:r>
            <a:r>
              <a:rPr sz="3600" spc="-10" dirty="0">
                <a:latin typeface="Arial Narrow"/>
                <a:cs typeface="Arial Narrow"/>
              </a:rPr>
              <a:t>fragmentées </a:t>
            </a:r>
            <a:r>
              <a:rPr sz="3550" dirty="0">
                <a:latin typeface="Arial Narrow"/>
                <a:cs typeface="Arial Narrow"/>
              </a:rPr>
              <a:t>et</a:t>
            </a:r>
            <a:r>
              <a:rPr sz="3550" spc="75" dirty="0">
                <a:latin typeface="Arial Narrow"/>
                <a:cs typeface="Arial Narrow"/>
              </a:rPr>
              <a:t> </a:t>
            </a:r>
            <a:r>
              <a:rPr sz="3550" dirty="0">
                <a:latin typeface="Arial Narrow"/>
                <a:cs typeface="Arial Narrow"/>
              </a:rPr>
              <a:t>bruitées</a:t>
            </a:r>
            <a:r>
              <a:rPr sz="3550" spc="190" dirty="0">
                <a:latin typeface="Arial Narrow"/>
                <a:cs typeface="Arial Narrow"/>
              </a:rPr>
              <a:t> </a:t>
            </a:r>
            <a:r>
              <a:rPr sz="3550" dirty="0">
                <a:latin typeface="Arial Narrow"/>
                <a:cs typeface="Arial Narrow"/>
              </a:rPr>
              <a:t>à</a:t>
            </a:r>
            <a:r>
              <a:rPr sz="3550" spc="65" dirty="0">
                <a:latin typeface="Arial Narrow"/>
                <a:cs typeface="Arial Narrow"/>
              </a:rPr>
              <a:t> </a:t>
            </a:r>
            <a:r>
              <a:rPr sz="3550" dirty="0">
                <a:latin typeface="Arial Narrow"/>
                <a:cs typeface="Arial Narrow"/>
              </a:rPr>
              <a:t>une</a:t>
            </a:r>
            <a:r>
              <a:rPr sz="3550" spc="-20" dirty="0">
                <a:latin typeface="Arial Narrow"/>
                <a:cs typeface="Arial Narrow"/>
              </a:rPr>
              <a:t> </a:t>
            </a:r>
            <a:r>
              <a:rPr sz="3550" spc="80" dirty="0">
                <a:latin typeface="Arial Narrow"/>
                <a:cs typeface="Arial Narrow"/>
              </a:rPr>
              <a:t>intelligence </a:t>
            </a:r>
            <a:r>
              <a:rPr sz="3650" spc="70" dirty="0">
                <a:latin typeface="Arial Narrow"/>
                <a:cs typeface="Arial Narrow"/>
              </a:rPr>
              <a:t>clinique</a:t>
            </a:r>
            <a:r>
              <a:rPr sz="3650" spc="220" dirty="0">
                <a:latin typeface="Arial Narrow"/>
                <a:cs typeface="Arial Narrow"/>
              </a:rPr>
              <a:t> </a:t>
            </a:r>
            <a:r>
              <a:rPr sz="3650" dirty="0">
                <a:latin typeface="Arial Narrow"/>
                <a:cs typeface="Arial Narrow"/>
              </a:rPr>
              <a:t>exploitable</a:t>
            </a:r>
            <a:r>
              <a:rPr sz="3650" spc="245" dirty="0">
                <a:latin typeface="Arial Narrow"/>
                <a:cs typeface="Arial Narrow"/>
              </a:rPr>
              <a:t> </a:t>
            </a:r>
            <a:r>
              <a:rPr sz="3650" spc="70" dirty="0">
                <a:latin typeface="Arial Narrow"/>
                <a:cs typeface="Arial Narrow"/>
              </a:rPr>
              <a:t>et</a:t>
            </a:r>
            <a:r>
              <a:rPr sz="3650" spc="135" dirty="0">
                <a:latin typeface="Arial Narrow"/>
                <a:cs typeface="Arial Narrow"/>
              </a:rPr>
              <a:t> </a:t>
            </a:r>
            <a:r>
              <a:rPr sz="3650" spc="145" dirty="0">
                <a:latin typeface="Arial Narrow"/>
                <a:cs typeface="Arial Narrow"/>
              </a:rPr>
              <a:t>fiable?</a:t>
            </a:r>
            <a:endParaRPr sz="3650">
              <a:latin typeface="Arial Narrow"/>
              <a:cs typeface="Arial Narrow"/>
            </a:endParaRPr>
          </a:p>
          <a:p>
            <a:pPr marR="5080" algn="r">
              <a:lnSpc>
                <a:spcPct val="100000"/>
              </a:lnSpc>
              <a:spcBef>
                <a:spcPts val="80"/>
              </a:spcBef>
            </a:pPr>
            <a:r>
              <a:rPr sz="1500" spc="160" dirty="0">
                <a:latin typeface="Arial"/>
                <a:cs typeface="Arial"/>
              </a:rPr>
              <a:t>G</a:t>
            </a:r>
            <a:r>
              <a:rPr sz="1500" spc="114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NotebookLM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5500" y="2882900"/>
            <a:ext cx="13627100" cy="56134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9157" y="468136"/>
            <a:ext cx="1418336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1819255" algn="l"/>
              </a:tabLst>
            </a:pPr>
            <a:r>
              <a:rPr sz="4500" spc="-20" dirty="0"/>
              <a:t>Solution</a:t>
            </a:r>
            <a:r>
              <a:rPr sz="4500" spc="-265" dirty="0"/>
              <a:t> </a:t>
            </a:r>
            <a:r>
              <a:rPr sz="4500" spc="-30" dirty="0"/>
              <a:t>1</a:t>
            </a:r>
            <a:r>
              <a:rPr sz="4500" spc="-525" dirty="0"/>
              <a:t> </a:t>
            </a:r>
            <a:r>
              <a:rPr sz="4500" dirty="0"/>
              <a:t>:</a:t>
            </a:r>
            <a:r>
              <a:rPr sz="4500" spc="-275" dirty="0"/>
              <a:t> </a:t>
            </a:r>
            <a:r>
              <a:rPr sz="4500" dirty="0"/>
              <a:t>Le</a:t>
            </a:r>
            <a:r>
              <a:rPr sz="4500" spc="75" dirty="0"/>
              <a:t> </a:t>
            </a:r>
            <a:r>
              <a:rPr sz="4500" spc="-55" dirty="0"/>
              <a:t>Noyau</a:t>
            </a:r>
            <a:r>
              <a:rPr sz="4500" spc="15" dirty="0"/>
              <a:t> </a:t>
            </a:r>
            <a:r>
              <a:rPr sz="4500" spc="125" dirty="0"/>
              <a:t>de</a:t>
            </a:r>
            <a:r>
              <a:rPr sz="4500" spc="-215" dirty="0"/>
              <a:t> </a:t>
            </a:r>
            <a:r>
              <a:rPr sz="4500" dirty="0"/>
              <a:t>Triage</a:t>
            </a:r>
            <a:r>
              <a:rPr sz="4500" spc="-15" dirty="0"/>
              <a:t> </a:t>
            </a:r>
            <a:r>
              <a:rPr sz="4500" dirty="0"/>
              <a:t>et</a:t>
            </a:r>
            <a:r>
              <a:rPr sz="4500" spc="325" dirty="0"/>
              <a:t> </a:t>
            </a:r>
            <a:r>
              <a:rPr sz="4500" spc="125" dirty="0"/>
              <a:t>de</a:t>
            </a:r>
            <a:r>
              <a:rPr sz="4500" spc="-85" dirty="0"/>
              <a:t> </a:t>
            </a:r>
            <a:r>
              <a:rPr sz="4500" spc="-10" dirty="0"/>
              <a:t>Labellisation</a:t>
            </a:r>
            <a:r>
              <a:rPr sz="4500" dirty="0"/>
              <a:t>	</a:t>
            </a:r>
            <a:r>
              <a:rPr sz="4500" spc="-10" dirty="0"/>
              <a:t>Intelligent</a:t>
            </a:r>
            <a:endParaRPr sz="4500"/>
          </a:p>
        </p:txBody>
      </p:sp>
      <p:sp>
        <p:nvSpPr>
          <p:cNvPr id="4" name="object 4"/>
          <p:cNvSpPr txBox="1"/>
          <p:nvPr/>
        </p:nvSpPr>
        <p:spPr>
          <a:xfrm>
            <a:off x="2345477" y="6678083"/>
            <a:ext cx="1142365" cy="736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39700">
              <a:lnSpc>
                <a:spcPct val="141400"/>
              </a:lnSpc>
              <a:spcBef>
                <a:spcPts val="95"/>
              </a:spcBef>
            </a:pPr>
            <a:r>
              <a:rPr sz="1650" spc="-30" dirty="0">
                <a:latin typeface="Arial"/>
                <a:cs typeface="Arial"/>
              </a:rPr>
              <a:t>Pathologie </a:t>
            </a:r>
            <a:r>
              <a:rPr sz="1650" spc="-125" dirty="0">
                <a:latin typeface="Arial"/>
                <a:cs typeface="Arial"/>
              </a:rPr>
              <a:t>Épidêmlologle</a:t>
            </a:r>
            <a:endParaRPr sz="1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1935" y="1296458"/>
            <a:ext cx="14932025" cy="3284854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indent="7620">
              <a:lnSpc>
                <a:spcPct val="91300"/>
              </a:lnSpc>
              <a:spcBef>
                <a:spcPts val="330"/>
              </a:spcBef>
            </a:pPr>
            <a:r>
              <a:rPr sz="2300" spc="-75" dirty="0">
                <a:latin typeface="Arial"/>
                <a:cs typeface="Arial"/>
              </a:rPr>
              <a:t>Avant</a:t>
            </a:r>
            <a:r>
              <a:rPr sz="2300" spc="-85" dirty="0">
                <a:latin typeface="Arial"/>
                <a:cs typeface="Arial"/>
              </a:rPr>
              <a:t> de</a:t>
            </a:r>
            <a:r>
              <a:rPr sz="2300" spc="-80" dirty="0">
                <a:latin typeface="Arial"/>
                <a:cs typeface="Arial"/>
              </a:rPr>
              <a:t> </a:t>
            </a:r>
            <a:r>
              <a:rPr sz="2300" spc="-45" dirty="0">
                <a:latin typeface="Arial"/>
                <a:cs typeface="Arial"/>
              </a:rPr>
              <a:t>combler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-70" dirty="0">
                <a:latin typeface="Arial"/>
                <a:cs typeface="Arial"/>
              </a:rPr>
              <a:t>les</a:t>
            </a:r>
            <a:r>
              <a:rPr sz="2300" spc="-95" dirty="0">
                <a:latin typeface="Arial"/>
                <a:cs typeface="Arial"/>
              </a:rPr>
              <a:t> </a:t>
            </a:r>
            <a:r>
              <a:rPr sz="2300" spc="-65" dirty="0">
                <a:latin typeface="Arial"/>
                <a:cs typeface="Arial"/>
              </a:rPr>
              <a:t>lacunes,</a:t>
            </a:r>
            <a:r>
              <a:rPr sz="2300" spc="-95" dirty="0">
                <a:latin typeface="Arial"/>
                <a:cs typeface="Arial"/>
              </a:rPr>
              <a:t> </a:t>
            </a:r>
            <a:r>
              <a:rPr sz="2300" spc="-75" dirty="0">
                <a:latin typeface="Arial"/>
                <a:cs typeface="Arial"/>
              </a:rPr>
              <a:t>nous</a:t>
            </a:r>
            <a:r>
              <a:rPr sz="2300" spc="-55" dirty="0">
                <a:latin typeface="Arial"/>
                <a:cs typeface="Arial"/>
              </a:rPr>
              <a:t> </a:t>
            </a:r>
            <a:r>
              <a:rPr sz="2300" spc="-75" dirty="0">
                <a:latin typeface="Arial"/>
                <a:cs typeface="Arial"/>
              </a:rPr>
              <a:t>devons</a:t>
            </a:r>
            <a:r>
              <a:rPr sz="2300" spc="10" dirty="0">
                <a:latin typeface="Arial"/>
                <a:cs typeface="Arial"/>
              </a:rPr>
              <a:t> </a:t>
            </a:r>
            <a:r>
              <a:rPr sz="2300" spc="-65" dirty="0">
                <a:latin typeface="Arial"/>
                <a:cs typeface="Arial"/>
              </a:rPr>
              <a:t>organiser</a:t>
            </a:r>
            <a:r>
              <a:rPr sz="2300" spc="-60" dirty="0">
                <a:latin typeface="Arial"/>
                <a:cs typeface="Arial"/>
              </a:rPr>
              <a:t> </a:t>
            </a:r>
            <a:r>
              <a:rPr sz="2300" spc="-40" dirty="0">
                <a:latin typeface="Arial"/>
                <a:cs typeface="Arial"/>
              </a:rPr>
              <a:t>l'information.</a:t>
            </a:r>
            <a:r>
              <a:rPr sz="2300" spc="-204" dirty="0">
                <a:latin typeface="Arial"/>
                <a:cs typeface="Arial"/>
              </a:rPr>
              <a:t> </a:t>
            </a:r>
            <a:r>
              <a:rPr sz="2300" spc="-70" dirty="0">
                <a:latin typeface="Arial"/>
                <a:cs typeface="Arial"/>
              </a:rPr>
              <a:t>Nous</a:t>
            </a:r>
            <a:r>
              <a:rPr sz="2300" spc="-50" dirty="0">
                <a:latin typeface="Arial"/>
                <a:cs typeface="Arial"/>
              </a:rPr>
              <a:t> </a:t>
            </a:r>
            <a:r>
              <a:rPr sz="2300" spc="-95" dirty="0">
                <a:latin typeface="Arial"/>
                <a:cs typeface="Arial"/>
              </a:rPr>
              <a:t>avons</a:t>
            </a:r>
            <a:r>
              <a:rPr sz="2300" spc="-40" dirty="0">
                <a:latin typeface="Arial"/>
                <a:cs typeface="Arial"/>
              </a:rPr>
              <a:t> </a:t>
            </a:r>
            <a:r>
              <a:rPr sz="2300" spc="-55" dirty="0">
                <a:latin typeface="Arial"/>
                <a:cs typeface="Arial"/>
              </a:rPr>
              <a:t>conçu</a:t>
            </a:r>
            <a:r>
              <a:rPr sz="2300" spc="-125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un</a:t>
            </a:r>
            <a:r>
              <a:rPr sz="2300" spc="-220" dirty="0">
                <a:latin typeface="Arial"/>
                <a:cs typeface="Arial"/>
              </a:rPr>
              <a:t> </a:t>
            </a:r>
            <a:r>
              <a:rPr sz="2300" spc="-85" dirty="0">
                <a:latin typeface="Arial"/>
                <a:cs typeface="Arial"/>
              </a:rPr>
              <a:t>noyau</a:t>
            </a:r>
            <a:r>
              <a:rPr sz="2300" spc="-75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d'lA</a:t>
            </a:r>
            <a:r>
              <a:rPr sz="2300" spc="-75" dirty="0">
                <a:latin typeface="Arial"/>
                <a:cs typeface="Arial"/>
              </a:rPr>
              <a:t> </a:t>
            </a:r>
            <a:r>
              <a:rPr sz="2300" spc="-35" dirty="0">
                <a:latin typeface="Arial"/>
                <a:cs typeface="Arial"/>
              </a:rPr>
              <a:t>multi-</a:t>
            </a:r>
            <a:r>
              <a:rPr sz="2300" spc="-20" dirty="0">
                <a:latin typeface="Arial"/>
                <a:cs typeface="Arial"/>
              </a:rPr>
              <a:t>agents</a:t>
            </a:r>
            <a:r>
              <a:rPr sz="2300" spc="-70" dirty="0">
                <a:latin typeface="Arial"/>
                <a:cs typeface="Arial"/>
              </a:rPr>
              <a:t> </a:t>
            </a:r>
            <a:r>
              <a:rPr sz="2300" spc="-25" dirty="0">
                <a:latin typeface="Arial"/>
                <a:cs typeface="Arial"/>
              </a:rPr>
              <a:t>qui </a:t>
            </a:r>
            <a:r>
              <a:rPr sz="2400" spc="-85" dirty="0">
                <a:latin typeface="Arial"/>
                <a:cs typeface="Arial"/>
              </a:rPr>
              <a:t>restructure </a:t>
            </a:r>
            <a:r>
              <a:rPr sz="2400" spc="-170" dirty="0">
                <a:latin typeface="Arial"/>
                <a:cs typeface="Arial"/>
              </a:rPr>
              <a:t>16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50" dirty="0">
                <a:latin typeface="Arial"/>
                <a:cs typeface="Arial"/>
              </a:rPr>
              <a:t>domaines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de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données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oncoiogiques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en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6</a:t>
            </a:r>
            <a:r>
              <a:rPr sz="2400" spc="-165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spécialités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scientifiques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intégrées,</a:t>
            </a:r>
            <a:r>
              <a:rPr sz="2400" spc="8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agissant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50" dirty="0">
                <a:latin typeface="Arial"/>
                <a:cs typeface="Arial"/>
              </a:rPr>
              <a:t>comme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des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"experts </a:t>
            </a:r>
            <a:r>
              <a:rPr sz="2300" spc="-10" dirty="0">
                <a:latin typeface="Arial"/>
                <a:cs typeface="Arial"/>
              </a:rPr>
              <a:t>numériques".</a:t>
            </a:r>
            <a:endParaRPr sz="2300">
              <a:latin typeface="Arial"/>
              <a:cs typeface="Arial"/>
            </a:endParaRPr>
          </a:p>
          <a:p>
            <a:pPr marL="991235">
              <a:lnSpc>
                <a:spcPct val="100000"/>
              </a:lnSpc>
              <a:spcBef>
                <a:spcPts val="1490"/>
              </a:spcBef>
              <a:tabLst>
                <a:tab pos="10726420" algn="l"/>
              </a:tabLst>
            </a:pPr>
            <a:r>
              <a:rPr sz="1950" spc="-105" dirty="0">
                <a:latin typeface="Arial"/>
                <a:cs typeface="Arial"/>
              </a:rPr>
              <a:t>Domaines</a:t>
            </a:r>
            <a:r>
              <a:rPr sz="1950" spc="-30" dirty="0">
                <a:latin typeface="Arial"/>
                <a:cs typeface="Arial"/>
              </a:rPr>
              <a:t> </a:t>
            </a:r>
            <a:r>
              <a:rPr sz="1950" spc="-75" dirty="0">
                <a:latin typeface="Arial"/>
                <a:cs typeface="Arial"/>
              </a:rPr>
              <a:t>Sources</a:t>
            </a:r>
            <a:r>
              <a:rPr sz="1950" spc="-20" dirty="0">
                <a:latin typeface="Arial"/>
                <a:cs typeface="Arial"/>
              </a:rPr>
              <a:t> (1s)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2925" spc="-135" baseline="1424" dirty="0">
                <a:latin typeface="Arial"/>
                <a:cs typeface="Arial"/>
              </a:rPr>
              <a:t>Agents</a:t>
            </a:r>
            <a:r>
              <a:rPr sz="2925" spc="-97" baseline="1424" dirty="0">
                <a:latin typeface="Arial"/>
                <a:cs typeface="Arial"/>
              </a:rPr>
              <a:t> Spécialistes</a:t>
            </a:r>
            <a:r>
              <a:rPr sz="2925" spc="-15" baseline="1424" dirty="0">
                <a:latin typeface="Arial"/>
                <a:cs typeface="Arial"/>
              </a:rPr>
              <a:t> </a:t>
            </a:r>
            <a:r>
              <a:rPr sz="2925" spc="-60" baseline="1424" dirty="0">
                <a:latin typeface="Arial"/>
                <a:cs typeface="Arial"/>
              </a:rPr>
              <a:t>Intégrés</a:t>
            </a:r>
            <a:r>
              <a:rPr sz="2925" spc="-52" baseline="1424" dirty="0">
                <a:latin typeface="Arial"/>
                <a:cs typeface="Arial"/>
              </a:rPr>
              <a:t> </a:t>
            </a:r>
            <a:r>
              <a:rPr sz="2925" spc="-37" baseline="1424" dirty="0">
                <a:latin typeface="Arial"/>
                <a:cs typeface="Arial"/>
              </a:rPr>
              <a:t>(6)</a:t>
            </a:r>
            <a:endParaRPr sz="2925" baseline="1424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950">
              <a:latin typeface="Arial"/>
              <a:cs typeface="Arial"/>
            </a:endParaRPr>
          </a:p>
          <a:p>
            <a:pPr marL="1377315" marR="11948160" indent="419100">
              <a:lnSpc>
                <a:spcPct val="155600"/>
              </a:lnSpc>
            </a:pPr>
            <a:r>
              <a:rPr sz="1500" spc="-10" dirty="0">
                <a:latin typeface="Arial"/>
                <a:cs typeface="Arial"/>
              </a:rPr>
              <a:t>Biochimie </a:t>
            </a:r>
            <a:r>
              <a:rPr sz="1500" spc="-50" dirty="0">
                <a:latin typeface="Arial"/>
                <a:cs typeface="Arial"/>
              </a:rPr>
              <a:t>Biologle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Moléculaire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500">
              <a:latin typeface="Arial"/>
              <a:cs typeface="Arial"/>
            </a:endParaRPr>
          </a:p>
          <a:p>
            <a:pPr marL="1571625">
              <a:lnSpc>
                <a:spcPct val="100000"/>
              </a:lnSpc>
            </a:pPr>
            <a:r>
              <a:rPr sz="1600" spc="-20" dirty="0">
                <a:latin typeface="Arial"/>
                <a:cs typeface="Arial"/>
              </a:rPr>
              <a:t>Chimiothêraple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5100" y="8676569"/>
            <a:ext cx="15547975" cy="7245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2765"/>
              </a:lnSpc>
              <a:spcBef>
                <a:spcPts val="130"/>
              </a:spcBef>
            </a:pPr>
            <a:r>
              <a:rPr sz="2400" spc="60" dirty="0">
                <a:latin typeface="Arial"/>
                <a:cs typeface="Arial"/>
              </a:rPr>
              <a:t>"’Mécanisme”":</a:t>
            </a:r>
            <a:r>
              <a:rPr sz="2400" spc="-31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Un</a:t>
            </a:r>
            <a:r>
              <a:rPr sz="2400" spc="-16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classificateur</a:t>
            </a:r>
            <a:r>
              <a:rPr sz="2400" spc="-15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intégré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dirige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40" dirty="0">
                <a:latin typeface="Arial"/>
                <a:cs typeface="Arial"/>
              </a:rPr>
              <a:t>chaque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60" dirty="0">
                <a:latin typeface="Arial"/>
                <a:cs typeface="Arial"/>
              </a:rPr>
              <a:t>donnée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vers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l'agent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approprié,</a:t>
            </a:r>
            <a:r>
              <a:rPr sz="2400" spc="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et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un</a:t>
            </a:r>
            <a:r>
              <a:rPr sz="2400" spc="-204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moteur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de </a:t>
            </a:r>
            <a:r>
              <a:rPr sz="2400" spc="-135" dirty="0">
                <a:latin typeface="Arial"/>
                <a:cs typeface="Arial"/>
              </a:rPr>
              <a:t>consensus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résout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les</a:t>
            </a:r>
            <a:endParaRPr sz="2400">
              <a:latin typeface="Arial"/>
              <a:cs typeface="Arial"/>
            </a:endParaRPr>
          </a:p>
          <a:p>
            <a:pPr marL="14604">
              <a:lnSpc>
                <a:spcPts val="2705"/>
              </a:lnSpc>
            </a:pPr>
            <a:r>
              <a:rPr sz="2350" spc="-35" dirty="0">
                <a:latin typeface="Arial"/>
                <a:cs typeface="Arial"/>
              </a:rPr>
              <a:t>conflits</a:t>
            </a:r>
            <a:r>
              <a:rPr sz="2350" spc="-130" dirty="0">
                <a:latin typeface="Arial"/>
                <a:cs typeface="Arial"/>
              </a:rPr>
              <a:t> </a:t>
            </a:r>
            <a:r>
              <a:rPr sz="2350" spc="-50" dirty="0">
                <a:latin typeface="Arial"/>
                <a:cs typeface="Arial"/>
              </a:rPr>
              <a:t>pour</a:t>
            </a:r>
            <a:r>
              <a:rPr sz="2350" spc="-110" dirty="0">
                <a:latin typeface="Arial"/>
                <a:cs typeface="Arial"/>
              </a:rPr>
              <a:t> </a:t>
            </a:r>
            <a:r>
              <a:rPr sz="2350" spc="-55" dirty="0">
                <a:latin typeface="Arial"/>
                <a:cs typeface="Arial"/>
              </a:rPr>
              <a:t>garantir</a:t>
            </a:r>
            <a:r>
              <a:rPr sz="2350" spc="-10" dirty="0">
                <a:latin typeface="Arial"/>
                <a:cs typeface="Arial"/>
              </a:rPr>
              <a:t> </a:t>
            </a:r>
            <a:r>
              <a:rPr sz="2350" spc="-140" dirty="0">
                <a:latin typeface="Arial"/>
                <a:cs typeface="Arial"/>
              </a:rPr>
              <a:t>une</a:t>
            </a:r>
            <a:r>
              <a:rPr sz="2350" spc="-100" dirty="0">
                <a:latin typeface="Arial"/>
                <a:cs typeface="Arial"/>
              </a:rPr>
              <a:t> </a:t>
            </a:r>
            <a:r>
              <a:rPr sz="2350" spc="-65" dirty="0">
                <a:latin typeface="Arial"/>
                <a:cs typeface="Arial"/>
              </a:rPr>
              <a:t>labellisation</a:t>
            </a:r>
            <a:r>
              <a:rPr sz="2350" spc="-5" dirty="0">
                <a:latin typeface="Arial"/>
                <a:cs typeface="Arial"/>
              </a:rPr>
              <a:t> </a:t>
            </a:r>
            <a:r>
              <a:rPr sz="2350" spc="-60" dirty="0">
                <a:latin typeface="Arial"/>
                <a:cs typeface="Arial"/>
              </a:rPr>
              <a:t>de</a:t>
            </a:r>
            <a:r>
              <a:rPr sz="2350" spc="-160" dirty="0">
                <a:latin typeface="Arial"/>
                <a:cs typeface="Arial"/>
              </a:rPr>
              <a:t> </a:t>
            </a:r>
            <a:r>
              <a:rPr sz="2350" spc="-80" dirty="0">
                <a:latin typeface="Arial"/>
                <a:cs typeface="Arial"/>
              </a:rPr>
              <a:t>haute</a:t>
            </a:r>
            <a:r>
              <a:rPr sz="2350" spc="-110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précision.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5400" y="6781800"/>
            <a:ext cx="1155700" cy="977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88000" y="7162800"/>
            <a:ext cx="800100" cy="215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29600" y="6781800"/>
            <a:ext cx="1016000" cy="990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74400" y="7162800"/>
            <a:ext cx="812800" cy="2159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754100" y="6781800"/>
            <a:ext cx="1155700" cy="9779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845800" y="4559300"/>
            <a:ext cx="533400" cy="6223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09930" y="488949"/>
            <a:ext cx="1531175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dirty="0"/>
              <a:t>Solution</a:t>
            </a:r>
            <a:r>
              <a:rPr sz="5000" spc="335" dirty="0"/>
              <a:t> </a:t>
            </a:r>
            <a:r>
              <a:rPr sz="5000" spc="-250" dirty="0"/>
              <a:t>2</a:t>
            </a:r>
            <a:r>
              <a:rPr sz="5000" spc="-225" dirty="0"/>
              <a:t> </a:t>
            </a:r>
            <a:r>
              <a:rPr sz="5000" spc="110" dirty="0"/>
              <a:t>:</a:t>
            </a:r>
            <a:r>
              <a:rPr sz="5000" spc="-275" dirty="0"/>
              <a:t> </a:t>
            </a:r>
            <a:r>
              <a:rPr sz="5000" spc="-295" dirty="0"/>
              <a:t>Le</a:t>
            </a:r>
            <a:r>
              <a:rPr sz="5000" spc="195" dirty="0"/>
              <a:t> </a:t>
            </a:r>
            <a:r>
              <a:rPr sz="5000" spc="-110" dirty="0"/>
              <a:t>Noyau</a:t>
            </a:r>
            <a:r>
              <a:rPr sz="5000" spc="114" dirty="0"/>
              <a:t> </a:t>
            </a:r>
            <a:r>
              <a:rPr sz="5000" spc="60" dirty="0"/>
              <a:t>d'lmputation</a:t>
            </a:r>
            <a:r>
              <a:rPr sz="5000" spc="480" dirty="0"/>
              <a:t> </a:t>
            </a:r>
            <a:r>
              <a:rPr sz="5000" dirty="0"/>
              <a:t>Informé</a:t>
            </a:r>
            <a:r>
              <a:rPr sz="5000" spc="235" dirty="0"/>
              <a:t> </a:t>
            </a:r>
            <a:r>
              <a:rPr sz="5000" dirty="0"/>
              <a:t>par</a:t>
            </a:r>
            <a:r>
              <a:rPr sz="5000" spc="-100" dirty="0"/>
              <a:t> </a:t>
            </a:r>
            <a:r>
              <a:rPr sz="5000" dirty="0"/>
              <a:t>la</a:t>
            </a:r>
            <a:r>
              <a:rPr sz="5000" spc="55" dirty="0"/>
              <a:t> </a:t>
            </a:r>
            <a:r>
              <a:rPr sz="5000" spc="-10" dirty="0"/>
              <a:t>Physique</a:t>
            </a:r>
            <a:endParaRPr sz="5000"/>
          </a:p>
        </p:txBody>
      </p:sp>
      <p:sp>
        <p:nvSpPr>
          <p:cNvPr id="9" name="object 9"/>
          <p:cNvSpPr txBox="1"/>
          <p:nvPr/>
        </p:nvSpPr>
        <p:spPr>
          <a:xfrm>
            <a:off x="709436" y="1507772"/>
            <a:ext cx="15736569" cy="132524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-635">
              <a:lnSpc>
                <a:spcPts val="3450"/>
              </a:lnSpc>
              <a:spcBef>
                <a:spcPts val="80"/>
              </a:spcBef>
            </a:pPr>
            <a:r>
              <a:rPr sz="2750" spc="-165" dirty="0">
                <a:latin typeface="Arial"/>
                <a:cs typeface="Arial"/>
              </a:rPr>
              <a:t>Pour</a:t>
            </a:r>
            <a:r>
              <a:rPr sz="2750" spc="-25" dirty="0">
                <a:latin typeface="Arial"/>
                <a:cs typeface="Arial"/>
              </a:rPr>
              <a:t> </a:t>
            </a:r>
            <a:r>
              <a:rPr sz="2750" spc="-105" dirty="0">
                <a:latin typeface="Arial"/>
                <a:cs typeface="Arial"/>
              </a:rPr>
              <a:t>combler</a:t>
            </a:r>
            <a:r>
              <a:rPr sz="2750" spc="-85" dirty="0">
                <a:latin typeface="Arial"/>
                <a:cs typeface="Arial"/>
              </a:rPr>
              <a:t> </a:t>
            </a:r>
            <a:r>
              <a:rPr sz="2750" spc="-120" dirty="0">
                <a:latin typeface="Arial"/>
                <a:cs typeface="Arial"/>
              </a:rPr>
              <a:t>les</a:t>
            </a:r>
            <a:r>
              <a:rPr sz="2750" spc="-70" dirty="0">
                <a:latin typeface="Arial"/>
                <a:cs typeface="Arial"/>
              </a:rPr>
              <a:t> </a:t>
            </a:r>
            <a:r>
              <a:rPr sz="2750" spc="-155" dirty="0">
                <a:latin typeface="Arial"/>
                <a:cs typeface="Arial"/>
              </a:rPr>
              <a:t>données</a:t>
            </a:r>
            <a:r>
              <a:rPr sz="2750" spc="-35" dirty="0">
                <a:latin typeface="Arial"/>
                <a:cs typeface="Arial"/>
              </a:rPr>
              <a:t> </a:t>
            </a:r>
            <a:r>
              <a:rPr sz="2750" spc="-145" dirty="0">
                <a:latin typeface="Arial"/>
                <a:cs typeface="Arial"/>
              </a:rPr>
              <a:t>manquantes,</a:t>
            </a:r>
            <a:r>
              <a:rPr sz="2750" spc="-50" dirty="0">
                <a:latin typeface="Arial"/>
                <a:cs typeface="Arial"/>
              </a:rPr>
              <a:t> </a:t>
            </a:r>
            <a:r>
              <a:rPr sz="2750" spc="-150" dirty="0">
                <a:latin typeface="Arial"/>
                <a:cs typeface="Arial"/>
              </a:rPr>
              <a:t>nous</a:t>
            </a:r>
            <a:r>
              <a:rPr sz="2750" spc="-40" dirty="0">
                <a:latin typeface="Arial"/>
                <a:cs typeface="Arial"/>
              </a:rPr>
              <a:t> </a:t>
            </a:r>
            <a:r>
              <a:rPr sz="2750" spc="-100" dirty="0">
                <a:latin typeface="Arial"/>
                <a:cs typeface="Arial"/>
              </a:rPr>
              <a:t>rejetons</a:t>
            </a:r>
            <a:r>
              <a:rPr sz="2750" spc="-35" dirty="0">
                <a:latin typeface="Arial"/>
                <a:cs typeface="Arial"/>
              </a:rPr>
              <a:t> </a:t>
            </a:r>
            <a:r>
              <a:rPr sz="2750" spc="-160" dirty="0">
                <a:latin typeface="Arial"/>
                <a:cs typeface="Arial"/>
              </a:rPr>
              <a:t>les</a:t>
            </a:r>
            <a:r>
              <a:rPr sz="2750" spc="-60" dirty="0">
                <a:latin typeface="Arial"/>
                <a:cs typeface="Arial"/>
              </a:rPr>
              <a:t> </a:t>
            </a:r>
            <a:r>
              <a:rPr sz="2750" spc="-114" dirty="0">
                <a:latin typeface="Arial"/>
                <a:cs typeface="Arial"/>
              </a:rPr>
              <a:t>méthodes</a:t>
            </a:r>
            <a:r>
              <a:rPr sz="2750" spc="80" dirty="0">
                <a:latin typeface="Arial"/>
                <a:cs typeface="Arial"/>
              </a:rPr>
              <a:t> </a:t>
            </a:r>
            <a:r>
              <a:rPr sz="2750" spc="-85" dirty="0">
                <a:latin typeface="Arial"/>
                <a:cs typeface="Arial"/>
              </a:rPr>
              <a:t>statistiques</a:t>
            </a:r>
            <a:r>
              <a:rPr sz="2750" spc="5" dirty="0">
                <a:latin typeface="Arial"/>
                <a:cs typeface="Arial"/>
              </a:rPr>
              <a:t> </a:t>
            </a:r>
            <a:r>
              <a:rPr sz="2750" spc="-140" dirty="0">
                <a:latin typeface="Arial"/>
                <a:cs typeface="Arial"/>
              </a:rPr>
              <a:t>aveugles.</a:t>
            </a:r>
            <a:r>
              <a:rPr sz="2750" spc="10" dirty="0">
                <a:latin typeface="Arial"/>
                <a:cs typeface="Arial"/>
              </a:rPr>
              <a:t> </a:t>
            </a:r>
            <a:r>
              <a:rPr sz="2750" spc="-210" dirty="0">
                <a:latin typeface="Arial"/>
                <a:cs typeface="Arial"/>
              </a:rPr>
              <a:t>Nous</a:t>
            </a:r>
            <a:r>
              <a:rPr sz="2750" spc="20" dirty="0">
                <a:latin typeface="Arial"/>
                <a:cs typeface="Arial"/>
              </a:rPr>
              <a:t> </a:t>
            </a:r>
            <a:r>
              <a:rPr sz="2750" spc="-105" dirty="0">
                <a:latin typeface="Arial"/>
                <a:cs typeface="Arial"/>
              </a:rPr>
              <a:t>utilisons</a:t>
            </a:r>
            <a:r>
              <a:rPr sz="2750" spc="25" dirty="0">
                <a:latin typeface="Arial"/>
                <a:cs typeface="Arial"/>
              </a:rPr>
              <a:t> </a:t>
            </a:r>
            <a:r>
              <a:rPr sz="2750" spc="-10" dirty="0">
                <a:latin typeface="Arial"/>
                <a:cs typeface="Arial"/>
              </a:rPr>
              <a:t>plutôt </a:t>
            </a:r>
            <a:r>
              <a:rPr sz="2750" spc="-145" dirty="0">
                <a:latin typeface="Arial"/>
                <a:cs typeface="Arial"/>
              </a:rPr>
              <a:t>un</a:t>
            </a:r>
            <a:r>
              <a:rPr sz="2750" spc="-80" dirty="0">
                <a:latin typeface="Arial"/>
                <a:cs typeface="Arial"/>
              </a:rPr>
              <a:t> </a:t>
            </a:r>
            <a:r>
              <a:rPr sz="2750" spc="-100" dirty="0">
                <a:latin typeface="Arial"/>
                <a:cs typeface="Arial"/>
              </a:rPr>
              <a:t>cadre</a:t>
            </a:r>
            <a:r>
              <a:rPr sz="2750" spc="-95" dirty="0">
                <a:latin typeface="Arial"/>
                <a:cs typeface="Arial"/>
              </a:rPr>
              <a:t> </a:t>
            </a:r>
            <a:r>
              <a:rPr sz="2750" spc="-75" dirty="0">
                <a:latin typeface="Arial"/>
                <a:cs typeface="Arial"/>
              </a:rPr>
              <a:t>théorique</a:t>
            </a:r>
            <a:r>
              <a:rPr sz="2750" spc="-114" dirty="0">
                <a:latin typeface="Arial"/>
                <a:cs typeface="Arial"/>
              </a:rPr>
              <a:t> </a:t>
            </a:r>
            <a:r>
              <a:rPr sz="2750" spc="-210" dirty="0">
                <a:latin typeface="Arial"/>
                <a:cs typeface="Arial"/>
              </a:rPr>
              <a:t>(UHCF-</a:t>
            </a:r>
            <a:r>
              <a:rPr sz="2750" spc="-290" dirty="0">
                <a:latin typeface="Arial"/>
                <a:cs typeface="Arial"/>
              </a:rPr>
              <a:t>OM</a:t>
            </a:r>
            <a:r>
              <a:rPr sz="2750" spc="105" dirty="0">
                <a:latin typeface="Arial"/>
                <a:cs typeface="Arial"/>
              </a:rPr>
              <a:t> </a:t>
            </a:r>
            <a:r>
              <a:rPr sz="2750" spc="-90" dirty="0">
                <a:latin typeface="Arial"/>
                <a:cs typeface="Arial"/>
              </a:rPr>
              <a:t>v2)</a:t>
            </a:r>
            <a:r>
              <a:rPr sz="2750" spc="-105" dirty="0">
                <a:latin typeface="Arial"/>
                <a:cs typeface="Arial"/>
              </a:rPr>
              <a:t> </a:t>
            </a:r>
            <a:r>
              <a:rPr sz="2750" spc="-80" dirty="0">
                <a:latin typeface="Arial"/>
                <a:cs typeface="Arial"/>
              </a:rPr>
              <a:t>qui</a:t>
            </a:r>
            <a:r>
              <a:rPr sz="2750" spc="-110" dirty="0">
                <a:latin typeface="Arial"/>
                <a:cs typeface="Arial"/>
              </a:rPr>
              <a:t> </a:t>
            </a:r>
            <a:r>
              <a:rPr sz="2750" spc="-135" dirty="0">
                <a:latin typeface="Arial"/>
                <a:cs typeface="Arial"/>
              </a:rPr>
              <a:t>génère</a:t>
            </a:r>
            <a:r>
              <a:rPr sz="2750" spc="-50" dirty="0">
                <a:latin typeface="Arial"/>
                <a:cs typeface="Arial"/>
              </a:rPr>
              <a:t> </a:t>
            </a:r>
            <a:r>
              <a:rPr sz="2750" spc="-105" dirty="0">
                <a:latin typeface="Arial"/>
                <a:cs typeface="Arial"/>
              </a:rPr>
              <a:t>des</a:t>
            </a:r>
            <a:r>
              <a:rPr sz="2750" spc="-25" dirty="0">
                <a:latin typeface="Arial"/>
                <a:cs typeface="Arial"/>
              </a:rPr>
              <a:t> </a:t>
            </a:r>
            <a:r>
              <a:rPr sz="2750" spc="-140" dirty="0">
                <a:latin typeface="Arial"/>
                <a:cs typeface="Arial"/>
              </a:rPr>
              <a:t>données</a:t>
            </a:r>
            <a:r>
              <a:rPr sz="2750" spc="-20" dirty="0">
                <a:latin typeface="Arial"/>
                <a:cs typeface="Arial"/>
              </a:rPr>
              <a:t> </a:t>
            </a:r>
            <a:r>
              <a:rPr sz="2750" spc="-85" dirty="0">
                <a:latin typeface="Arial"/>
                <a:cs typeface="Arial"/>
              </a:rPr>
              <a:t>biologiquement</a:t>
            </a:r>
            <a:r>
              <a:rPr sz="2750" spc="-110" dirty="0">
                <a:latin typeface="Arial"/>
                <a:cs typeface="Arial"/>
              </a:rPr>
              <a:t> </a:t>
            </a:r>
            <a:r>
              <a:rPr sz="2750" spc="-95" dirty="0">
                <a:latin typeface="Arial"/>
                <a:cs typeface="Arial"/>
              </a:rPr>
              <a:t>plausibles</a:t>
            </a:r>
            <a:r>
              <a:rPr sz="2750" spc="100" dirty="0">
                <a:latin typeface="Arial"/>
                <a:cs typeface="Arial"/>
              </a:rPr>
              <a:t> </a:t>
            </a:r>
            <a:r>
              <a:rPr sz="2750" spc="-100" dirty="0">
                <a:latin typeface="Arial"/>
                <a:cs typeface="Arial"/>
              </a:rPr>
              <a:t>via</a:t>
            </a:r>
            <a:r>
              <a:rPr sz="2750" spc="-60" dirty="0">
                <a:latin typeface="Arial"/>
                <a:cs typeface="Arial"/>
              </a:rPr>
              <a:t> </a:t>
            </a:r>
            <a:r>
              <a:rPr sz="2750" spc="-155" dirty="0">
                <a:latin typeface="Arial"/>
                <a:cs typeface="Arial"/>
              </a:rPr>
              <a:t>des</a:t>
            </a:r>
            <a:r>
              <a:rPr sz="2750" spc="-100" dirty="0">
                <a:latin typeface="Arial"/>
                <a:cs typeface="Arial"/>
              </a:rPr>
              <a:t> </a:t>
            </a:r>
            <a:r>
              <a:rPr sz="2750" spc="-10" dirty="0">
                <a:latin typeface="Arial"/>
                <a:cs typeface="Arial"/>
              </a:rPr>
              <a:t>Opérateurs </a:t>
            </a:r>
            <a:r>
              <a:rPr sz="2750" spc="-140" dirty="0">
                <a:latin typeface="Arial"/>
                <a:cs typeface="Arial"/>
              </a:rPr>
              <a:t>Neuronaux</a:t>
            </a:r>
            <a:r>
              <a:rPr sz="2750" spc="-50" dirty="0">
                <a:latin typeface="Arial"/>
                <a:cs typeface="Arial"/>
              </a:rPr>
              <a:t> </a:t>
            </a:r>
            <a:r>
              <a:rPr sz="2750" spc="-90" dirty="0">
                <a:latin typeface="Arial"/>
                <a:cs typeface="Arial"/>
              </a:rPr>
              <a:t>Informés</a:t>
            </a:r>
            <a:r>
              <a:rPr sz="2750" spc="-105" dirty="0">
                <a:latin typeface="Arial"/>
                <a:cs typeface="Arial"/>
              </a:rPr>
              <a:t> </a:t>
            </a:r>
            <a:r>
              <a:rPr sz="2750" spc="-125" dirty="0">
                <a:latin typeface="Arial"/>
                <a:cs typeface="Arial"/>
              </a:rPr>
              <a:t>par</a:t>
            </a:r>
            <a:r>
              <a:rPr sz="2750" spc="-60" dirty="0">
                <a:latin typeface="Arial"/>
                <a:cs typeface="Arial"/>
              </a:rPr>
              <a:t> </a:t>
            </a:r>
            <a:r>
              <a:rPr sz="2750" spc="-114" dirty="0">
                <a:latin typeface="Arial"/>
                <a:cs typeface="Arial"/>
              </a:rPr>
              <a:t>la</a:t>
            </a:r>
            <a:r>
              <a:rPr sz="2750" spc="-130" dirty="0">
                <a:latin typeface="Arial"/>
                <a:cs typeface="Arial"/>
              </a:rPr>
              <a:t> </a:t>
            </a:r>
            <a:r>
              <a:rPr sz="2750" spc="-110" dirty="0">
                <a:latin typeface="Arial"/>
                <a:cs typeface="Arial"/>
              </a:rPr>
              <a:t>Physique</a:t>
            </a:r>
            <a:r>
              <a:rPr sz="2750" spc="-75" dirty="0">
                <a:latin typeface="Arial"/>
                <a:cs typeface="Arial"/>
              </a:rPr>
              <a:t> </a:t>
            </a:r>
            <a:r>
              <a:rPr sz="2750" spc="-220" dirty="0">
                <a:latin typeface="Arial"/>
                <a:cs typeface="Arial"/>
              </a:rPr>
              <a:t>(PINO),</a:t>
            </a:r>
            <a:r>
              <a:rPr sz="2750" spc="-5" dirty="0">
                <a:latin typeface="Arial"/>
                <a:cs typeface="Arial"/>
              </a:rPr>
              <a:t> </a:t>
            </a:r>
            <a:r>
              <a:rPr sz="2750" spc="-70" dirty="0">
                <a:latin typeface="Arial"/>
                <a:cs typeface="Arial"/>
              </a:rPr>
              <a:t>créant</a:t>
            </a:r>
            <a:r>
              <a:rPr sz="2750" spc="-25" dirty="0">
                <a:latin typeface="Arial"/>
                <a:cs typeface="Arial"/>
              </a:rPr>
              <a:t> </a:t>
            </a:r>
            <a:r>
              <a:rPr sz="2750" spc="-145" dirty="0">
                <a:latin typeface="Arial"/>
                <a:cs typeface="Arial"/>
              </a:rPr>
              <a:t>ainsi</a:t>
            </a:r>
            <a:r>
              <a:rPr sz="2750" spc="-70" dirty="0">
                <a:latin typeface="Arial"/>
                <a:cs typeface="Arial"/>
              </a:rPr>
              <a:t> </a:t>
            </a:r>
            <a:r>
              <a:rPr sz="2750" spc="-90" dirty="0">
                <a:latin typeface="Arial"/>
                <a:cs typeface="Arial"/>
              </a:rPr>
              <a:t>un</a:t>
            </a:r>
            <a:r>
              <a:rPr sz="2750" spc="-85" dirty="0">
                <a:latin typeface="Arial"/>
                <a:cs typeface="Arial"/>
              </a:rPr>
              <a:t> </a:t>
            </a:r>
            <a:r>
              <a:rPr sz="2750" spc="-145" dirty="0">
                <a:latin typeface="Arial"/>
                <a:cs typeface="Arial"/>
              </a:rPr>
              <a:t>"jumeau</a:t>
            </a:r>
            <a:r>
              <a:rPr sz="2750" dirty="0">
                <a:latin typeface="Arial"/>
                <a:cs typeface="Arial"/>
              </a:rPr>
              <a:t> </a:t>
            </a:r>
            <a:r>
              <a:rPr sz="2750" spc="-114" dirty="0">
                <a:latin typeface="Arial"/>
                <a:cs typeface="Arial"/>
              </a:rPr>
              <a:t>numérique"</a:t>
            </a:r>
            <a:r>
              <a:rPr sz="2750" spc="170" dirty="0">
                <a:latin typeface="Arial"/>
                <a:cs typeface="Arial"/>
              </a:rPr>
              <a:t> </a:t>
            </a:r>
            <a:r>
              <a:rPr sz="2750" spc="-85" dirty="0">
                <a:latin typeface="Arial"/>
                <a:cs typeface="Arial"/>
              </a:rPr>
              <a:t>spatiotemporel</a:t>
            </a:r>
            <a:r>
              <a:rPr sz="2750" spc="-110" dirty="0">
                <a:latin typeface="Arial"/>
                <a:cs typeface="Arial"/>
              </a:rPr>
              <a:t> </a:t>
            </a:r>
            <a:r>
              <a:rPr sz="2750" spc="-125" dirty="0">
                <a:latin typeface="Arial"/>
                <a:cs typeface="Arial"/>
              </a:rPr>
              <a:t>du</a:t>
            </a:r>
            <a:r>
              <a:rPr sz="2750" spc="-70" dirty="0">
                <a:latin typeface="Arial"/>
                <a:cs typeface="Arial"/>
              </a:rPr>
              <a:t> </a:t>
            </a:r>
            <a:r>
              <a:rPr sz="2750" spc="-10" dirty="0">
                <a:latin typeface="Arial"/>
                <a:cs typeface="Arial"/>
              </a:rPr>
              <a:t>patient.</a:t>
            </a:r>
            <a:endParaRPr sz="27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9303" y="3296355"/>
            <a:ext cx="9688830" cy="1826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65910">
              <a:lnSpc>
                <a:spcPts val="2195"/>
              </a:lnSpc>
              <a:spcBef>
                <a:spcPts val="95"/>
              </a:spcBef>
            </a:pPr>
            <a:r>
              <a:rPr sz="1950" spc="-90" dirty="0">
                <a:latin typeface="Arial"/>
                <a:cs typeface="Arial"/>
              </a:rPr>
              <a:t>Dérivée</a:t>
            </a:r>
            <a:r>
              <a:rPr sz="1950" spc="-45" dirty="0">
                <a:latin typeface="Arial"/>
                <a:cs typeface="Arial"/>
              </a:rPr>
              <a:t> </a:t>
            </a:r>
            <a:r>
              <a:rPr sz="1950" spc="-65" dirty="0">
                <a:latin typeface="Arial"/>
                <a:cs typeface="Arial"/>
              </a:rPr>
              <a:t>Fractionnaire</a:t>
            </a:r>
            <a:r>
              <a:rPr sz="1950" spc="40" dirty="0">
                <a:latin typeface="Arial"/>
                <a:cs typeface="Arial"/>
              </a:rPr>
              <a:t> </a:t>
            </a:r>
            <a:r>
              <a:rPr sz="1950" spc="-70" dirty="0">
                <a:latin typeface="Arial"/>
                <a:cs typeface="Arial"/>
              </a:rPr>
              <a:t>d'Ordre</a:t>
            </a:r>
            <a:r>
              <a:rPr sz="1950" spc="-60" dirty="0">
                <a:latin typeface="Arial"/>
                <a:cs typeface="Arial"/>
              </a:rPr>
              <a:t> </a:t>
            </a:r>
            <a:r>
              <a:rPr sz="1950" spc="-10" dirty="0">
                <a:latin typeface="Arial"/>
                <a:cs typeface="Arial"/>
              </a:rPr>
              <a:t>Variable:</a:t>
            </a:r>
            <a:endParaRPr sz="1950">
              <a:latin typeface="Arial"/>
              <a:cs typeface="Arial"/>
            </a:endParaRPr>
          </a:p>
          <a:p>
            <a:pPr marL="1565910">
              <a:lnSpc>
                <a:spcPts val="2195"/>
              </a:lnSpc>
            </a:pPr>
            <a:r>
              <a:rPr sz="1950" spc="-90" dirty="0">
                <a:latin typeface="Arial"/>
                <a:cs typeface="Arial"/>
              </a:rPr>
              <a:t>Modélise</a:t>
            </a:r>
            <a:r>
              <a:rPr sz="1950" spc="-45" dirty="0">
                <a:latin typeface="Arial"/>
                <a:cs typeface="Arial"/>
              </a:rPr>
              <a:t> </a:t>
            </a:r>
            <a:r>
              <a:rPr sz="1950" spc="-150" dirty="0">
                <a:latin typeface="Arial"/>
                <a:cs typeface="Arial"/>
              </a:rPr>
              <a:t>la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-125" dirty="0">
                <a:latin typeface="Arial"/>
                <a:cs typeface="Arial"/>
              </a:rPr>
              <a:t>mémoire</a:t>
            </a:r>
            <a:r>
              <a:rPr sz="1950" spc="40" dirty="0">
                <a:latin typeface="Arial"/>
                <a:cs typeface="Arial"/>
              </a:rPr>
              <a:t> </a:t>
            </a:r>
            <a:r>
              <a:rPr sz="1950" spc="-10" dirty="0">
                <a:latin typeface="Arial"/>
                <a:cs typeface="Arial"/>
              </a:rPr>
              <a:t>et</a:t>
            </a:r>
            <a:r>
              <a:rPr sz="1950" spc="-70" dirty="0">
                <a:latin typeface="Arial"/>
                <a:cs typeface="Arial"/>
              </a:rPr>
              <a:t> </a:t>
            </a:r>
            <a:r>
              <a:rPr sz="1950" spc="-95" dirty="0">
                <a:latin typeface="Arial"/>
                <a:cs typeface="Arial"/>
              </a:rPr>
              <a:t>les</a:t>
            </a:r>
            <a:r>
              <a:rPr sz="1950" spc="-40" dirty="0">
                <a:latin typeface="Arial"/>
                <a:cs typeface="Arial"/>
              </a:rPr>
              <a:t> </a:t>
            </a:r>
            <a:r>
              <a:rPr sz="1950" spc="-35" dirty="0">
                <a:latin typeface="Arial"/>
                <a:cs typeface="Arial"/>
              </a:rPr>
              <a:t>effets</a:t>
            </a:r>
            <a:r>
              <a:rPr sz="1950" spc="-85" dirty="0">
                <a:latin typeface="Arial"/>
                <a:cs typeface="Arial"/>
              </a:rPr>
              <a:t> </a:t>
            </a:r>
            <a:r>
              <a:rPr sz="1950" spc="-105" dirty="0">
                <a:latin typeface="Arial"/>
                <a:cs typeface="Arial"/>
              </a:rPr>
              <a:t>non</a:t>
            </a:r>
            <a:r>
              <a:rPr sz="1950" spc="-125" dirty="0">
                <a:latin typeface="Arial"/>
                <a:cs typeface="Arial"/>
              </a:rPr>
              <a:t> </a:t>
            </a:r>
            <a:r>
              <a:rPr sz="1950" spc="-10" dirty="0">
                <a:latin typeface="Arial"/>
                <a:cs typeface="Arial"/>
              </a:rPr>
              <a:t>locaux.</a:t>
            </a:r>
            <a:endParaRPr sz="19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400425" algn="l"/>
                <a:tab pos="4108450" algn="l"/>
                <a:tab pos="5584825" algn="l"/>
                <a:tab pos="7802245" algn="l"/>
              </a:tabLst>
            </a:pPr>
            <a:r>
              <a:rPr sz="3650" i="1" spc="-35" dirty="0">
                <a:latin typeface="Times New Roman"/>
                <a:cs typeface="Times New Roman"/>
              </a:rPr>
              <a:t>QD°(”‘!</a:t>
            </a:r>
            <a:r>
              <a:rPr sz="3650" i="1" spc="-85" dirty="0">
                <a:latin typeface="Times New Roman"/>
                <a:cs typeface="Times New Roman"/>
              </a:rPr>
              <a:t> </a:t>
            </a:r>
            <a:r>
              <a:rPr sz="3650" i="1" spc="105" dirty="0">
                <a:latin typeface="Times New Roman"/>
                <a:cs typeface="Times New Roman"/>
              </a:rPr>
              <a:t>plx,</a:t>
            </a:r>
            <a:r>
              <a:rPr sz="3650" i="1" spc="-254" dirty="0">
                <a:latin typeface="Times New Roman"/>
                <a:cs typeface="Times New Roman"/>
              </a:rPr>
              <a:t> </a:t>
            </a:r>
            <a:r>
              <a:rPr sz="3650" i="1" dirty="0">
                <a:latin typeface="Times New Roman"/>
                <a:cs typeface="Times New Roman"/>
              </a:rPr>
              <a:t>I)</a:t>
            </a:r>
            <a:r>
              <a:rPr sz="3650" i="1" spc="135" dirty="0">
                <a:latin typeface="Times New Roman"/>
                <a:cs typeface="Times New Roman"/>
              </a:rPr>
              <a:t> </a:t>
            </a:r>
            <a:r>
              <a:rPr sz="3650" spc="-50" dirty="0">
                <a:latin typeface="Times New Roman"/>
                <a:cs typeface="Times New Roman"/>
              </a:rPr>
              <a:t>=</a:t>
            </a:r>
            <a:r>
              <a:rPr sz="3650" dirty="0">
                <a:latin typeface="Times New Roman"/>
                <a:cs typeface="Times New Roman"/>
              </a:rPr>
              <a:t>	</a:t>
            </a:r>
            <a:r>
              <a:rPr sz="3650" spc="-25" dirty="0">
                <a:latin typeface="Times New Roman"/>
                <a:cs typeface="Times New Roman"/>
              </a:rPr>
              <a:t>\f</a:t>
            </a:r>
            <a:r>
              <a:rPr sz="3650" dirty="0">
                <a:latin typeface="Times New Roman"/>
                <a:cs typeface="Times New Roman"/>
              </a:rPr>
              <a:t>	</a:t>
            </a:r>
            <a:r>
              <a:rPr sz="3650" spc="-275" dirty="0">
                <a:latin typeface="Times New Roman"/>
                <a:cs typeface="Times New Roman"/>
              </a:rPr>
              <a:t>QD(t,</a:t>
            </a:r>
            <a:r>
              <a:rPr sz="3650" spc="-145" dirty="0">
                <a:latin typeface="Times New Roman"/>
                <a:cs typeface="Times New Roman"/>
              </a:rPr>
              <a:t> </a:t>
            </a:r>
            <a:r>
              <a:rPr sz="3650" spc="-25" dirty="0">
                <a:latin typeface="Times New Roman"/>
                <a:cs typeface="Times New Roman"/>
              </a:rPr>
              <a:t>x,</a:t>
            </a:r>
            <a:r>
              <a:rPr sz="3650" dirty="0">
                <a:latin typeface="Times New Roman"/>
                <a:cs typeface="Times New Roman"/>
              </a:rPr>
              <a:t>	</a:t>
            </a:r>
            <a:r>
              <a:rPr sz="3650" spc="95" dirty="0">
                <a:latin typeface="Times New Roman"/>
                <a:cs typeface="Times New Roman"/>
              </a:rPr>
              <a:t>u,</a:t>
            </a:r>
            <a:r>
              <a:rPr sz="3650" spc="-225" dirty="0">
                <a:latin typeface="Times New Roman"/>
                <a:cs typeface="Times New Roman"/>
              </a:rPr>
              <a:t> </a:t>
            </a:r>
            <a:r>
              <a:rPr sz="3650" spc="95" dirty="0">
                <a:latin typeface="Times New Roman"/>
                <a:cs typeface="Times New Roman"/>
              </a:rPr>
              <a:t>HIF)fip</a:t>
            </a:r>
            <a:r>
              <a:rPr sz="3650" dirty="0">
                <a:latin typeface="Times New Roman"/>
                <a:cs typeface="Times New Roman"/>
              </a:rPr>
              <a:t>	</a:t>
            </a:r>
            <a:r>
              <a:rPr sz="3650" i="1" spc="145" dirty="0">
                <a:latin typeface="Times New Roman"/>
                <a:cs typeface="Times New Roman"/>
              </a:rPr>
              <a:t>+</a:t>
            </a:r>
            <a:r>
              <a:rPr sz="3650" i="1" spc="320" dirty="0">
                <a:latin typeface="Times New Roman"/>
                <a:cs typeface="Times New Roman"/>
              </a:rPr>
              <a:t> </a:t>
            </a:r>
            <a:r>
              <a:rPr sz="3650" i="1" spc="-450" dirty="0">
                <a:latin typeface="Times New Roman"/>
                <a:cs typeface="Times New Roman"/>
              </a:rPr>
              <a:t>Dp</a:t>
            </a:r>
            <a:r>
              <a:rPr sz="3650" i="1" spc="-310" dirty="0">
                <a:latin typeface="Times New Roman"/>
                <a:cs typeface="Times New Roman"/>
              </a:rPr>
              <a:t> </a:t>
            </a:r>
            <a:r>
              <a:rPr sz="3650" i="1" spc="-105" dirty="0">
                <a:latin typeface="Times New Roman"/>
                <a:cs typeface="Times New Roman"/>
              </a:rPr>
              <a:t>p,</a:t>
            </a:r>
            <a:r>
              <a:rPr sz="3650" i="1" spc="-525" dirty="0">
                <a:latin typeface="Times New Roman"/>
                <a:cs typeface="Times New Roman"/>
              </a:rPr>
              <a:t> </a:t>
            </a:r>
            <a:r>
              <a:rPr sz="3650" spc="70" dirty="0">
                <a:latin typeface="Times New Roman"/>
                <a:cs typeface="Times New Roman"/>
              </a:rPr>
              <a:t>fl)</a:t>
            </a:r>
            <a:endParaRPr sz="36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925809" y="4133850"/>
            <a:ext cx="35750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55" dirty="0">
                <a:latin typeface="Arial"/>
                <a:cs typeface="Arial"/>
              </a:rPr>
              <a:t>16</a:t>
            </a:r>
            <a:endParaRPr sz="2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268993" y="3285066"/>
            <a:ext cx="4331970" cy="5969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4765" marR="5080" indent="-12700">
              <a:lnSpc>
                <a:spcPts val="2000"/>
              </a:lnSpc>
              <a:spcBef>
                <a:spcPts val="580"/>
              </a:spcBef>
            </a:pPr>
            <a:r>
              <a:rPr sz="2050" spc="-75" dirty="0">
                <a:latin typeface="Arial"/>
                <a:cs typeface="Arial"/>
              </a:rPr>
              <a:t>Interaction</a:t>
            </a:r>
            <a:r>
              <a:rPr sz="2050" spc="-70" dirty="0">
                <a:latin typeface="Arial"/>
                <a:cs typeface="Arial"/>
              </a:rPr>
              <a:t> </a:t>
            </a:r>
            <a:r>
              <a:rPr sz="2050" spc="-130" dirty="0">
                <a:latin typeface="Arial"/>
                <a:cs typeface="Arial"/>
              </a:rPr>
              <a:t>des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spc="-70" dirty="0">
                <a:latin typeface="Arial"/>
                <a:cs typeface="Arial"/>
              </a:rPr>
              <a:t>1s</a:t>
            </a:r>
            <a:r>
              <a:rPr sz="2050" spc="-130" dirty="0">
                <a:latin typeface="Arial"/>
                <a:cs typeface="Arial"/>
              </a:rPr>
              <a:t> </a:t>
            </a:r>
            <a:r>
              <a:rPr sz="2050" spc="-105" dirty="0">
                <a:latin typeface="Arial"/>
                <a:cs typeface="Arial"/>
              </a:rPr>
              <a:t>systèmes</a:t>
            </a:r>
            <a:r>
              <a:rPr sz="2050" spc="-40" dirty="0">
                <a:latin typeface="Arial"/>
                <a:cs typeface="Arial"/>
              </a:rPr>
              <a:t> </a:t>
            </a:r>
            <a:r>
              <a:rPr sz="2050" spc="-120" dirty="0">
                <a:latin typeface="Arial"/>
                <a:cs typeface="Arial"/>
              </a:rPr>
              <a:t>Biologiques</a:t>
            </a:r>
            <a:r>
              <a:rPr sz="2050" spc="6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: </a:t>
            </a:r>
            <a:r>
              <a:rPr sz="2050" spc="-190" dirty="0">
                <a:latin typeface="Arial"/>
                <a:cs typeface="Arial"/>
              </a:rPr>
              <a:t>Assure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30" dirty="0">
                <a:latin typeface="Arial"/>
                <a:cs typeface="Arial"/>
              </a:rPr>
              <a:t>la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cohérence</a:t>
            </a:r>
            <a:r>
              <a:rPr sz="2050" spc="50" dirty="0">
                <a:latin typeface="Arial"/>
                <a:cs typeface="Arial"/>
              </a:rPr>
              <a:t> </a:t>
            </a:r>
            <a:r>
              <a:rPr sz="2050" spc="-40" dirty="0">
                <a:latin typeface="Arial"/>
                <a:cs typeface="Arial"/>
              </a:rPr>
              <a:t>biologique.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67632" y="4587169"/>
            <a:ext cx="4886960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882265" algn="l"/>
                <a:tab pos="4342130" algn="l"/>
              </a:tabLst>
            </a:pPr>
            <a:r>
              <a:rPr sz="3650" spc="125" dirty="0">
                <a:latin typeface="Times New Roman"/>
                <a:cs typeface="Times New Roman"/>
              </a:rPr>
              <a:t>/f›(*</a:t>
            </a:r>
            <a:r>
              <a:rPr sz="3225" spc="187" baseline="3875" dirty="0">
                <a:latin typeface="Times New Roman"/>
                <a:cs typeface="Times New Roman"/>
              </a:rPr>
              <a:t>le</a:t>
            </a:r>
            <a:r>
              <a:rPr sz="3650" spc="125" dirty="0">
                <a:latin typeface="Times New Roman"/>
                <a:cs typeface="Times New Roman"/>
              </a:rPr>
              <a:t>)</a:t>
            </a:r>
            <a:r>
              <a:rPr sz="3650" spc="-75" dirty="0">
                <a:latin typeface="Times New Roman"/>
                <a:cs typeface="Times New Roman"/>
              </a:rPr>
              <a:t> </a:t>
            </a:r>
            <a:r>
              <a:rPr sz="3650" spc="204" dirty="0">
                <a:latin typeface="Times New Roman"/>
                <a:cs typeface="Times New Roman"/>
              </a:rPr>
              <a:t>+</a:t>
            </a:r>
            <a:r>
              <a:rPr sz="3650" spc="70" dirty="0">
                <a:latin typeface="Times New Roman"/>
                <a:cs typeface="Times New Roman"/>
              </a:rPr>
              <a:t> </a:t>
            </a:r>
            <a:r>
              <a:rPr sz="3650" spc="-600" dirty="0">
                <a:latin typeface="Times New Roman"/>
                <a:cs typeface="Times New Roman"/>
              </a:rPr>
              <a:t>•</a:t>
            </a:r>
            <a:r>
              <a:rPr sz="3650" spc="-90" dirty="0">
                <a:latin typeface="Times New Roman"/>
                <a:cs typeface="Times New Roman"/>
              </a:rPr>
              <a:t> </a:t>
            </a:r>
            <a:r>
              <a:rPr sz="3650" spc="-600" dirty="0">
                <a:latin typeface="Times New Roman"/>
                <a:cs typeface="Times New Roman"/>
              </a:rPr>
              <a:t>•</a:t>
            </a:r>
            <a:r>
              <a:rPr sz="3650" spc="-204" dirty="0">
                <a:latin typeface="Times New Roman"/>
                <a:cs typeface="Times New Roman"/>
              </a:rPr>
              <a:t> </a:t>
            </a:r>
            <a:r>
              <a:rPr sz="3650" i="1" spc="-600" dirty="0">
                <a:latin typeface="Times New Roman"/>
                <a:cs typeface="Times New Roman"/>
              </a:rPr>
              <a:t>•</a:t>
            </a:r>
            <a:r>
              <a:rPr sz="3650" i="1" spc="-25" dirty="0">
                <a:latin typeface="Times New Roman"/>
                <a:cs typeface="Times New Roman"/>
              </a:rPr>
              <a:t> </a:t>
            </a:r>
            <a:r>
              <a:rPr sz="3650" i="1" spc="-1210" dirty="0">
                <a:solidFill>
                  <a:srgbClr val="111111"/>
                </a:solidFill>
                <a:latin typeface="Times New Roman"/>
                <a:cs typeface="Times New Roman"/>
              </a:rPr>
              <a:t>+</a:t>
            </a:r>
            <a:r>
              <a:rPr sz="3650" i="1" dirty="0">
                <a:solidFill>
                  <a:srgbClr val="111111"/>
                </a:solidFill>
                <a:latin typeface="Times New Roman"/>
                <a:cs typeface="Times New Roman"/>
              </a:rPr>
              <a:t>	</a:t>
            </a:r>
            <a:r>
              <a:rPr sz="3650" spc="-10" dirty="0">
                <a:latin typeface="Times New Roman"/>
                <a:cs typeface="Times New Roman"/>
              </a:rPr>
              <a:t>/PINo(</a:t>
            </a:r>
            <a:r>
              <a:rPr sz="3650" dirty="0">
                <a:latin typeface="Times New Roman"/>
                <a:cs typeface="Times New Roman"/>
              </a:rPr>
              <a:t>	</a:t>
            </a:r>
            <a:r>
              <a:rPr sz="5475" spc="-630" baseline="-2283" dirty="0">
                <a:latin typeface="Times New Roman"/>
                <a:cs typeface="Times New Roman"/>
              </a:rPr>
              <a:t>i</a:t>
            </a:r>
            <a:r>
              <a:rPr sz="5475" spc="112" baseline="-2283" dirty="0">
                <a:latin typeface="Times New Roman"/>
                <a:cs typeface="Times New Roman"/>
              </a:rPr>
              <a:t> </a:t>
            </a:r>
            <a:r>
              <a:rPr sz="5475" i="1" spc="-1620" baseline="-2283" dirty="0">
                <a:latin typeface="Times New Roman"/>
                <a:cs typeface="Times New Roman"/>
              </a:rPr>
              <a:t>PC</a:t>
            </a:r>
            <a:endParaRPr sz="5475" baseline="-2283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99062" y="5683955"/>
            <a:ext cx="4520565" cy="58864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 indent="409575">
              <a:lnSpc>
                <a:spcPts val="2100"/>
              </a:lnSpc>
              <a:spcBef>
                <a:spcPts val="365"/>
              </a:spcBef>
            </a:pPr>
            <a:r>
              <a:rPr sz="1950" spc="-95" dirty="0">
                <a:latin typeface="Arial"/>
                <a:cs typeface="Arial"/>
              </a:rPr>
              <a:t>Tenseur</a:t>
            </a:r>
            <a:r>
              <a:rPr sz="1950" spc="45" dirty="0">
                <a:latin typeface="Arial"/>
                <a:cs typeface="Arial"/>
              </a:rPr>
              <a:t> </a:t>
            </a:r>
            <a:r>
              <a:rPr sz="1950" spc="-110" dirty="0">
                <a:latin typeface="Arial"/>
                <a:cs typeface="Arial"/>
              </a:rPr>
              <a:t>de</a:t>
            </a:r>
            <a:r>
              <a:rPr sz="1950" spc="-120" dirty="0">
                <a:latin typeface="Arial"/>
                <a:cs typeface="Arial"/>
              </a:rPr>
              <a:t> </a:t>
            </a:r>
            <a:r>
              <a:rPr sz="1950" spc="-45" dirty="0">
                <a:latin typeface="Arial"/>
                <a:cs typeface="Arial"/>
              </a:rPr>
              <a:t>Diffusion</a:t>
            </a:r>
            <a:r>
              <a:rPr sz="1950" spc="-105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:</a:t>
            </a:r>
            <a:r>
              <a:rPr sz="1950" spc="-75" dirty="0">
                <a:latin typeface="Arial"/>
                <a:cs typeface="Arial"/>
              </a:rPr>
              <a:t> </a:t>
            </a:r>
            <a:r>
              <a:rPr sz="1950" spc="-95" dirty="0">
                <a:latin typeface="Arial"/>
                <a:cs typeface="Arial"/>
              </a:rPr>
              <a:t>Incorpore</a:t>
            </a:r>
            <a:r>
              <a:rPr sz="1950" spc="40" dirty="0">
                <a:latin typeface="Arial"/>
                <a:cs typeface="Arial"/>
              </a:rPr>
              <a:t> </a:t>
            </a:r>
            <a:r>
              <a:rPr sz="1950" spc="-25" dirty="0">
                <a:latin typeface="Arial"/>
                <a:cs typeface="Arial"/>
              </a:rPr>
              <a:t>les effets</a:t>
            </a:r>
            <a:r>
              <a:rPr sz="1950" spc="-110" dirty="0">
                <a:latin typeface="Arial"/>
                <a:cs typeface="Arial"/>
              </a:rPr>
              <a:t> de</a:t>
            </a:r>
            <a:r>
              <a:rPr sz="1950" spc="-95" dirty="0">
                <a:latin typeface="Arial"/>
                <a:cs typeface="Arial"/>
              </a:rPr>
              <a:t> </a:t>
            </a:r>
            <a:r>
              <a:rPr sz="1950" spc="-85" dirty="0">
                <a:latin typeface="Arial"/>
                <a:cs typeface="Arial"/>
              </a:rPr>
              <a:t>l'environnement</a:t>
            </a:r>
            <a:r>
              <a:rPr sz="1950" spc="-50" dirty="0">
                <a:latin typeface="Arial"/>
                <a:cs typeface="Arial"/>
              </a:rPr>
              <a:t> </a:t>
            </a:r>
            <a:r>
              <a:rPr sz="1950" spc="-45" dirty="0">
                <a:latin typeface="Arial"/>
                <a:cs typeface="Arial"/>
              </a:rPr>
              <a:t>(rigidité,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-80" dirty="0">
                <a:latin typeface="Arial"/>
                <a:cs typeface="Arial"/>
              </a:rPr>
              <a:t>oxygène).</a:t>
            </a:r>
            <a:endParaRPr sz="1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5207" y="7817379"/>
            <a:ext cx="4631690" cy="108140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95"/>
              </a:spcBef>
            </a:pPr>
            <a:r>
              <a:rPr sz="2300" spc="-135" dirty="0">
                <a:latin typeface="Arial"/>
                <a:cs typeface="Arial"/>
              </a:rPr>
              <a:t>Étape1</a:t>
            </a:r>
            <a:r>
              <a:rPr sz="2300" spc="-355" dirty="0">
                <a:latin typeface="Arial"/>
                <a:cs typeface="Arial"/>
              </a:rPr>
              <a:t> </a:t>
            </a:r>
            <a:r>
              <a:rPr sz="2300" spc="-70" dirty="0">
                <a:latin typeface="Arial"/>
                <a:cs typeface="Arial"/>
              </a:rPr>
              <a:t>:</a:t>
            </a:r>
            <a:r>
              <a:rPr sz="2300" spc="-90" dirty="0">
                <a:latin typeface="Arial"/>
                <a:cs typeface="Arial"/>
              </a:rPr>
              <a:t> </a:t>
            </a:r>
            <a:r>
              <a:rPr sz="2300" spc="-165" dirty="0">
                <a:latin typeface="Arial"/>
                <a:cs typeface="Arial"/>
              </a:rPr>
              <a:t>Création</a:t>
            </a:r>
            <a:r>
              <a:rPr sz="2300" spc="15" dirty="0">
                <a:latin typeface="Arial"/>
                <a:cs typeface="Arial"/>
              </a:rPr>
              <a:t> </a:t>
            </a:r>
            <a:r>
              <a:rPr sz="2300" spc="-110" dirty="0">
                <a:latin typeface="Arial"/>
                <a:cs typeface="Arial"/>
              </a:rPr>
              <a:t>du</a:t>
            </a:r>
            <a:r>
              <a:rPr sz="2300" spc="-165" dirty="0">
                <a:latin typeface="Arial"/>
                <a:cs typeface="Arial"/>
              </a:rPr>
              <a:t> </a:t>
            </a:r>
            <a:r>
              <a:rPr sz="2300" spc="-215" dirty="0">
                <a:latin typeface="Arial"/>
                <a:cs typeface="Arial"/>
              </a:rPr>
              <a:t>Jumeau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-105" dirty="0">
                <a:latin typeface="Arial"/>
                <a:cs typeface="Arial"/>
              </a:rPr>
              <a:t>Numérique</a:t>
            </a:r>
            <a:endParaRPr sz="2300">
              <a:latin typeface="Arial"/>
              <a:cs typeface="Arial"/>
            </a:endParaRPr>
          </a:p>
          <a:p>
            <a:pPr marL="574675" marR="567690" algn="ctr">
              <a:lnSpc>
                <a:spcPts val="2100"/>
              </a:lnSpc>
              <a:spcBef>
                <a:spcPts val="860"/>
              </a:spcBef>
            </a:pPr>
            <a:r>
              <a:rPr sz="2050" spc="-204" dirty="0">
                <a:latin typeface="Arial"/>
                <a:cs typeface="Arial"/>
              </a:rPr>
              <a:t>Les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-145" dirty="0">
                <a:latin typeface="Arial"/>
                <a:cs typeface="Arial"/>
              </a:rPr>
              <a:t>données</a:t>
            </a:r>
            <a:r>
              <a:rPr sz="2050" spc="35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existantes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spc="-125" dirty="0">
                <a:latin typeface="Arial"/>
                <a:cs typeface="Arial"/>
              </a:rPr>
              <a:t>du</a:t>
            </a:r>
            <a:r>
              <a:rPr sz="2050" spc="-210" dirty="0">
                <a:latin typeface="Arial"/>
                <a:cs typeface="Arial"/>
              </a:rPr>
              <a:t> </a:t>
            </a:r>
            <a:r>
              <a:rPr sz="2050" spc="-90" dirty="0">
                <a:latin typeface="Arial"/>
                <a:cs typeface="Arial"/>
              </a:rPr>
              <a:t>patient initialisent</a:t>
            </a:r>
            <a:r>
              <a:rPr sz="2050" spc="55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le</a:t>
            </a:r>
            <a:r>
              <a:rPr sz="2050" spc="-150" dirty="0">
                <a:latin typeface="Arial"/>
                <a:cs typeface="Arial"/>
              </a:rPr>
              <a:t> </a:t>
            </a:r>
            <a:r>
              <a:rPr sz="2050" spc="-10" dirty="0">
                <a:latin typeface="Arial"/>
                <a:cs typeface="Arial"/>
              </a:rPr>
              <a:t>modéle.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797558" y="5123391"/>
            <a:ext cx="64770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254" dirty="0">
                <a:latin typeface="Arial"/>
                <a:cs typeface="Arial"/>
              </a:rPr>
              <a:t>k—</a:t>
            </a:r>
            <a:r>
              <a:rPr sz="2700" spc="-110" dirty="0">
                <a:latin typeface="Arial"/>
                <a:cs typeface="Arial"/>
              </a:rPr>
              <a:t>1</a:t>
            </a:r>
            <a:endParaRPr sz="27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402550" y="5683955"/>
            <a:ext cx="6724015" cy="59499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 indent="294005">
              <a:lnSpc>
                <a:spcPts val="2150"/>
              </a:lnSpc>
              <a:spcBef>
                <a:spcPts val="325"/>
              </a:spcBef>
            </a:pPr>
            <a:r>
              <a:rPr sz="1950" spc="-125" dirty="0">
                <a:latin typeface="Arial"/>
                <a:cs typeface="Arial"/>
              </a:rPr>
              <a:t>Terme</a:t>
            </a:r>
            <a:r>
              <a:rPr sz="1950" spc="-75" dirty="0">
                <a:latin typeface="Arial"/>
                <a:cs typeface="Arial"/>
              </a:rPr>
              <a:t> </a:t>
            </a:r>
            <a:r>
              <a:rPr sz="1950" spc="-105" dirty="0">
                <a:latin typeface="Arial"/>
                <a:cs typeface="Arial"/>
              </a:rPr>
              <a:t>de</a:t>
            </a:r>
            <a:r>
              <a:rPr sz="1950" spc="-65" dirty="0">
                <a:latin typeface="Arial"/>
                <a:cs typeface="Arial"/>
              </a:rPr>
              <a:t> </a:t>
            </a:r>
            <a:r>
              <a:rPr sz="1950" spc="-55" dirty="0">
                <a:latin typeface="Arial"/>
                <a:cs typeface="Arial"/>
              </a:rPr>
              <a:t>Correction</a:t>
            </a:r>
            <a:r>
              <a:rPr sz="1950" spc="-60" dirty="0">
                <a:latin typeface="Arial"/>
                <a:cs typeface="Arial"/>
              </a:rPr>
              <a:t> </a:t>
            </a:r>
            <a:r>
              <a:rPr sz="1950" spc="-215" dirty="0">
                <a:latin typeface="Arial"/>
                <a:cs typeface="Arial"/>
              </a:rPr>
              <a:t>PINO</a:t>
            </a:r>
            <a:r>
              <a:rPr sz="1950" spc="-60" dirty="0">
                <a:latin typeface="Arial"/>
                <a:cs typeface="Arial"/>
              </a:rPr>
              <a:t> </a:t>
            </a:r>
            <a:r>
              <a:rPr sz="1950" spc="-95" dirty="0">
                <a:solidFill>
                  <a:srgbClr val="0C0C0C"/>
                </a:solidFill>
                <a:latin typeface="Arial"/>
                <a:cs typeface="Arial"/>
              </a:rPr>
              <a:t>:</a:t>
            </a:r>
            <a:r>
              <a:rPr sz="1950" spc="-7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950" spc="-100" dirty="0">
                <a:latin typeface="Arial"/>
                <a:cs typeface="Arial"/>
              </a:rPr>
              <a:t>Permet</a:t>
            </a:r>
            <a:r>
              <a:rPr sz="1950" spc="90" dirty="0">
                <a:latin typeface="Arial"/>
                <a:cs typeface="Arial"/>
              </a:rPr>
              <a:t> </a:t>
            </a:r>
            <a:r>
              <a:rPr sz="1950" spc="-185" dirty="0">
                <a:latin typeface="Arial"/>
                <a:cs typeface="Arial"/>
              </a:rPr>
              <a:t>au</a:t>
            </a:r>
            <a:r>
              <a:rPr sz="1950" spc="-40" dirty="0">
                <a:latin typeface="Arial"/>
                <a:cs typeface="Arial"/>
              </a:rPr>
              <a:t> </a:t>
            </a:r>
            <a:r>
              <a:rPr sz="1950" spc="-130" dirty="0">
                <a:latin typeface="Arial"/>
                <a:cs typeface="Arial"/>
              </a:rPr>
              <a:t>réseau</a:t>
            </a:r>
            <a:r>
              <a:rPr sz="1950" spc="15" dirty="0">
                <a:latin typeface="Arial"/>
                <a:cs typeface="Arial"/>
              </a:rPr>
              <a:t> </a:t>
            </a:r>
            <a:r>
              <a:rPr sz="1950" spc="-10" dirty="0">
                <a:latin typeface="Arial"/>
                <a:cs typeface="Arial"/>
              </a:rPr>
              <a:t>neuronal </a:t>
            </a:r>
            <a:r>
              <a:rPr sz="1950" spc="-95" dirty="0">
                <a:latin typeface="Arial"/>
                <a:cs typeface="Arial"/>
              </a:rPr>
              <a:t>d'apprendre</a:t>
            </a:r>
            <a:r>
              <a:rPr sz="1950" spc="-40" dirty="0">
                <a:latin typeface="Arial"/>
                <a:cs typeface="Arial"/>
              </a:rPr>
              <a:t> </a:t>
            </a:r>
            <a:r>
              <a:rPr sz="1950" spc="-190" dirty="0">
                <a:latin typeface="Arial"/>
                <a:cs typeface="Arial"/>
              </a:rPr>
              <a:t>à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-30" dirty="0">
                <a:latin typeface="Arial"/>
                <a:cs typeface="Arial"/>
              </a:rPr>
              <a:t>partir</a:t>
            </a:r>
            <a:r>
              <a:rPr sz="1950" spc="-95" dirty="0">
                <a:latin typeface="Arial"/>
                <a:cs typeface="Arial"/>
              </a:rPr>
              <a:t> </a:t>
            </a:r>
            <a:r>
              <a:rPr sz="1950" spc="-140" dirty="0">
                <a:latin typeface="Arial"/>
                <a:cs typeface="Arial"/>
              </a:rPr>
              <a:t>des</a:t>
            </a:r>
            <a:r>
              <a:rPr sz="1950" spc="-5" dirty="0">
                <a:latin typeface="Arial"/>
                <a:cs typeface="Arial"/>
              </a:rPr>
              <a:t> </a:t>
            </a:r>
            <a:r>
              <a:rPr sz="1950" spc="-110" dirty="0">
                <a:latin typeface="Arial"/>
                <a:cs typeface="Arial"/>
              </a:rPr>
              <a:t>données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-20" dirty="0">
                <a:latin typeface="Arial"/>
                <a:cs typeface="Arial"/>
              </a:rPr>
              <a:t>tout</a:t>
            </a:r>
            <a:r>
              <a:rPr sz="1950" spc="-30" dirty="0">
                <a:latin typeface="Arial"/>
                <a:cs typeface="Arial"/>
              </a:rPr>
              <a:t> </a:t>
            </a:r>
            <a:r>
              <a:rPr sz="1950" spc="-130" dirty="0">
                <a:latin typeface="Arial"/>
                <a:cs typeface="Arial"/>
              </a:rPr>
              <a:t>en</a:t>
            </a:r>
            <a:r>
              <a:rPr sz="1950" spc="-145" dirty="0">
                <a:latin typeface="Arial"/>
                <a:cs typeface="Arial"/>
              </a:rPr>
              <a:t> </a:t>
            </a:r>
            <a:r>
              <a:rPr sz="1950" spc="-70" dirty="0">
                <a:latin typeface="Arial"/>
                <a:cs typeface="Arial"/>
              </a:rPr>
              <a:t>respectant</a:t>
            </a:r>
            <a:r>
              <a:rPr sz="1950" spc="40" dirty="0">
                <a:latin typeface="Arial"/>
                <a:cs typeface="Arial"/>
              </a:rPr>
              <a:t> </a:t>
            </a:r>
            <a:r>
              <a:rPr sz="1950" spc="-95" dirty="0">
                <a:latin typeface="Arial"/>
                <a:cs typeface="Arial"/>
              </a:rPr>
              <a:t>les</a:t>
            </a:r>
            <a:r>
              <a:rPr sz="1950" spc="-40" dirty="0">
                <a:latin typeface="Arial"/>
                <a:cs typeface="Arial"/>
              </a:rPr>
              <a:t> </a:t>
            </a:r>
            <a:r>
              <a:rPr sz="1950" spc="-55" dirty="0">
                <a:latin typeface="Arial"/>
                <a:cs typeface="Arial"/>
              </a:rPr>
              <a:t>équations.</a:t>
            </a:r>
            <a:endParaRPr sz="19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84168" y="7835253"/>
            <a:ext cx="4097654" cy="133032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R="635" algn="ctr">
              <a:lnSpc>
                <a:spcPct val="100000"/>
              </a:lnSpc>
              <a:spcBef>
                <a:spcPts val="605"/>
              </a:spcBef>
            </a:pPr>
            <a:r>
              <a:rPr sz="2150" spc="-114" dirty="0">
                <a:latin typeface="Arial"/>
                <a:cs typeface="Arial"/>
              </a:rPr>
              <a:t>Étape</a:t>
            </a:r>
            <a:r>
              <a:rPr sz="2150" spc="-15" dirty="0">
                <a:latin typeface="Arial"/>
                <a:cs typeface="Arial"/>
              </a:rPr>
              <a:t> </a:t>
            </a:r>
            <a:r>
              <a:rPr sz="2150" spc="-60" dirty="0">
                <a:latin typeface="Arial"/>
                <a:cs typeface="Arial"/>
              </a:rPr>
              <a:t>2</a:t>
            </a:r>
            <a:r>
              <a:rPr sz="2150" spc="-280" dirty="0">
                <a:latin typeface="Arial"/>
                <a:cs typeface="Arial"/>
              </a:rPr>
              <a:t> </a:t>
            </a:r>
            <a:r>
              <a:rPr sz="2150" spc="-30" dirty="0">
                <a:latin typeface="Arial"/>
                <a:cs typeface="Arial"/>
              </a:rPr>
              <a:t>:</a:t>
            </a:r>
            <a:r>
              <a:rPr sz="2150" spc="-180" dirty="0">
                <a:latin typeface="Arial"/>
                <a:cs typeface="Arial"/>
              </a:rPr>
              <a:t> </a:t>
            </a:r>
            <a:r>
              <a:rPr sz="2150" spc="-55" dirty="0">
                <a:latin typeface="Arial"/>
                <a:cs typeface="Arial"/>
              </a:rPr>
              <a:t>Simulation</a:t>
            </a:r>
            <a:r>
              <a:rPr sz="2150" spc="-60" dirty="0">
                <a:latin typeface="Arial"/>
                <a:cs typeface="Arial"/>
              </a:rPr>
              <a:t> </a:t>
            </a:r>
            <a:r>
              <a:rPr sz="2150" spc="-10" dirty="0">
                <a:latin typeface="Arial"/>
                <a:cs typeface="Arial"/>
              </a:rPr>
              <a:t>Contrainte</a:t>
            </a:r>
            <a:endParaRPr sz="2150">
              <a:latin typeface="Arial"/>
              <a:cs typeface="Arial"/>
            </a:endParaRPr>
          </a:p>
          <a:p>
            <a:pPr marL="12065" marR="5080" indent="14604" algn="ctr">
              <a:lnSpc>
                <a:spcPts val="2100"/>
              </a:lnSpc>
              <a:spcBef>
                <a:spcPts val="890"/>
              </a:spcBef>
            </a:pPr>
            <a:r>
              <a:rPr sz="2050" dirty="0">
                <a:latin typeface="Arial Narrow"/>
                <a:cs typeface="Arial Narrow"/>
              </a:rPr>
              <a:t>Le</a:t>
            </a:r>
            <a:r>
              <a:rPr sz="2050" spc="204" dirty="0">
                <a:latin typeface="Arial Narrow"/>
                <a:cs typeface="Arial Narrow"/>
              </a:rPr>
              <a:t> </a:t>
            </a:r>
            <a:r>
              <a:rPr sz="2050" dirty="0">
                <a:latin typeface="Arial Narrow"/>
                <a:cs typeface="Arial Narrow"/>
              </a:rPr>
              <a:t>modèle</a:t>
            </a:r>
            <a:r>
              <a:rPr sz="2050" spc="380" dirty="0">
                <a:latin typeface="Arial Narrow"/>
                <a:cs typeface="Arial Narrow"/>
              </a:rPr>
              <a:t> </a:t>
            </a:r>
            <a:r>
              <a:rPr sz="2050" dirty="0">
                <a:latin typeface="Arial Narrow"/>
                <a:cs typeface="Arial Narrow"/>
              </a:rPr>
              <a:t>simule</a:t>
            </a:r>
            <a:r>
              <a:rPr sz="2050" spc="160" dirty="0">
                <a:latin typeface="Arial Narrow"/>
                <a:cs typeface="Arial Narrow"/>
              </a:rPr>
              <a:t> </a:t>
            </a:r>
            <a:r>
              <a:rPr sz="2050" dirty="0">
                <a:latin typeface="Arial Narrow"/>
                <a:cs typeface="Arial Narrow"/>
              </a:rPr>
              <a:t>la</a:t>
            </a:r>
            <a:r>
              <a:rPr sz="2050" spc="105" dirty="0">
                <a:latin typeface="Arial Narrow"/>
                <a:cs typeface="Arial Narrow"/>
              </a:rPr>
              <a:t> </a:t>
            </a:r>
            <a:r>
              <a:rPr sz="2050" dirty="0">
                <a:latin typeface="Arial Narrow"/>
                <a:cs typeface="Arial Narrow"/>
              </a:rPr>
              <a:t>croissance</a:t>
            </a:r>
            <a:r>
              <a:rPr sz="2050" spc="315" dirty="0">
                <a:latin typeface="Arial Narrow"/>
                <a:cs typeface="Arial Narrow"/>
              </a:rPr>
              <a:t> </a:t>
            </a:r>
            <a:r>
              <a:rPr sz="2050" dirty="0">
                <a:latin typeface="Arial Narrow"/>
                <a:cs typeface="Arial Narrow"/>
              </a:rPr>
              <a:t>et</a:t>
            </a:r>
            <a:r>
              <a:rPr sz="2050" spc="285" dirty="0">
                <a:latin typeface="Arial Narrow"/>
                <a:cs typeface="Arial Narrow"/>
              </a:rPr>
              <a:t> </a:t>
            </a:r>
            <a:r>
              <a:rPr sz="2050" spc="-25" dirty="0">
                <a:latin typeface="Arial Narrow"/>
                <a:cs typeface="Arial Narrow"/>
              </a:rPr>
              <a:t>la </a:t>
            </a:r>
            <a:r>
              <a:rPr sz="2050" spc="-95" dirty="0">
                <a:latin typeface="Arial"/>
                <a:cs typeface="Arial"/>
              </a:rPr>
              <a:t>diffusion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-120" dirty="0">
                <a:latin typeface="Arial"/>
                <a:cs typeface="Arial"/>
              </a:rPr>
              <a:t>tumorale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en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respectant</a:t>
            </a:r>
            <a:r>
              <a:rPr sz="2050" spc="40" dirty="0">
                <a:latin typeface="Arial"/>
                <a:cs typeface="Arial"/>
              </a:rPr>
              <a:t> </a:t>
            </a:r>
            <a:r>
              <a:rPr sz="2050" spc="-130" dirty="0">
                <a:latin typeface="Arial"/>
                <a:cs typeface="Arial"/>
              </a:rPr>
              <a:t>les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lois </a:t>
            </a:r>
            <a:r>
              <a:rPr sz="2050" spc="-50" dirty="0">
                <a:latin typeface="Arial"/>
                <a:cs typeface="Arial"/>
              </a:rPr>
              <a:t>biophysiques.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019093" y="7772400"/>
            <a:ext cx="5381798" cy="1859138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R="562610" algn="ctr">
              <a:lnSpc>
                <a:spcPct val="100000"/>
              </a:lnSpc>
              <a:spcBef>
                <a:spcPts val="695"/>
              </a:spcBef>
            </a:pPr>
            <a:r>
              <a:rPr sz="2150" spc="-120" dirty="0">
                <a:latin typeface="Arial"/>
                <a:cs typeface="Arial"/>
              </a:rPr>
              <a:t>Étape</a:t>
            </a:r>
            <a:r>
              <a:rPr sz="2150" spc="-40" dirty="0">
                <a:latin typeface="Arial"/>
                <a:cs typeface="Arial"/>
              </a:rPr>
              <a:t> </a:t>
            </a:r>
            <a:r>
              <a:rPr sz="2150" spc="70" dirty="0">
                <a:latin typeface="Arial"/>
                <a:cs typeface="Arial"/>
              </a:rPr>
              <a:t>3</a:t>
            </a:r>
            <a:r>
              <a:rPr sz="2150" spc="-285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:</a:t>
            </a:r>
            <a:r>
              <a:rPr sz="2150" spc="-260" dirty="0">
                <a:latin typeface="Arial"/>
                <a:cs typeface="Arial"/>
              </a:rPr>
              <a:t> </a:t>
            </a:r>
            <a:r>
              <a:rPr sz="2150" spc="-80" dirty="0">
                <a:latin typeface="Arial"/>
                <a:cs typeface="Arial"/>
              </a:rPr>
              <a:t>Génération</a:t>
            </a:r>
            <a:r>
              <a:rPr sz="2150" spc="15" dirty="0">
                <a:latin typeface="Arial"/>
                <a:cs typeface="Arial"/>
              </a:rPr>
              <a:t> </a:t>
            </a:r>
            <a:r>
              <a:rPr sz="2150" spc="-60" dirty="0">
                <a:latin typeface="Arial"/>
                <a:cs typeface="Arial"/>
              </a:rPr>
              <a:t>de</a:t>
            </a:r>
            <a:r>
              <a:rPr sz="2150" spc="-315" dirty="0">
                <a:latin typeface="Arial"/>
                <a:cs typeface="Arial"/>
              </a:rPr>
              <a:t> </a:t>
            </a:r>
            <a:r>
              <a:rPr sz="2150" spc="-10" dirty="0">
                <a:latin typeface="Arial"/>
                <a:cs typeface="Arial"/>
              </a:rPr>
              <a:t>Données</a:t>
            </a:r>
            <a:endParaRPr sz="2150">
              <a:latin typeface="Arial"/>
              <a:cs typeface="Arial"/>
            </a:endParaRPr>
          </a:p>
          <a:p>
            <a:pPr marL="12700" marR="562610" algn="ctr">
              <a:lnSpc>
                <a:spcPts val="2100"/>
              </a:lnSpc>
              <a:spcBef>
                <a:spcPts val="890"/>
              </a:spcBef>
            </a:pPr>
            <a:r>
              <a:rPr sz="2000" spc="-145" dirty="0">
                <a:latin typeface="Arial"/>
                <a:cs typeface="Arial"/>
              </a:rPr>
              <a:t>Les</a:t>
            </a:r>
            <a:r>
              <a:rPr sz="2000" spc="-70" dirty="0">
                <a:latin typeface="Arial"/>
                <a:cs typeface="Arial"/>
              </a:rPr>
              <a:t> points </a:t>
            </a:r>
            <a:r>
              <a:rPr sz="2000" spc="-65" dirty="0">
                <a:latin typeface="Arial"/>
                <a:cs typeface="Arial"/>
              </a:rPr>
              <a:t>de </a:t>
            </a:r>
            <a:r>
              <a:rPr sz="2000" spc="-140" dirty="0">
                <a:latin typeface="Arial"/>
                <a:cs typeface="Arial"/>
              </a:rPr>
              <a:t>données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manquants</a:t>
            </a:r>
            <a:r>
              <a:rPr sz="2000" spc="8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sont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générés </a:t>
            </a:r>
            <a:r>
              <a:rPr sz="2000" spc="-95" dirty="0">
                <a:latin typeface="Arial"/>
                <a:cs typeface="Arial"/>
              </a:rPr>
              <a:t>par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la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simulation,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transformant</a:t>
            </a:r>
            <a:r>
              <a:rPr sz="2000" spc="45" dirty="0">
                <a:latin typeface="Arial"/>
                <a:cs typeface="Arial"/>
              </a:rPr>
              <a:t> </a:t>
            </a:r>
            <a:r>
              <a:rPr sz="2000" spc="-135" dirty="0">
                <a:latin typeface="Arial"/>
                <a:cs typeface="Arial"/>
              </a:rPr>
              <a:t>des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instantanés </a:t>
            </a:r>
            <a:r>
              <a:rPr sz="2000" spc="-75" dirty="0">
                <a:latin typeface="Arial"/>
                <a:cs typeface="Arial"/>
              </a:rPr>
              <a:t>discrets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en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trajectoires</a:t>
            </a:r>
            <a:r>
              <a:rPr sz="2000" spc="5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temporelles</a:t>
            </a:r>
            <a:r>
              <a:rPr sz="2000" spc="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continues et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cohérentes.</a:t>
            </a:r>
            <a:endParaRPr sz="20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280"/>
              </a:spcBef>
            </a:pPr>
            <a:r>
              <a:rPr sz="1300" dirty="0">
                <a:latin typeface="Arial"/>
                <a:cs typeface="Arial"/>
              </a:rPr>
              <a:t>G</a:t>
            </a:r>
            <a:r>
              <a:rPr sz="1300" spc="49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386" y="0"/>
            <a:ext cx="9142554" cy="8942479"/>
            <a:chOff x="203200" y="482600"/>
            <a:chExt cx="8534400" cy="8356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200" y="482600"/>
              <a:ext cx="8534400" cy="8356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89500" y="4940300"/>
              <a:ext cx="431800" cy="4572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891822" y="6757105"/>
            <a:ext cx="1087755" cy="565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095"/>
              </a:lnSpc>
              <a:spcBef>
                <a:spcPts val="95"/>
              </a:spcBef>
            </a:pPr>
            <a:r>
              <a:rPr sz="1950" spc="-90" dirty="0">
                <a:latin typeface="Arial"/>
                <a:cs typeface="Arial"/>
              </a:rPr>
              <a:t>complexité</a:t>
            </a:r>
            <a:endParaRPr sz="1950">
              <a:latin typeface="Arial"/>
              <a:cs typeface="Arial"/>
            </a:endParaRPr>
          </a:p>
          <a:p>
            <a:pPr marL="20320" algn="ctr">
              <a:lnSpc>
                <a:spcPts val="2155"/>
              </a:lnSpc>
            </a:pPr>
            <a:r>
              <a:rPr sz="2000" spc="-10" dirty="0">
                <a:latin typeface="Arial"/>
                <a:cs typeface="Arial"/>
              </a:rPr>
              <a:t>totale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61670" y="1998486"/>
            <a:ext cx="1076960" cy="57404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8415" marR="5080" indent="-6350">
              <a:lnSpc>
                <a:spcPct val="79200"/>
              </a:lnSpc>
              <a:spcBef>
                <a:spcPts val="610"/>
              </a:spcBef>
            </a:pPr>
            <a:r>
              <a:rPr sz="2000" spc="-140" dirty="0">
                <a:latin typeface="Arial"/>
                <a:cs typeface="Arial"/>
              </a:rPr>
              <a:t>complexité </a:t>
            </a:r>
            <a:r>
              <a:rPr sz="2000" spc="-10" dirty="0">
                <a:latin typeface="Arial"/>
                <a:cs typeface="Arial"/>
              </a:rPr>
              <a:t>totale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74898" y="4085166"/>
            <a:ext cx="1651635" cy="82550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 marR="5080" indent="24130" algn="ctr">
              <a:lnSpc>
                <a:spcPct val="77200"/>
              </a:lnSpc>
              <a:spcBef>
                <a:spcPts val="695"/>
              </a:spcBef>
            </a:pPr>
            <a:r>
              <a:rPr sz="2050" spc="-180" dirty="0">
                <a:latin typeface="Arial"/>
                <a:cs typeface="Arial"/>
              </a:rPr>
              <a:t>Théorie</a:t>
            </a:r>
            <a:r>
              <a:rPr sz="2050" spc="50" dirty="0">
                <a:latin typeface="Arial"/>
                <a:cs typeface="Arial"/>
              </a:rPr>
              <a:t> </a:t>
            </a:r>
            <a:r>
              <a:rPr sz="2050" spc="-215" dirty="0">
                <a:latin typeface="Arial"/>
                <a:cs typeface="Arial"/>
              </a:rPr>
              <a:t>de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spc="-25" dirty="0">
                <a:latin typeface="Arial"/>
                <a:cs typeface="Arial"/>
              </a:rPr>
              <a:t>la </a:t>
            </a:r>
            <a:r>
              <a:rPr sz="2050" spc="-60" dirty="0">
                <a:latin typeface="Arial"/>
                <a:cs typeface="Arial"/>
              </a:rPr>
              <a:t>Simplification </a:t>
            </a:r>
            <a:r>
              <a:rPr sz="2050" spc="-165" dirty="0">
                <a:latin typeface="Arial"/>
                <a:cs typeface="Arial"/>
              </a:rPr>
              <a:t>Essentielle</a:t>
            </a:r>
            <a:r>
              <a:rPr sz="2050" spc="90" dirty="0">
                <a:latin typeface="Arial"/>
                <a:cs typeface="Arial"/>
              </a:rPr>
              <a:t> </a:t>
            </a:r>
            <a:r>
              <a:rPr sz="2050" spc="-295" dirty="0">
                <a:latin typeface="Arial"/>
                <a:cs typeface="Arial"/>
              </a:rPr>
              <a:t>(EST)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94371" y="8005585"/>
            <a:ext cx="940435" cy="57404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53975" marR="5080" indent="-41910">
              <a:lnSpc>
                <a:spcPct val="79200"/>
              </a:lnSpc>
              <a:spcBef>
                <a:spcPts val="610"/>
              </a:spcBef>
            </a:pPr>
            <a:r>
              <a:rPr sz="2000" spc="-114" dirty="0">
                <a:latin typeface="Arial"/>
                <a:cs typeface="Arial"/>
              </a:rPr>
              <a:t>simplicité </a:t>
            </a:r>
            <a:r>
              <a:rPr sz="2000" spc="-55" dirty="0">
                <a:latin typeface="Arial"/>
                <a:cs typeface="Arial"/>
              </a:rPr>
              <a:t>pratique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206634" y="441677"/>
            <a:ext cx="7619365" cy="102489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 marR="5080">
              <a:lnSpc>
                <a:spcPts val="3700"/>
              </a:lnSpc>
              <a:spcBef>
                <a:spcPts val="610"/>
              </a:spcBef>
              <a:tabLst>
                <a:tab pos="4027804" algn="l"/>
              </a:tabLst>
            </a:pPr>
            <a:r>
              <a:rPr sz="3450" spc="-35" dirty="0">
                <a:latin typeface="Cambria"/>
                <a:cs typeface="Cambria"/>
              </a:rPr>
              <a:t>Le</a:t>
            </a:r>
            <a:r>
              <a:rPr sz="3450" spc="-160" dirty="0">
                <a:latin typeface="Cambria"/>
                <a:cs typeface="Cambria"/>
              </a:rPr>
              <a:t> </a:t>
            </a:r>
            <a:r>
              <a:rPr sz="3450" spc="-105" dirty="0">
                <a:latin typeface="Cambria"/>
                <a:cs typeface="Cambria"/>
              </a:rPr>
              <a:t>Pont</a:t>
            </a:r>
            <a:r>
              <a:rPr sz="3450" spc="-75" dirty="0">
                <a:latin typeface="Cambria"/>
                <a:cs typeface="Cambria"/>
              </a:rPr>
              <a:t> </a:t>
            </a:r>
            <a:r>
              <a:rPr sz="3450" spc="-70" dirty="0">
                <a:latin typeface="Cambria"/>
                <a:cs typeface="Cambria"/>
              </a:rPr>
              <a:t>Philosophique</a:t>
            </a:r>
            <a:r>
              <a:rPr sz="3450" dirty="0">
                <a:latin typeface="Cambria"/>
                <a:cs typeface="Cambria"/>
              </a:rPr>
              <a:t>	:</a:t>
            </a:r>
            <a:r>
              <a:rPr sz="3450" spc="-175" dirty="0">
                <a:latin typeface="Cambria"/>
                <a:cs typeface="Cambria"/>
              </a:rPr>
              <a:t> </a:t>
            </a:r>
            <a:r>
              <a:rPr sz="3450" spc="-105" dirty="0">
                <a:latin typeface="Cambria"/>
                <a:cs typeface="Cambria"/>
              </a:rPr>
              <a:t>Comment</a:t>
            </a:r>
            <a:r>
              <a:rPr sz="3450" spc="50" dirty="0">
                <a:latin typeface="Cambria"/>
                <a:cs typeface="Cambria"/>
              </a:rPr>
              <a:t> </a:t>
            </a:r>
            <a:r>
              <a:rPr sz="3450" spc="-135" dirty="0">
                <a:latin typeface="Cambria"/>
                <a:cs typeface="Cambria"/>
              </a:rPr>
              <a:t>Dompter </a:t>
            </a:r>
            <a:r>
              <a:rPr sz="3450" spc="-110" dirty="0">
                <a:latin typeface="Cambria"/>
                <a:cs typeface="Cambria"/>
              </a:rPr>
              <a:t>la</a:t>
            </a:r>
            <a:r>
              <a:rPr sz="3450" spc="-85" dirty="0">
                <a:latin typeface="Cambria"/>
                <a:cs typeface="Cambria"/>
              </a:rPr>
              <a:t> </a:t>
            </a:r>
            <a:r>
              <a:rPr sz="3450" spc="-90" dirty="0">
                <a:latin typeface="Cambria"/>
                <a:cs typeface="Cambria"/>
              </a:rPr>
              <a:t>Complexité</a:t>
            </a:r>
            <a:r>
              <a:rPr sz="3450" spc="-65" dirty="0">
                <a:latin typeface="Cambria"/>
                <a:cs typeface="Cambria"/>
              </a:rPr>
              <a:t> </a:t>
            </a:r>
            <a:r>
              <a:rPr sz="3450" spc="-125" dirty="0">
                <a:latin typeface="Cambria"/>
                <a:cs typeface="Cambria"/>
              </a:rPr>
              <a:t>sans</a:t>
            </a:r>
            <a:r>
              <a:rPr sz="3450" spc="-65" dirty="0">
                <a:latin typeface="Cambria"/>
                <a:cs typeface="Cambria"/>
              </a:rPr>
              <a:t> </a:t>
            </a:r>
            <a:r>
              <a:rPr sz="3450" spc="-160" dirty="0">
                <a:latin typeface="Cambria"/>
                <a:cs typeface="Cambria"/>
              </a:rPr>
              <a:t>Trahir</a:t>
            </a:r>
            <a:r>
              <a:rPr sz="3450" spc="-35" dirty="0">
                <a:latin typeface="Cambria"/>
                <a:cs typeface="Cambria"/>
              </a:rPr>
              <a:t> </a:t>
            </a:r>
            <a:r>
              <a:rPr sz="3450" spc="-10" dirty="0">
                <a:latin typeface="Cambria"/>
                <a:cs typeface="Cambria"/>
              </a:rPr>
              <a:t>la</a:t>
            </a:r>
            <a:r>
              <a:rPr sz="3450" spc="-175" dirty="0">
                <a:latin typeface="Cambria"/>
                <a:cs typeface="Cambria"/>
              </a:rPr>
              <a:t> </a:t>
            </a:r>
            <a:r>
              <a:rPr sz="3450" spc="-110" dirty="0">
                <a:latin typeface="Cambria"/>
                <a:cs typeface="Cambria"/>
              </a:rPr>
              <a:t>Réalité</a:t>
            </a:r>
            <a:r>
              <a:rPr sz="3450" spc="35" dirty="0">
                <a:latin typeface="Cambria"/>
                <a:cs typeface="Cambria"/>
              </a:rPr>
              <a:t> </a:t>
            </a:r>
            <a:r>
              <a:rPr sz="3450" spc="-50" dirty="0">
                <a:latin typeface="Cambria"/>
                <a:cs typeface="Cambria"/>
              </a:rPr>
              <a:t>?</a:t>
            </a:r>
            <a:endParaRPr sz="34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19847" y="1685572"/>
            <a:ext cx="7376159" cy="17284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180" dirty="0">
                <a:latin typeface="Arial"/>
                <a:cs typeface="Arial"/>
              </a:rPr>
              <a:t>Le</a:t>
            </a:r>
            <a:r>
              <a:rPr sz="2750" spc="-95" dirty="0">
                <a:latin typeface="Arial"/>
                <a:cs typeface="Arial"/>
              </a:rPr>
              <a:t> </a:t>
            </a:r>
            <a:r>
              <a:rPr sz="2750" spc="-130" dirty="0">
                <a:latin typeface="Arial"/>
                <a:cs typeface="Arial"/>
              </a:rPr>
              <a:t>Dilemme</a:t>
            </a:r>
            <a:r>
              <a:rPr sz="2750" spc="-60" dirty="0">
                <a:latin typeface="Arial"/>
                <a:cs typeface="Arial"/>
              </a:rPr>
              <a:t> </a:t>
            </a:r>
            <a:r>
              <a:rPr sz="2750" spc="-95" dirty="0">
                <a:latin typeface="Arial"/>
                <a:cs typeface="Arial"/>
              </a:rPr>
              <a:t>Fondamental</a:t>
            </a:r>
            <a:r>
              <a:rPr sz="2750" spc="110" dirty="0">
                <a:latin typeface="Arial"/>
                <a:cs typeface="Arial"/>
              </a:rPr>
              <a:t> </a:t>
            </a:r>
            <a:r>
              <a:rPr sz="2750" spc="-30" dirty="0">
                <a:latin typeface="Arial"/>
                <a:cs typeface="Arial"/>
              </a:rPr>
              <a:t>de</a:t>
            </a:r>
            <a:r>
              <a:rPr sz="2750" spc="-114" dirty="0">
                <a:latin typeface="Arial"/>
                <a:cs typeface="Arial"/>
              </a:rPr>
              <a:t> </a:t>
            </a:r>
            <a:r>
              <a:rPr sz="2750" spc="-75" dirty="0">
                <a:latin typeface="Arial"/>
                <a:cs typeface="Arial"/>
              </a:rPr>
              <a:t>la</a:t>
            </a:r>
            <a:r>
              <a:rPr sz="2750" spc="-114" dirty="0">
                <a:latin typeface="Arial"/>
                <a:cs typeface="Arial"/>
              </a:rPr>
              <a:t> Science</a:t>
            </a:r>
            <a:r>
              <a:rPr sz="2750" spc="-60" dirty="0">
                <a:latin typeface="Arial"/>
                <a:cs typeface="Arial"/>
              </a:rPr>
              <a:t> </a:t>
            </a:r>
            <a:r>
              <a:rPr sz="2750" spc="-75" dirty="0">
                <a:latin typeface="Arial"/>
                <a:cs typeface="Arial"/>
              </a:rPr>
              <a:t>Moderne</a:t>
            </a:r>
            <a:r>
              <a:rPr sz="2750" spc="-114" dirty="0">
                <a:latin typeface="Arial"/>
                <a:cs typeface="Arial"/>
              </a:rPr>
              <a:t> </a:t>
            </a:r>
            <a:r>
              <a:rPr sz="2750" spc="-50" dirty="0">
                <a:latin typeface="Arial"/>
                <a:cs typeface="Arial"/>
              </a:rPr>
              <a:t>:</a:t>
            </a:r>
            <a:endParaRPr sz="2750">
              <a:latin typeface="Arial"/>
              <a:cs typeface="Arial"/>
            </a:endParaRPr>
          </a:p>
          <a:p>
            <a:pPr marL="375920" indent="-198120">
              <a:lnSpc>
                <a:spcPts val="2420"/>
              </a:lnSpc>
              <a:spcBef>
                <a:spcPts val="50"/>
              </a:spcBef>
              <a:buChar char="•"/>
              <a:tabLst>
                <a:tab pos="375920" algn="l"/>
              </a:tabLst>
            </a:pPr>
            <a:r>
              <a:rPr sz="2200" dirty="0">
                <a:latin typeface="Arial Narrow"/>
                <a:cs typeface="Arial Narrow"/>
              </a:rPr>
              <a:t>La</a:t>
            </a:r>
            <a:r>
              <a:rPr sz="2200" spc="120" dirty="0">
                <a:latin typeface="Arial Narrow"/>
                <a:cs typeface="Arial Narrow"/>
              </a:rPr>
              <a:t> </a:t>
            </a:r>
            <a:r>
              <a:rPr sz="2200" dirty="0">
                <a:latin typeface="Arial Narrow"/>
                <a:cs typeface="Arial Narrow"/>
              </a:rPr>
              <a:t>complexité</a:t>
            </a:r>
            <a:r>
              <a:rPr sz="2200" spc="114" dirty="0">
                <a:latin typeface="Arial Narrow"/>
                <a:cs typeface="Arial Narrow"/>
              </a:rPr>
              <a:t> </a:t>
            </a:r>
            <a:r>
              <a:rPr sz="2200" dirty="0">
                <a:latin typeface="Arial Narrow"/>
                <a:cs typeface="Arial Narrow"/>
              </a:rPr>
              <a:t>totale</a:t>
            </a:r>
            <a:r>
              <a:rPr sz="2200" spc="75" dirty="0">
                <a:latin typeface="Arial Narrow"/>
                <a:cs typeface="Arial Narrow"/>
              </a:rPr>
              <a:t> </a:t>
            </a:r>
            <a:r>
              <a:rPr sz="2200" dirty="0">
                <a:latin typeface="Arial Narrow"/>
                <a:cs typeface="Arial Narrow"/>
              </a:rPr>
              <a:t>est</a:t>
            </a:r>
            <a:r>
              <a:rPr sz="2200" spc="40" dirty="0">
                <a:latin typeface="Arial Narrow"/>
                <a:cs typeface="Arial Narrow"/>
              </a:rPr>
              <a:t> </a:t>
            </a:r>
            <a:r>
              <a:rPr sz="2200" dirty="0">
                <a:latin typeface="Arial Narrow"/>
                <a:cs typeface="Arial Narrow"/>
              </a:rPr>
              <a:t>nécessaire</a:t>
            </a:r>
            <a:r>
              <a:rPr sz="2200" spc="195" dirty="0">
                <a:latin typeface="Arial Narrow"/>
                <a:cs typeface="Arial Narrow"/>
              </a:rPr>
              <a:t> </a:t>
            </a:r>
            <a:r>
              <a:rPr sz="2200" dirty="0">
                <a:latin typeface="Arial Narrow"/>
                <a:cs typeface="Arial Narrow"/>
              </a:rPr>
              <a:t>pour</a:t>
            </a:r>
            <a:r>
              <a:rPr sz="2200" spc="235" dirty="0">
                <a:latin typeface="Arial Narrow"/>
                <a:cs typeface="Arial Narrow"/>
              </a:rPr>
              <a:t> </a:t>
            </a:r>
            <a:r>
              <a:rPr sz="2200" dirty="0">
                <a:latin typeface="Arial Narrow"/>
                <a:cs typeface="Arial Narrow"/>
              </a:rPr>
              <a:t>représenter</a:t>
            </a:r>
            <a:r>
              <a:rPr sz="2200" spc="229" dirty="0">
                <a:latin typeface="Arial Narrow"/>
                <a:cs typeface="Arial Narrow"/>
              </a:rPr>
              <a:t> </a:t>
            </a:r>
            <a:r>
              <a:rPr sz="2200" dirty="0">
                <a:latin typeface="Arial Narrow"/>
                <a:cs typeface="Arial Narrow"/>
              </a:rPr>
              <a:t>fidèlement</a:t>
            </a:r>
            <a:r>
              <a:rPr sz="2200" spc="315" dirty="0">
                <a:latin typeface="Arial Narrow"/>
                <a:cs typeface="Arial Narrow"/>
              </a:rPr>
              <a:t> </a:t>
            </a:r>
            <a:r>
              <a:rPr sz="2200" spc="-25" dirty="0">
                <a:latin typeface="Arial Narrow"/>
                <a:cs typeface="Arial Narrow"/>
              </a:rPr>
              <a:t>la</a:t>
            </a:r>
            <a:endParaRPr sz="2200">
              <a:latin typeface="Arial Narrow"/>
              <a:cs typeface="Arial Narrow"/>
            </a:endParaRPr>
          </a:p>
          <a:p>
            <a:pPr marL="377190">
              <a:lnSpc>
                <a:spcPts val="2605"/>
              </a:lnSpc>
            </a:pPr>
            <a:r>
              <a:rPr sz="2500" spc="-10" dirty="0">
                <a:latin typeface="Arial Narrow"/>
                <a:cs typeface="Arial Narrow"/>
              </a:rPr>
              <a:t>réalité.</a:t>
            </a:r>
            <a:endParaRPr sz="2500">
              <a:latin typeface="Arial Narrow"/>
              <a:cs typeface="Arial Narrow"/>
            </a:endParaRPr>
          </a:p>
          <a:p>
            <a:pPr marL="375920" indent="-198755">
              <a:lnSpc>
                <a:spcPts val="2535"/>
              </a:lnSpc>
              <a:buChar char="•"/>
              <a:tabLst>
                <a:tab pos="375920" algn="l"/>
              </a:tabLst>
            </a:pPr>
            <a:r>
              <a:rPr sz="2350" spc="-90" dirty="0">
                <a:latin typeface="Arial Narrow"/>
                <a:cs typeface="Arial Narrow"/>
              </a:rPr>
              <a:t>La</a:t>
            </a:r>
            <a:r>
              <a:rPr sz="2350" spc="-40" dirty="0">
                <a:latin typeface="Arial Narrow"/>
                <a:cs typeface="Arial Narrow"/>
              </a:rPr>
              <a:t> </a:t>
            </a:r>
            <a:r>
              <a:rPr sz="2350" dirty="0">
                <a:latin typeface="Arial Narrow"/>
                <a:cs typeface="Arial Narrow"/>
              </a:rPr>
              <a:t>simplicité</a:t>
            </a:r>
            <a:r>
              <a:rPr sz="2350" spc="-60" dirty="0">
                <a:latin typeface="Arial Narrow"/>
                <a:cs typeface="Arial Narrow"/>
              </a:rPr>
              <a:t> </a:t>
            </a:r>
            <a:r>
              <a:rPr sz="2350" dirty="0">
                <a:latin typeface="Arial Narrow"/>
                <a:cs typeface="Arial Narrow"/>
              </a:rPr>
              <a:t>pratique</a:t>
            </a:r>
            <a:r>
              <a:rPr sz="2350" spc="-135" dirty="0">
                <a:latin typeface="Arial Narrow"/>
                <a:cs typeface="Arial Narrow"/>
              </a:rPr>
              <a:t> </a:t>
            </a:r>
            <a:r>
              <a:rPr sz="2350" dirty="0">
                <a:latin typeface="Arial Narrow"/>
                <a:cs typeface="Arial Narrow"/>
              </a:rPr>
              <a:t>est</a:t>
            </a:r>
            <a:r>
              <a:rPr sz="2350" spc="-60" dirty="0">
                <a:latin typeface="Arial Narrow"/>
                <a:cs typeface="Arial Narrow"/>
              </a:rPr>
              <a:t> </a:t>
            </a:r>
            <a:r>
              <a:rPr sz="2350" spc="-50" dirty="0">
                <a:latin typeface="Arial Narrow"/>
                <a:cs typeface="Arial Narrow"/>
              </a:rPr>
              <a:t>essentielle</a:t>
            </a:r>
            <a:r>
              <a:rPr sz="2350" spc="-85" dirty="0">
                <a:latin typeface="Arial Narrow"/>
                <a:cs typeface="Arial Narrow"/>
              </a:rPr>
              <a:t> </a:t>
            </a:r>
            <a:r>
              <a:rPr sz="2350" spc="-30" dirty="0">
                <a:latin typeface="Arial Narrow"/>
                <a:cs typeface="Arial Narrow"/>
              </a:rPr>
              <a:t>pour</a:t>
            </a:r>
            <a:r>
              <a:rPr sz="2350" spc="-35" dirty="0">
                <a:latin typeface="Arial Narrow"/>
                <a:cs typeface="Arial Narrow"/>
              </a:rPr>
              <a:t> l'application</a:t>
            </a:r>
            <a:r>
              <a:rPr sz="2350" spc="-40" dirty="0">
                <a:latin typeface="Arial Narrow"/>
                <a:cs typeface="Arial Narrow"/>
              </a:rPr>
              <a:t> </a:t>
            </a:r>
            <a:r>
              <a:rPr sz="2350" dirty="0">
                <a:latin typeface="Arial Narrow"/>
                <a:cs typeface="Arial Narrow"/>
              </a:rPr>
              <a:t>et</a:t>
            </a:r>
            <a:r>
              <a:rPr sz="2350" spc="-25" dirty="0">
                <a:latin typeface="Arial Narrow"/>
                <a:cs typeface="Arial Narrow"/>
              </a:rPr>
              <a:t> la</a:t>
            </a:r>
            <a:endParaRPr sz="2350">
              <a:latin typeface="Arial Narrow"/>
              <a:cs typeface="Arial Narrow"/>
            </a:endParaRPr>
          </a:p>
          <a:p>
            <a:pPr marL="384810">
              <a:lnSpc>
                <a:spcPts val="2470"/>
              </a:lnSpc>
            </a:pPr>
            <a:r>
              <a:rPr sz="2150" spc="-10" dirty="0">
                <a:latin typeface="Arial Narrow"/>
                <a:cs typeface="Arial Narrow"/>
              </a:rPr>
              <a:t>compréhension.</a:t>
            </a:r>
            <a:endParaRPr sz="2150">
              <a:latin typeface="Arial Narrow"/>
              <a:cs typeface="Arial Narro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02940" y="3640313"/>
            <a:ext cx="8131809" cy="602996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marR="1287145" indent="1905">
              <a:lnSpc>
                <a:spcPts val="3200"/>
              </a:lnSpc>
              <a:spcBef>
                <a:spcPts val="525"/>
              </a:spcBef>
            </a:pPr>
            <a:r>
              <a:rPr sz="2950" spc="-170" dirty="0">
                <a:latin typeface="Arial"/>
                <a:cs typeface="Arial"/>
              </a:rPr>
              <a:t>La</a:t>
            </a:r>
            <a:r>
              <a:rPr sz="2950" spc="-195" dirty="0">
                <a:latin typeface="Arial"/>
                <a:cs typeface="Arial"/>
              </a:rPr>
              <a:t> </a:t>
            </a:r>
            <a:r>
              <a:rPr sz="2950" spc="-50" dirty="0">
                <a:latin typeface="Arial"/>
                <a:cs typeface="Arial"/>
              </a:rPr>
              <a:t>Solution</a:t>
            </a:r>
            <a:r>
              <a:rPr sz="2950" spc="-210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:</a:t>
            </a:r>
            <a:r>
              <a:rPr sz="2950" spc="-185" dirty="0">
                <a:latin typeface="Arial"/>
                <a:cs typeface="Arial"/>
              </a:rPr>
              <a:t> </a:t>
            </a:r>
            <a:r>
              <a:rPr sz="2950" spc="-175" dirty="0">
                <a:latin typeface="Arial"/>
                <a:cs typeface="Arial"/>
              </a:rPr>
              <a:t>La</a:t>
            </a:r>
            <a:r>
              <a:rPr sz="2950" spc="-130" dirty="0">
                <a:latin typeface="Arial"/>
                <a:cs typeface="Arial"/>
              </a:rPr>
              <a:t> </a:t>
            </a:r>
            <a:r>
              <a:rPr sz="2950" spc="-65" dirty="0">
                <a:latin typeface="Arial"/>
                <a:cs typeface="Arial"/>
              </a:rPr>
              <a:t>Théorie </a:t>
            </a:r>
            <a:r>
              <a:rPr sz="2950" spc="-75" dirty="0">
                <a:latin typeface="Arial"/>
                <a:cs typeface="Arial"/>
              </a:rPr>
              <a:t>de</a:t>
            </a:r>
            <a:r>
              <a:rPr sz="2950" spc="-270" dirty="0">
                <a:latin typeface="Arial"/>
                <a:cs typeface="Arial"/>
              </a:rPr>
              <a:t> </a:t>
            </a:r>
            <a:r>
              <a:rPr sz="2950" spc="-75" dirty="0">
                <a:latin typeface="Arial"/>
                <a:cs typeface="Arial"/>
              </a:rPr>
              <a:t>la</a:t>
            </a:r>
            <a:r>
              <a:rPr sz="2950" spc="-130" dirty="0">
                <a:latin typeface="Arial"/>
                <a:cs typeface="Arial"/>
              </a:rPr>
              <a:t> </a:t>
            </a:r>
            <a:r>
              <a:rPr sz="2950" spc="-10" dirty="0">
                <a:latin typeface="Arial"/>
                <a:cs typeface="Arial"/>
              </a:rPr>
              <a:t>Simplification </a:t>
            </a:r>
            <a:r>
              <a:rPr sz="2950" spc="-60" dirty="0">
                <a:latin typeface="Arial"/>
                <a:cs typeface="Arial"/>
              </a:rPr>
              <a:t>Essentielle</a:t>
            </a:r>
            <a:r>
              <a:rPr sz="2950" spc="-140" dirty="0">
                <a:latin typeface="Arial"/>
                <a:cs typeface="Arial"/>
              </a:rPr>
              <a:t> </a:t>
            </a:r>
            <a:r>
              <a:rPr sz="2950" spc="-10" dirty="0">
                <a:latin typeface="Arial"/>
                <a:cs typeface="Arial"/>
              </a:rPr>
              <a:t>(EST)</a:t>
            </a:r>
            <a:endParaRPr sz="2950">
              <a:latin typeface="Arial"/>
              <a:cs typeface="Arial"/>
            </a:endParaRPr>
          </a:p>
          <a:p>
            <a:pPr marL="17145" marR="712470" indent="3175">
              <a:lnSpc>
                <a:spcPts val="2500"/>
              </a:lnSpc>
              <a:spcBef>
                <a:spcPts val="1060"/>
              </a:spcBef>
            </a:pPr>
            <a:r>
              <a:rPr sz="2150" spc="-280" dirty="0">
                <a:latin typeface="Arial"/>
                <a:cs typeface="Arial"/>
              </a:rPr>
              <a:t>Un</a:t>
            </a:r>
            <a:r>
              <a:rPr sz="2150" spc="25" dirty="0">
                <a:latin typeface="Arial"/>
                <a:cs typeface="Arial"/>
              </a:rPr>
              <a:t> </a:t>
            </a:r>
            <a:r>
              <a:rPr sz="2150" spc="-195" dirty="0">
                <a:latin typeface="Arial"/>
                <a:cs typeface="Arial"/>
              </a:rPr>
              <a:t>cadre</a:t>
            </a:r>
            <a:r>
              <a:rPr sz="2150" spc="-45" dirty="0">
                <a:latin typeface="Arial"/>
                <a:cs typeface="Arial"/>
              </a:rPr>
              <a:t> </a:t>
            </a:r>
            <a:r>
              <a:rPr sz="2150" spc="-165" dirty="0">
                <a:latin typeface="Arial"/>
                <a:cs typeface="Arial"/>
              </a:rPr>
              <a:t>mathématico-</a:t>
            </a:r>
            <a:r>
              <a:rPr sz="2150" spc="-155" dirty="0">
                <a:latin typeface="Arial"/>
                <a:cs typeface="Arial"/>
              </a:rPr>
              <a:t>philosophique</a:t>
            </a:r>
            <a:r>
              <a:rPr sz="2150" spc="-280" dirty="0">
                <a:latin typeface="Arial"/>
                <a:cs typeface="Arial"/>
              </a:rPr>
              <a:t> </a:t>
            </a:r>
            <a:r>
              <a:rPr sz="2150" spc="-190" dirty="0">
                <a:latin typeface="Arial"/>
                <a:cs typeface="Arial"/>
              </a:rPr>
              <a:t>pour</a:t>
            </a:r>
            <a:r>
              <a:rPr sz="2150" spc="30" dirty="0">
                <a:latin typeface="Arial"/>
                <a:cs typeface="Arial"/>
              </a:rPr>
              <a:t> </a:t>
            </a:r>
            <a:r>
              <a:rPr sz="2150" spc="-125" dirty="0">
                <a:latin typeface="Arial"/>
                <a:cs typeface="Arial"/>
              </a:rPr>
              <a:t>libérer</a:t>
            </a:r>
            <a:r>
              <a:rPr sz="2150" spc="55" dirty="0">
                <a:latin typeface="Arial"/>
                <a:cs typeface="Arial"/>
              </a:rPr>
              <a:t> </a:t>
            </a:r>
            <a:r>
              <a:rPr sz="2150" spc="-229" dirty="0">
                <a:latin typeface="Arial"/>
                <a:cs typeface="Arial"/>
              </a:rPr>
              <a:t>la</a:t>
            </a:r>
            <a:r>
              <a:rPr sz="2150" spc="55" dirty="0">
                <a:latin typeface="Arial"/>
                <a:cs typeface="Arial"/>
              </a:rPr>
              <a:t> </a:t>
            </a:r>
            <a:r>
              <a:rPr sz="2150" spc="-204" dirty="0">
                <a:latin typeface="Arial"/>
                <a:cs typeface="Arial"/>
              </a:rPr>
              <a:t>connaissance</a:t>
            </a:r>
            <a:r>
              <a:rPr sz="2150" spc="140" dirty="0">
                <a:latin typeface="Arial"/>
                <a:cs typeface="Arial"/>
              </a:rPr>
              <a:t> </a:t>
            </a:r>
            <a:r>
              <a:rPr sz="2150" spc="-225" dirty="0">
                <a:latin typeface="Arial"/>
                <a:cs typeface="Arial"/>
              </a:rPr>
              <a:t>de</a:t>
            </a:r>
            <a:r>
              <a:rPr sz="2150" spc="-130" dirty="0">
                <a:latin typeface="Arial"/>
                <a:cs typeface="Arial"/>
              </a:rPr>
              <a:t> </a:t>
            </a:r>
            <a:r>
              <a:rPr sz="2150" spc="-25" dirty="0">
                <a:latin typeface="Arial"/>
                <a:cs typeface="Arial"/>
              </a:rPr>
              <a:t>la </a:t>
            </a:r>
            <a:r>
              <a:rPr sz="2150" spc="-145" dirty="0">
                <a:latin typeface="Arial"/>
                <a:cs typeface="Arial"/>
              </a:rPr>
              <a:t>'prison</a:t>
            </a:r>
            <a:r>
              <a:rPr sz="2150" spc="-45" dirty="0">
                <a:latin typeface="Arial"/>
                <a:cs typeface="Arial"/>
              </a:rPr>
              <a:t> </a:t>
            </a:r>
            <a:r>
              <a:rPr sz="2150" spc="-165" dirty="0">
                <a:latin typeface="Arial"/>
                <a:cs typeface="Arial"/>
              </a:rPr>
              <a:t>de</a:t>
            </a:r>
            <a:r>
              <a:rPr sz="2150" spc="-150" dirty="0">
                <a:latin typeface="Arial"/>
                <a:cs typeface="Arial"/>
              </a:rPr>
              <a:t> </a:t>
            </a:r>
            <a:r>
              <a:rPr sz="2150" spc="-170" dirty="0">
                <a:latin typeface="Arial"/>
                <a:cs typeface="Arial"/>
              </a:rPr>
              <a:t>la</a:t>
            </a:r>
            <a:r>
              <a:rPr sz="2150" spc="-85" dirty="0">
                <a:latin typeface="Arial"/>
                <a:cs typeface="Arial"/>
              </a:rPr>
              <a:t> </a:t>
            </a:r>
            <a:r>
              <a:rPr sz="2150" spc="-80" dirty="0">
                <a:latin typeface="Arial"/>
                <a:cs typeface="Arial"/>
              </a:rPr>
              <a:t>complexité’.</a:t>
            </a:r>
            <a:endParaRPr sz="2150">
              <a:latin typeface="Arial"/>
              <a:cs typeface="Arial"/>
            </a:endParaRPr>
          </a:p>
          <a:p>
            <a:pPr marL="24765">
              <a:lnSpc>
                <a:spcPts val="2595"/>
              </a:lnSpc>
              <a:spcBef>
                <a:spcPts val="1500"/>
              </a:spcBef>
            </a:pPr>
            <a:r>
              <a:rPr sz="2200" dirty="0">
                <a:latin typeface="Arial Narrow"/>
                <a:cs typeface="Arial Narrow"/>
              </a:rPr>
              <a:t>Philosophie</a:t>
            </a:r>
            <a:r>
              <a:rPr sz="2200" spc="40" dirty="0">
                <a:latin typeface="Arial Narrow"/>
                <a:cs typeface="Arial Narrow"/>
              </a:rPr>
              <a:t> </a:t>
            </a:r>
            <a:r>
              <a:rPr sz="2200" dirty="0">
                <a:latin typeface="Arial Narrow"/>
                <a:cs typeface="Arial Narrow"/>
              </a:rPr>
              <a:t>de</a:t>
            </a:r>
            <a:r>
              <a:rPr sz="2200" spc="-45" dirty="0">
                <a:latin typeface="Arial Narrow"/>
                <a:cs typeface="Arial Narrow"/>
              </a:rPr>
              <a:t> </a:t>
            </a:r>
            <a:r>
              <a:rPr sz="2200" spc="-55" dirty="0">
                <a:latin typeface="Arial Narrow"/>
                <a:cs typeface="Arial Narrow"/>
              </a:rPr>
              <a:t>l'EST</a:t>
            </a:r>
            <a:r>
              <a:rPr sz="2200" spc="-15" dirty="0">
                <a:latin typeface="Arial Narrow"/>
                <a:cs typeface="Arial Narrow"/>
              </a:rPr>
              <a:t> </a:t>
            </a:r>
            <a:r>
              <a:rPr sz="2200" spc="-50" dirty="0">
                <a:latin typeface="Arial Narrow"/>
                <a:cs typeface="Arial Narrow"/>
              </a:rPr>
              <a:t>:</a:t>
            </a:r>
            <a:endParaRPr sz="2200">
              <a:latin typeface="Arial Narrow"/>
              <a:cs typeface="Arial Narrow"/>
            </a:endParaRPr>
          </a:p>
          <a:p>
            <a:pPr marL="396240" marR="567690" indent="-203835">
              <a:lnSpc>
                <a:spcPts val="2450"/>
              </a:lnSpc>
              <a:spcBef>
                <a:spcPts val="145"/>
              </a:spcBef>
              <a:buChar char="•"/>
              <a:tabLst>
                <a:tab pos="401320" algn="l"/>
              </a:tabLst>
            </a:pPr>
            <a:r>
              <a:rPr sz="2150" spc="-130" dirty="0">
                <a:latin typeface="Arial"/>
                <a:cs typeface="Arial"/>
              </a:rPr>
              <a:t>Construction</a:t>
            </a:r>
            <a:r>
              <a:rPr sz="2150" spc="-20" dirty="0">
                <a:latin typeface="Arial"/>
                <a:cs typeface="Arial"/>
              </a:rPr>
              <a:t> </a:t>
            </a:r>
            <a:r>
              <a:rPr sz="2150" spc="-70" dirty="0">
                <a:latin typeface="Arial"/>
                <a:cs typeface="Arial"/>
              </a:rPr>
              <a:t>Libre:"Permet</a:t>
            </a:r>
            <a:r>
              <a:rPr sz="2150" spc="85" dirty="0">
                <a:latin typeface="Arial"/>
                <a:cs typeface="Arial"/>
              </a:rPr>
              <a:t> </a:t>
            </a:r>
            <a:r>
              <a:rPr sz="2150" spc="-225" dirty="0">
                <a:latin typeface="Arial"/>
                <a:cs typeface="Arial"/>
              </a:rPr>
              <a:t>de</a:t>
            </a:r>
            <a:r>
              <a:rPr sz="2150" spc="-100" dirty="0">
                <a:latin typeface="Arial"/>
                <a:cs typeface="Arial"/>
              </a:rPr>
              <a:t> </a:t>
            </a:r>
            <a:r>
              <a:rPr sz="2150" spc="-140" dirty="0">
                <a:latin typeface="Arial"/>
                <a:cs typeface="Arial"/>
              </a:rPr>
              <a:t>construire</a:t>
            </a:r>
            <a:r>
              <a:rPr sz="2150" spc="65" dirty="0">
                <a:latin typeface="Arial"/>
                <a:cs typeface="Arial"/>
              </a:rPr>
              <a:t> </a:t>
            </a:r>
            <a:r>
              <a:rPr sz="2150" spc="-229" dirty="0">
                <a:latin typeface="Arial"/>
                <a:cs typeface="Arial"/>
              </a:rPr>
              <a:t>des</a:t>
            </a:r>
            <a:r>
              <a:rPr sz="2150" spc="-15" dirty="0">
                <a:latin typeface="Arial"/>
                <a:cs typeface="Arial"/>
              </a:rPr>
              <a:t> </a:t>
            </a:r>
            <a:r>
              <a:rPr sz="2150" spc="-215" dirty="0">
                <a:latin typeface="Arial"/>
                <a:cs typeface="Arial"/>
              </a:rPr>
              <a:t>modèles</a:t>
            </a:r>
            <a:r>
              <a:rPr sz="2150" spc="-50" dirty="0">
                <a:latin typeface="Arial"/>
                <a:cs typeface="Arial"/>
              </a:rPr>
              <a:t> </a:t>
            </a:r>
            <a:r>
              <a:rPr sz="2150" spc="-30" dirty="0">
                <a:latin typeface="Arial"/>
                <a:cs typeface="Arial"/>
              </a:rPr>
              <a:t>théoriques 	</a:t>
            </a:r>
            <a:r>
              <a:rPr sz="2150" spc="-200" dirty="0">
                <a:latin typeface="Arial"/>
                <a:cs typeface="Arial"/>
              </a:rPr>
              <a:t>d'une</a:t>
            </a:r>
            <a:r>
              <a:rPr sz="2150" spc="-25" dirty="0">
                <a:latin typeface="Arial"/>
                <a:cs typeface="Arial"/>
              </a:rPr>
              <a:t> </a:t>
            </a:r>
            <a:r>
              <a:rPr sz="2150" spc="-165" dirty="0">
                <a:latin typeface="Arial"/>
                <a:cs typeface="Arial"/>
              </a:rPr>
              <a:t>complexité</a:t>
            </a:r>
            <a:r>
              <a:rPr sz="2150" dirty="0">
                <a:latin typeface="Arial"/>
                <a:cs typeface="Arial"/>
              </a:rPr>
              <a:t> </a:t>
            </a:r>
            <a:r>
              <a:rPr sz="2150" spc="-125" dirty="0">
                <a:latin typeface="Arial"/>
                <a:cs typeface="Arial"/>
              </a:rPr>
              <a:t>illimitée</a:t>
            </a:r>
            <a:r>
              <a:rPr sz="2150" spc="90" dirty="0">
                <a:latin typeface="Arial"/>
                <a:cs typeface="Arial"/>
              </a:rPr>
              <a:t> </a:t>
            </a:r>
            <a:r>
              <a:rPr sz="2150" spc="-229" dirty="0">
                <a:latin typeface="Arial"/>
                <a:cs typeface="Arial"/>
              </a:rPr>
              <a:t>(comme</a:t>
            </a:r>
            <a:r>
              <a:rPr sz="2150" spc="45" dirty="0">
                <a:latin typeface="Arial"/>
                <a:cs typeface="Arial"/>
              </a:rPr>
              <a:t> </a:t>
            </a:r>
            <a:r>
              <a:rPr sz="2150" spc="-170" dirty="0">
                <a:latin typeface="Arial"/>
                <a:cs typeface="Arial"/>
              </a:rPr>
              <a:t>le</a:t>
            </a:r>
            <a:r>
              <a:rPr sz="2150" spc="-160" dirty="0">
                <a:latin typeface="Arial"/>
                <a:cs typeface="Arial"/>
              </a:rPr>
              <a:t> </a:t>
            </a:r>
            <a:r>
              <a:rPr sz="2150" spc="-210" dirty="0">
                <a:latin typeface="Arial"/>
                <a:cs typeface="Arial"/>
              </a:rPr>
              <a:t>modèle</a:t>
            </a:r>
            <a:r>
              <a:rPr sz="2150" spc="30" dirty="0">
                <a:latin typeface="Arial"/>
                <a:cs typeface="Arial"/>
              </a:rPr>
              <a:t> </a:t>
            </a:r>
            <a:r>
              <a:rPr sz="2150" spc="-170" dirty="0">
                <a:latin typeface="Arial"/>
                <a:cs typeface="Arial"/>
              </a:rPr>
              <a:t>complet</a:t>
            </a:r>
            <a:r>
              <a:rPr sz="2150" spc="100" dirty="0">
                <a:latin typeface="Arial"/>
                <a:cs typeface="Arial"/>
              </a:rPr>
              <a:t> </a:t>
            </a:r>
            <a:r>
              <a:rPr sz="2150" spc="-220" dirty="0">
                <a:latin typeface="Arial"/>
                <a:cs typeface="Arial"/>
              </a:rPr>
              <a:t>de</a:t>
            </a:r>
            <a:r>
              <a:rPr sz="2150" dirty="0">
                <a:latin typeface="Arial"/>
                <a:cs typeface="Arial"/>
              </a:rPr>
              <a:t> </a:t>
            </a:r>
            <a:r>
              <a:rPr sz="2150" spc="-185" dirty="0">
                <a:latin typeface="Arial"/>
                <a:cs typeface="Arial"/>
              </a:rPr>
              <a:t>cancer)</a:t>
            </a:r>
            <a:r>
              <a:rPr sz="2150" spc="140" dirty="0">
                <a:latin typeface="Arial"/>
                <a:cs typeface="Arial"/>
              </a:rPr>
              <a:t> </a:t>
            </a:r>
            <a:r>
              <a:rPr sz="2150" spc="-125" dirty="0">
                <a:latin typeface="Arial"/>
                <a:cs typeface="Arial"/>
              </a:rPr>
              <a:t>sans 	</a:t>
            </a:r>
            <a:r>
              <a:rPr sz="2050" spc="-200" dirty="0">
                <a:latin typeface="Arial"/>
                <a:cs typeface="Arial"/>
              </a:rPr>
              <a:t>se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soucier</a:t>
            </a:r>
            <a:r>
              <a:rPr sz="2050" spc="35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des</a:t>
            </a:r>
            <a:r>
              <a:rPr sz="2050" spc="-40" dirty="0">
                <a:latin typeface="Arial"/>
                <a:cs typeface="Arial"/>
              </a:rPr>
              <a:t> </a:t>
            </a:r>
            <a:r>
              <a:rPr sz="2050" spc="-95" dirty="0">
                <a:latin typeface="Arial"/>
                <a:cs typeface="Arial"/>
              </a:rPr>
              <a:t>contraintes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spc="-105" dirty="0">
                <a:latin typeface="Arial"/>
                <a:cs typeface="Arial"/>
              </a:rPr>
              <a:t>pratiques</a:t>
            </a:r>
            <a:r>
              <a:rPr sz="2050" spc="-40" dirty="0">
                <a:latin typeface="Arial"/>
                <a:cs typeface="Arial"/>
              </a:rPr>
              <a:t> </a:t>
            </a:r>
            <a:r>
              <a:rPr sz="2050" spc="-45" dirty="0">
                <a:latin typeface="Arial"/>
                <a:cs typeface="Arial"/>
              </a:rPr>
              <a:t>immédiates."</a:t>
            </a:r>
            <a:endParaRPr sz="2050">
              <a:latin typeface="Arial"/>
              <a:cs typeface="Arial"/>
            </a:endParaRPr>
          </a:p>
          <a:p>
            <a:pPr marL="389890" marR="380365" indent="-196850">
              <a:lnSpc>
                <a:spcPts val="2500"/>
              </a:lnSpc>
              <a:spcBef>
                <a:spcPts val="10"/>
              </a:spcBef>
              <a:buChar char="•"/>
              <a:tabLst>
                <a:tab pos="393065" algn="l"/>
              </a:tabLst>
            </a:pPr>
            <a:r>
              <a:rPr sz="2050" spc="-60" dirty="0">
                <a:latin typeface="Arial"/>
                <a:cs typeface="Arial"/>
              </a:rPr>
              <a:t>Extraction</a:t>
            </a:r>
            <a:r>
              <a:rPr sz="2050" spc="-9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de</a:t>
            </a:r>
            <a:r>
              <a:rPr sz="2050" spc="-245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l'Essence 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-95" dirty="0">
                <a:latin typeface="Arial"/>
                <a:cs typeface="Arial"/>
              </a:rPr>
              <a:t> </a:t>
            </a:r>
            <a:r>
              <a:rPr sz="2050" spc="-125" dirty="0">
                <a:latin typeface="Arial"/>
                <a:cs typeface="Arial"/>
              </a:rPr>
              <a:t>"Fournit</a:t>
            </a:r>
            <a:r>
              <a:rPr sz="2050" spc="40" dirty="0">
                <a:latin typeface="Arial"/>
                <a:cs typeface="Arial"/>
              </a:rPr>
              <a:t> </a:t>
            </a:r>
            <a:r>
              <a:rPr sz="2050" spc="-145" dirty="0">
                <a:latin typeface="Arial"/>
                <a:cs typeface="Arial"/>
              </a:rPr>
              <a:t>une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spc="-130" dirty="0">
                <a:latin typeface="Arial"/>
                <a:cs typeface="Arial"/>
              </a:rPr>
              <a:t>méthode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-125" dirty="0">
                <a:latin typeface="Arial"/>
                <a:cs typeface="Arial"/>
              </a:rPr>
              <a:t>rigoureuse</a:t>
            </a:r>
            <a:r>
              <a:rPr sz="2050" spc="40" dirty="0">
                <a:latin typeface="Arial"/>
                <a:cs typeface="Arial"/>
              </a:rPr>
              <a:t> </a:t>
            </a:r>
            <a:r>
              <a:rPr sz="2050" spc="-95" dirty="0">
                <a:latin typeface="Arial"/>
                <a:cs typeface="Arial"/>
              </a:rPr>
              <a:t>pour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distiller 	</a:t>
            </a:r>
            <a:r>
              <a:rPr sz="2150" spc="-229" dirty="0">
                <a:latin typeface="Arial"/>
                <a:cs typeface="Arial"/>
              </a:rPr>
              <a:t>des</a:t>
            </a:r>
            <a:r>
              <a:rPr sz="2150" spc="-15" dirty="0">
                <a:latin typeface="Arial"/>
                <a:cs typeface="Arial"/>
              </a:rPr>
              <a:t> </a:t>
            </a:r>
            <a:r>
              <a:rPr sz="2150" spc="-215" dirty="0">
                <a:latin typeface="Arial"/>
                <a:cs typeface="Arial"/>
              </a:rPr>
              <a:t>modèles</a:t>
            </a:r>
            <a:r>
              <a:rPr sz="2150" spc="-45" dirty="0">
                <a:latin typeface="Arial"/>
                <a:cs typeface="Arial"/>
              </a:rPr>
              <a:t> </a:t>
            </a:r>
            <a:r>
              <a:rPr sz="2150" spc="-160" dirty="0">
                <a:latin typeface="Arial"/>
                <a:cs typeface="Arial"/>
              </a:rPr>
              <a:t>plus</a:t>
            </a:r>
            <a:r>
              <a:rPr sz="2150" spc="70" dirty="0">
                <a:latin typeface="Arial"/>
                <a:cs typeface="Arial"/>
              </a:rPr>
              <a:t> </a:t>
            </a:r>
            <a:r>
              <a:rPr sz="2150" spc="-195" dirty="0">
                <a:latin typeface="Arial"/>
                <a:cs typeface="Arial"/>
              </a:rPr>
              <a:t>simples</a:t>
            </a:r>
            <a:r>
              <a:rPr sz="2150" spc="15" dirty="0">
                <a:latin typeface="Arial"/>
                <a:cs typeface="Arial"/>
              </a:rPr>
              <a:t> </a:t>
            </a:r>
            <a:r>
              <a:rPr sz="2150" spc="-165" dirty="0">
                <a:latin typeface="Arial"/>
                <a:cs typeface="Arial"/>
              </a:rPr>
              <a:t>qui</a:t>
            </a:r>
            <a:r>
              <a:rPr sz="2150" spc="-200" dirty="0">
                <a:latin typeface="Arial"/>
                <a:cs typeface="Arial"/>
              </a:rPr>
              <a:t> </a:t>
            </a:r>
            <a:r>
              <a:rPr sz="2150" spc="-165" dirty="0">
                <a:latin typeface="Arial"/>
                <a:cs typeface="Arial"/>
              </a:rPr>
              <a:t>préservent</a:t>
            </a:r>
            <a:r>
              <a:rPr sz="2150" spc="90" dirty="0">
                <a:latin typeface="Arial"/>
                <a:cs typeface="Arial"/>
              </a:rPr>
              <a:t> </a:t>
            </a:r>
            <a:r>
              <a:rPr sz="2150" spc="-70" dirty="0">
                <a:latin typeface="Arial"/>
                <a:cs typeface="Arial"/>
              </a:rPr>
              <a:t>l'effet</a:t>
            </a:r>
            <a:r>
              <a:rPr sz="2150" spc="-100" dirty="0">
                <a:latin typeface="Arial"/>
                <a:cs typeface="Arial"/>
              </a:rPr>
              <a:t> </a:t>
            </a:r>
            <a:r>
              <a:rPr sz="2150" spc="-90" dirty="0">
                <a:latin typeface="Arial"/>
                <a:cs typeface="Arial"/>
              </a:rPr>
              <a:t>existentiel</a:t>
            </a:r>
            <a:r>
              <a:rPr sz="2150" spc="55" dirty="0">
                <a:latin typeface="Arial"/>
                <a:cs typeface="Arial"/>
              </a:rPr>
              <a:t> </a:t>
            </a:r>
            <a:r>
              <a:rPr sz="2150" spc="-10" dirty="0">
                <a:latin typeface="Arial"/>
                <a:cs typeface="Arial"/>
              </a:rPr>
              <a:t>(l'impact 	</a:t>
            </a:r>
            <a:r>
              <a:rPr sz="2150" spc="-165" dirty="0">
                <a:latin typeface="Arial"/>
                <a:cs typeface="Arial"/>
              </a:rPr>
              <a:t>biologique)</a:t>
            </a:r>
            <a:r>
              <a:rPr sz="2150" spc="120" dirty="0">
                <a:latin typeface="Arial"/>
                <a:cs typeface="Arial"/>
              </a:rPr>
              <a:t> </a:t>
            </a:r>
            <a:r>
              <a:rPr sz="2150" spc="-165" dirty="0">
                <a:latin typeface="Arial"/>
                <a:cs typeface="Arial"/>
              </a:rPr>
              <a:t>de</a:t>
            </a:r>
            <a:r>
              <a:rPr sz="2150" spc="-180" dirty="0">
                <a:latin typeface="Arial"/>
                <a:cs typeface="Arial"/>
              </a:rPr>
              <a:t> </a:t>
            </a:r>
            <a:r>
              <a:rPr sz="2150" spc="-55" dirty="0">
                <a:latin typeface="Arial"/>
                <a:cs typeface="Arial"/>
              </a:rPr>
              <a:t>l'original."</a:t>
            </a:r>
            <a:endParaRPr sz="2150">
              <a:latin typeface="Arial"/>
              <a:cs typeface="Arial"/>
            </a:endParaRPr>
          </a:p>
          <a:p>
            <a:pPr marL="389890" indent="-196850">
              <a:lnSpc>
                <a:spcPts val="2365"/>
              </a:lnSpc>
              <a:buChar char="•"/>
              <a:tabLst>
                <a:tab pos="389890" algn="l"/>
              </a:tabLst>
            </a:pPr>
            <a:r>
              <a:rPr sz="2150" spc="-114" dirty="0">
                <a:latin typeface="Arial"/>
                <a:cs typeface="Arial"/>
              </a:rPr>
              <a:t>Démocratisation</a:t>
            </a:r>
            <a:r>
              <a:rPr sz="2150" spc="-195" dirty="0">
                <a:latin typeface="Arial"/>
                <a:cs typeface="Arial"/>
              </a:rPr>
              <a:t> </a:t>
            </a:r>
            <a:r>
              <a:rPr sz="2150" spc="-165" dirty="0">
                <a:latin typeface="Arial"/>
                <a:cs typeface="Arial"/>
              </a:rPr>
              <a:t>de</a:t>
            </a:r>
            <a:r>
              <a:rPr sz="2150" spc="-270" dirty="0">
                <a:latin typeface="Arial"/>
                <a:cs typeface="Arial"/>
              </a:rPr>
              <a:t> </a:t>
            </a:r>
            <a:r>
              <a:rPr sz="2150" spc="-110" dirty="0">
                <a:latin typeface="Arial"/>
                <a:cs typeface="Arial"/>
              </a:rPr>
              <a:t>la</a:t>
            </a:r>
            <a:r>
              <a:rPr sz="2150" spc="-240" dirty="0">
                <a:latin typeface="Arial"/>
                <a:cs typeface="Arial"/>
              </a:rPr>
              <a:t> </a:t>
            </a:r>
            <a:r>
              <a:rPr sz="2150" spc="-185" dirty="0">
                <a:latin typeface="Arial"/>
                <a:cs typeface="Arial"/>
              </a:rPr>
              <a:t>Connaissance</a:t>
            </a:r>
            <a:r>
              <a:rPr sz="2150" spc="-5" dirty="0">
                <a:latin typeface="Arial"/>
                <a:cs typeface="Arial"/>
              </a:rPr>
              <a:t> </a:t>
            </a:r>
            <a:r>
              <a:rPr sz="2150" spc="-85" dirty="0">
                <a:latin typeface="Arial"/>
                <a:cs typeface="Arial"/>
              </a:rPr>
              <a:t>:"Les</a:t>
            </a:r>
            <a:r>
              <a:rPr sz="2150" spc="-20" dirty="0">
                <a:latin typeface="Arial"/>
                <a:cs typeface="Arial"/>
              </a:rPr>
              <a:t> </a:t>
            </a:r>
            <a:r>
              <a:rPr sz="2150" spc="-150" dirty="0">
                <a:latin typeface="Arial"/>
                <a:cs typeface="Arial"/>
              </a:rPr>
              <a:t>experts</a:t>
            </a:r>
            <a:r>
              <a:rPr sz="2150" spc="35" dirty="0">
                <a:latin typeface="Arial"/>
                <a:cs typeface="Arial"/>
              </a:rPr>
              <a:t> </a:t>
            </a:r>
            <a:r>
              <a:rPr sz="2150" spc="-155" dirty="0">
                <a:latin typeface="Arial"/>
                <a:cs typeface="Arial"/>
              </a:rPr>
              <a:t>construisent</a:t>
            </a:r>
            <a:r>
              <a:rPr sz="2150" spc="190" dirty="0">
                <a:latin typeface="Arial"/>
                <a:cs typeface="Arial"/>
              </a:rPr>
              <a:t> </a:t>
            </a:r>
            <a:r>
              <a:rPr sz="2150" spc="-25" dirty="0">
                <a:latin typeface="Arial"/>
                <a:cs typeface="Arial"/>
              </a:rPr>
              <a:t>des</a:t>
            </a:r>
            <a:endParaRPr sz="2150">
              <a:latin typeface="Arial"/>
              <a:cs typeface="Arial"/>
            </a:endParaRPr>
          </a:p>
          <a:p>
            <a:pPr marL="393065">
              <a:lnSpc>
                <a:spcPts val="2415"/>
              </a:lnSpc>
            </a:pPr>
            <a:r>
              <a:rPr sz="2050" spc="-130" dirty="0">
                <a:latin typeface="Arial"/>
                <a:cs typeface="Arial"/>
              </a:rPr>
              <a:t>modèles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-150" dirty="0">
                <a:latin typeface="Arial"/>
                <a:cs typeface="Arial"/>
              </a:rPr>
              <a:t>complexes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;</a:t>
            </a:r>
            <a:r>
              <a:rPr sz="2050" spc="-95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la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90" dirty="0">
                <a:latin typeface="Arial"/>
                <a:cs typeface="Arial"/>
              </a:rPr>
              <a:t>théorie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-175" dirty="0">
                <a:latin typeface="Arial"/>
                <a:cs typeface="Arial"/>
              </a:rPr>
              <a:t>en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90" dirty="0">
                <a:latin typeface="Arial"/>
                <a:cs typeface="Arial"/>
              </a:rPr>
              <a:t>extrait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-120" dirty="0">
                <a:latin typeface="Arial"/>
                <a:cs typeface="Arial"/>
              </a:rPr>
              <a:t>l'essence</a:t>
            </a:r>
            <a:r>
              <a:rPr sz="2050" spc="5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;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tout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spc="-125" dirty="0">
                <a:latin typeface="Arial"/>
                <a:cs typeface="Arial"/>
              </a:rPr>
              <a:t>le</a:t>
            </a:r>
            <a:r>
              <a:rPr sz="2050" spc="-40" dirty="0">
                <a:latin typeface="Arial"/>
                <a:cs typeface="Arial"/>
              </a:rPr>
              <a:t> </a:t>
            </a:r>
            <a:r>
              <a:rPr sz="2050" spc="-10" dirty="0">
                <a:latin typeface="Arial"/>
                <a:cs typeface="Arial"/>
              </a:rPr>
              <a:t>monde</a:t>
            </a:r>
            <a:endParaRPr sz="2050">
              <a:latin typeface="Arial"/>
              <a:cs typeface="Arial"/>
            </a:endParaRPr>
          </a:p>
          <a:p>
            <a:pPr marL="393065">
              <a:lnSpc>
                <a:spcPts val="2550"/>
              </a:lnSpc>
            </a:pPr>
            <a:r>
              <a:rPr sz="2150" spc="-160" dirty="0">
                <a:latin typeface="Arial"/>
                <a:cs typeface="Arial"/>
              </a:rPr>
              <a:t>bénéficie</a:t>
            </a:r>
            <a:r>
              <a:rPr sz="2150" spc="65" dirty="0">
                <a:latin typeface="Arial"/>
                <a:cs typeface="Arial"/>
              </a:rPr>
              <a:t> </a:t>
            </a:r>
            <a:r>
              <a:rPr sz="2150" spc="-229" dirty="0">
                <a:latin typeface="Arial"/>
                <a:cs typeface="Arial"/>
              </a:rPr>
              <a:t>des</a:t>
            </a:r>
            <a:r>
              <a:rPr sz="2150" spc="5" dirty="0">
                <a:latin typeface="Arial"/>
                <a:cs typeface="Arial"/>
              </a:rPr>
              <a:t> </a:t>
            </a:r>
            <a:r>
              <a:rPr sz="2150" spc="-155" dirty="0">
                <a:latin typeface="Arial"/>
                <a:cs typeface="Arial"/>
              </a:rPr>
              <a:t>résultats</a:t>
            </a:r>
            <a:r>
              <a:rPr sz="2150" spc="60" dirty="0">
                <a:latin typeface="Arial"/>
                <a:cs typeface="Arial"/>
              </a:rPr>
              <a:t> </a:t>
            </a:r>
            <a:r>
              <a:rPr sz="2150" spc="-50" dirty="0">
                <a:latin typeface="Arial"/>
                <a:cs typeface="Arial"/>
              </a:rPr>
              <a:t>simplifiés."</a:t>
            </a:r>
            <a:endParaRPr sz="2150">
              <a:latin typeface="Arial"/>
              <a:cs typeface="Arial"/>
            </a:endParaRPr>
          </a:p>
          <a:p>
            <a:pPr marL="24130" marR="817880" indent="-8890">
              <a:lnSpc>
                <a:spcPts val="2500"/>
              </a:lnSpc>
              <a:spcBef>
                <a:spcPts val="1670"/>
              </a:spcBef>
            </a:pPr>
            <a:r>
              <a:rPr sz="2150" spc="-185" dirty="0">
                <a:latin typeface="Arial"/>
                <a:cs typeface="Arial"/>
              </a:rPr>
              <a:t>Ceci</a:t>
            </a:r>
            <a:r>
              <a:rPr sz="2150" spc="-140" dirty="0">
                <a:latin typeface="Arial"/>
                <a:cs typeface="Arial"/>
              </a:rPr>
              <a:t> </a:t>
            </a:r>
            <a:r>
              <a:rPr sz="2150" spc="-204" dirty="0">
                <a:latin typeface="Arial"/>
                <a:cs typeface="Arial"/>
              </a:rPr>
              <a:t>nous</a:t>
            </a:r>
            <a:r>
              <a:rPr sz="2150" spc="-10" dirty="0">
                <a:latin typeface="Arial"/>
                <a:cs typeface="Arial"/>
              </a:rPr>
              <a:t> </a:t>
            </a:r>
            <a:r>
              <a:rPr sz="2150" spc="-180" dirty="0">
                <a:latin typeface="Arial"/>
                <a:cs typeface="Arial"/>
              </a:rPr>
              <a:t>permet</a:t>
            </a:r>
            <a:r>
              <a:rPr sz="2150" spc="60" dirty="0">
                <a:latin typeface="Arial"/>
                <a:cs typeface="Arial"/>
              </a:rPr>
              <a:t> </a:t>
            </a:r>
            <a:r>
              <a:rPr sz="2150" spc="-165" dirty="0">
                <a:latin typeface="Arial"/>
                <a:cs typeface="Arial"/>
              </a:rPr>
              <a:t>de</a:t>
            </a:r>
            <a:r>
              <a:rPr sz="2150" spc="-175" dirty="0">
                <a:latin typeface="Arial"/>
                <a:cs typeface="Arial"/>
              </a:rPr>
              <a:t> </a:t>
            </a:r>
            <a:r>
              <a:rPr sz="2150" spc="-204" dirty="0">
                <a:latin typeface="Arial"/>
                <a:cs typeface="Arial"/>
              </a:rPr>
              <a:t>passer</a:t>
            </a:r>
            <a:r>
              <a:rPr sz="2150" spc="155" dirty="0">
                <a:latin typeface="Arial"/>
                <a:cs typeface="Arial"/>
              </a:rPr>
              <a:t> </a:t>
            </a:r>
            <a:r>
              <a:rPr sz="2150" spc="-170" dirty="0">
                <a:latin typeface="Arial"/>
                <a:cs typeface="Arial"/>
              </a:rPr>
              <a:t>d'un</a:t>
            </a:r>
            <a:r>
              <a:rPr sz="2150" spc="-60" dirty="0">
                <a:latin typeface="Arial"/>
                <a:cs typeface="Arial"/>
              </a:rPr>
              <a:t> </a:t>
            </a:r>
            <a:r>
              <a:rPr sz="2150" spc="-225" dirty="0">
                <a:latin typeface="Arial"/>
                <a:cs typeface="Arial"/>
              </a:rPr>
              <a:t>modèle</a:t>
            </a:r>
            <a:r>
              <a:rPr sz="2150" spc="20" dirty="0">
                <a:latin typeface="Arial"/>
                <a:cs typeface="Arial"/>
              </a:rPr>
              <a:t> </a:t>
            </a:r>
            <a:r>
              <a:rPr sz="2150" spc="-165" dirty="0">
                <a:latin typeface="Arial"/>
                <a:cs typeface="Arial"/>
              </a:rPr>
              <a:t>de</a:t>
            </a:r>
            <a:r>
              <a:rPr sz="2150" spc="-265" dirty="0">
                <a:latin typeface="Arial"/>
                <a:cs typeface="Arial"/>
              </a:rPr>
              <a:t> </a:t>
            </a:r>
            <a:r>
              <a:rPr sz="2150" spc="-254" dirty="0">
                <a:latin typeface="Arial"/>
                <a:cs typeface="Arial"/>
              </a:rPr>
              <a:t>16</a:t>
            </a:r>
            <a:r>
              <a:rPr sz="2150" spc="-40" dirty="0">
                <a:latin typeface="Arial"/>
                <a:cs typeface="Arial"/>
              </a:rPr>
              <a:t> </a:t>
            </a:r>
            <a:r>
              <a:rPr sz="2150" spc="-195" dirty="0">
                <a:latin typeface="Arial"/>
                <a:cs typeface="Arial"/>
              </a:rPr>
              <a:t>systèmes</a:t>
            </a:r>
            <a:r>
              <a:rPr sz="2150" spc="55" dirty="0">
                <a:latin typeface="Arial"/>
                <a:cs typeface="Arial"/>
              </a:rPr>
              <a:t> </a:t>
            </a:r>
            <a:r>
              <a:rPr sz="2150" spc="-300" dirty="0">
                <a:latin typeface="Arial"/>
                <a:cs typeface="Arial"/>
              </a:rPr>
              <a:t>à</a:t>
            </a:r>
            <a:r>
              <a:rPr sz="2150" spc="-60" dirty="0">
                <a:latin typeface="Arial"/>
                <a:cs typeface="Arial"/>
              </a:rPr>
              <a:t> </a:t>
            </a:r>
            <a:r>
              <a:rPr sz="2150" spc="-225" dirty="0">
                <a:latin typeface="Arial"/>
                <a:cs typeface="Arial"/>
              </a:rPr>
              <a:t>un</a:t>
            </a:r>
            <a:r>
              <a:rPr sz="2150" spc="-85" dirty="0">
                <a:latin typeface="Arial"/>
                <a:cs typeface="Arial"/>
              </a:rPr>
              <a:t> </a:t>
            </a:r>
            <a:r>
              <a:rPr sz="2150" spc="-20" dirty="0">
                <a:latin typeface="Arial"/>
                <a:cs typeface="Arial"/>
              </a:rPr>
              <a:t>modèle </a:t>
            </a:r>
            <a:r>
              <a:rPr sz="2150" spc="-160" dirty="0">
                <a:latin typeface="Arial"/>
                <a:cs typeface="Arial"/>
              </a:rPr>
              <a:t>pratique</a:t>
            </a:r>
            <a:r>
              <a:rPr sz="2150" spc="110" dirty="0">
                <a:latin typeface="Arial"/>
                <a:cs typeface="Arial"/>
              </a:rPr>
              <a:t> </a:t>
            </a:r>
            <a:r>
              <a:rPr sz="2150" spc="-225" dirty="0">
                <a:latin typeface="Arial"/>
                <a:cs typeface="Arial"/>
              </a:rPr>
              <a:t>de</a:t>
            </a:r>
            <a:r>
              <a:rPr sz="2150" spc="-105" dirty="0">
                <a:latin typeface="Arial"/>
                <a:cs typeface="Arial"/>
              </a:rPr>
              <a:t> </a:t>
            </a:r>
            <a:r>
              <a:rPr sz="2150" spc="-120" dirty="0">
                <a:latin typeface="Arial"/>
                <a:cs typeface="Arial"/>
              </a:rPr>
              <a:t>5-</a:t>
            </a:r>
            <a:r>
              <a:rPr sz="2150" spc="-140" dirty="0">
                <a:latin typeface="Arial"/>
                <a:cs typeface="Arial"/>
              </a:rPr>
              <a:t>6</a:t>
            </a:r>
            <a:r>
              <a:rPr sz="2150" spc="-75" dirty="0">
                <a:latin typeface="Arial"/>
                <a:cs typeface="Arial"/>
              </a:rPr>
              <a:t> </a:t>
            </a:r>
            <a:r>
              <a:rPr sz="2150" spc="-200" dirty="0">
                <a:latin typeface="Arial"/>
                <a:cs typeface="Arial"/>
              </a:rPr>
              <a:t>systèmes</a:t>
            </a:r>
            <a:r>
              <a:rPr sz="2150" spc="40" dirty="0">
                <a:latin typeface="Arial"/>
                <a:cs typeface="Arial"/>
              </a:rPr>
              <a:t> </a:t>
            </a:r>
            <a:r>
              <a:rPr sz="2150" spc="-160" dirty="0">
                <a:latin typeface="Arial"/>
                <a:cs typeface="Arial"/>
              </a:rPr>
              <a:t>essentiels,</a:t>
            </a:r>
            <a:r>
              <a:rPr sz="2150" spc="80" dirty="0">
                <a:latin typeface="Arial"/>
                <a:cs typeface="Arial"/>
              </a:rPr>
              <a:t> </a:t>
            </a:r>
            <a:r>
              <a:rPr sz="2150" spc="-245" dirty="0">
                <a:latin typeface="Arial"/>
                <a:cs typeface="Arial"/>
              </a:rPr>
              <a:t>sans</a:t>
            </a:r>
            <a:r>
              <a:rPr sz="2150" spc="-40" dirty="0">
                <a:latin typeface="Arial"/>
                <a:cs typeface="Arial"/>
              </a:rPr>
              <a:t> </a:t>
            </a:r>
            <a:r>
              <a:rPr sz="2150" spc="-135" dirty="0">
                <a:latin typeface="Arial"/>
                <a:cs typeface="Arial"/>
              </a:rPr>
              <a:t>sacrifier</a:t>
            </a:r>
            <a:r>
              <a:rPr sz="2150" spc="75" dirty="0">
                <a:latin typeface="Arial"/>
                <a:cs typeface="Arial"/>
              </a:rPr>
              <a:t> </a:t>
            </a:r>
            <a:r>
              <a:rPr sz="2150" spc="-170" dirty="0">
                <a:latin typeface="Arial"/>
                <a:cs typeface="Arial"/>
              </a:rPr>
              <a:t>la</a:t>
            </a:r>
            <a:r>
              <a:rPr sz="2150" spc="-45" dirty="0">
                <a:latin typeface="Arial"/>
                <a:cs typeface="Arial"/>
              </a:rPr>
              <a:t> </a:t>
            </a:r>
            <a:r>
              <a:rPr sz="2150" spc="-135" dirty="0">
                <a:latin typeface="Arial"/>
                <a:cs typeface="Arial"/>
              </a:rPr>
              <a:t>vérité</a:t>
            </a:r>
            <a:r>
              <a:rPr sz="2150" spc="10" dirty="0">
                <a:latin typeface="Arial"/>
                <a:cs typeface="Arial"/>
              </a:rPr>
              <a:t> </a:t>
            </a:r>
            <a:r>
              <a:rPr sz="2150" spc="-130" dirty="0">
                <a:latin typeface="Arial"/>
                <a:cs typeface="Arial"/>
              </a:rPr>
              <a:t>biologique.</a:t>
            </a:r>
            <a:endParaRPr sz="2150">
              <a:latin typeface="Arial"/>
              <a:cs typeface="Arial"/>
            </a:endParaRPr>
          </a:p>
          <a:p>
            <a:pPr marR="5080" algn="r">
              <a:lnSpc>
                <a:spcPts val="1290"/>
              </a:lnSpc>
              <a:tabLst>
                <a:tab pos="682625" algn="l"/>
              </a:tabLst>
            </a:pPr>
            <a:r>
              <a:rPr sz="1450" spc="-50" dirty="0">
                <a:latin typeface="Cambria"/>
                <a:cs typeface="Cambria"/>
              </a:rPr>
              <a:t>G</a:t>
            </a:r>
            <a:r>
              <a:rPr sz="1450" dirty="0">
                <a:latin typeface="Cambria"/>
                <a:cs typeface="Cambria"/>
              </a:rPr>
              <a:t>	</a:t>
            </a:r>
            <a:r>
              <a:rPr sz="1450" spc="-10" dirty="0">
                <a:latin typeface="Cambria"/>
                <a:cs typeface="Cambria"/>
              </a:rPr>
              <a:t>NotebookLÎVi</a:t>
            </a:r>
            <a:endParaRPr sz="14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30300" y="5842000"/>
            <a:ext cx="15303500" cy="1213625"/>
            <a:chOff x="1130300" y="5842000"/>
            <a:chExt cx="15303500" cy="1219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92300" y="5842000"/>
              <a:ext cx="4432300" cy="12192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0300" y="5854700"/>
              <a:ext cx="15303500" cy="6858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6019" rIns="0" bIns="0" rtlCol="0">
            <a:spAutoFit/>
          </a:bodyPr>
          <a:lstStyle/>
          <a:p>
            <a:pPr marL="685800">
              <a:lnSpc>
                <a:spcPct val="100000"/>
              </a:lnSpc>
              <a:spcBef>
                <a:spcPts val="125"/>
              </a:spcBef>
            </a:pPr>
            <a:r>
              <a:rPr sz="4000" dirty="0">
                <a:latin typeface="Cambria"/>
                <a:cs typeface="Cambria"/>
              </a:rPr>
              <a:t>Les</a:t>
            </a:r>
            <a:r>
              <a:rPr sz="4000" spc="-220" dirty="0">
                <a:latin typeface="Cambria"/>
                <a:cs typeface="Cambria"/>
              </a:rPr>
              <a:t> </a:t>
            </a:r>
            <a:r>
              <a:rPr sz="4000" spc="-80" dirty="0">
                <a:latin typeface="Cambria"/>
                <a:cs typeface="Cambria"/>
              </a:rPr>
              <a:t>Mathématiques</a:t>
            </a:r>
            <a:r>
              <a:rPr sz="4000" spc="20" dirty="0">
                <a:latin typeface="Cambria"/>
                <a:cs typeface="Cambria"/>
              </a:rPr>
              <a:t> </a:t>
            </a:r>
            <a:r>
              <a:rPr sz="4000" dirty="0">
                <a:latin typeface="Cambria"/>
                <a:cs typeface="Cambria"/>
              </a:rPr>
              <a:t>de</a:t>
            </a:r>
            <a:r>
              <a:rPr sz="4000" spc="-150" dirty="0">
                <a:latin typeface="Cambria"/>
                <a:cs typeface="Cambria"/>
              </a:rPr>
              <a:t> </a:t>
            </a:r>
            <a:r>
              <a:rPr sz="4000" spc="-70" dirty="0">
                <a:latin typeface="Cambria"/>
                <a:cs typeface="Cambria"/>
              </a:rPr>
              <a:t>l'Essence</a:t>
            </a:r>
            <a:r>
              <a:rPr sz="4000" spc="75" dirty="0">
                <a:latin typeface="Cambria"/>
                <a:cs typeface="Cambria"/>
              </a:rPr>
              <a:t> </a:t>
            </a:r>
            <a:r>
              <a:rPr sz="4000" dirty="0">
                <a:latin typeface="Cambria"/>
                <a:cs typeface="Cambria"/>
              </a:rPr>
              <a:t>:</a:t>
            </a:r>
            <a:r>
              <a:rPr sz="4000" spc="-220" dirty="0">
                <a:latin typeface="Cambria"/>
                <a:cs typeface="Cambria"/>
              </a:rPr>
              <a:t> </a:t>
            </a:r>
            <a:r>
              <a:rPr sz="4000" spc="-90" dirty="0">
                <a:latin typeface="Cambria"/>
                <a:cs typeface="Cambria"/>
              </a:rPr>
              <a:t>L'Optimisation</a:t>
            </a:r>
            <a:r>
              <a:rPr sz="4000" spc="-130" dirty="0">
                <a:latin typeface="Cambria"/>
                <a:cs typeface="Cambria"/>
              </a:rPr>
              <a:t> </a:t>
            </a:r>
            <a:r>
              <a:rPr sz="4000" spc="-55" dirty="0">
                <a:latin typeface="Cambria"/>
                <a:cs typeface="Cambria"/>
              </a:rPr>
              <a:t>sous</a:t>
            </a:r>
            <a:r>
              <a:rPr sz="4000" spc="-135" dirty="0">
                <a:latin typeface="Cambria"/>
                <a:cs typeface="Cambria"/>
              </a:rPr>
              <a:t> </a:t>
            </a:r>
            <a:r>
              <a:rPr sz="4000" spc="-45" dirty="0">
                <a:latin typeface="Cambria"/>
                <a:cs typeface="Cambria"/>
              </a:rPr>
              <a:t>Contrainte</a:t>
            </a:r>
            <a:r>
              <a:rPr sz="4000" spc="45" dirty="0">
                <a:latin typeface="Cambria"/>
                <a:cs typeface="Cambria"/>
              </a:rPr>
              <a:t> </a:t>
            </a:r>
            <a:r>
              <a:rPr sz="4000" spc="-10" dirty="0">
                <a:latin typeface="Cambria"/>
                <a:cs typeface="Cambria"/>
              </a:rPr>
              <a:t>d'Effet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9104" y="1669697"/>
            <a:ext cx="12065000" cy="147129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5400" marR="17780" indent="279400">
              <a:lnSpc>
                <a:spcPts val="3600"/>
              </a:lnSpc>
              <a:spcBef>
                <a:spcPts val="620"/>
              </a:spcBef>
            </a:pPr>
            <a:r>
              <a:rPr sz="3400" spc="-90" dirty="0">
                <a:latin typeface="Cambria"/>
                <a:cs typeface="Cambria"/>
              </a:rPr>
              <a:t>Le</a:t>
            </a:r>
            <a:r>
              <a:rPr sz="3400" spc="-100" dirty="0">
                <a:latin typeface="Cambria"/>
                <a:cs typeface="Cambria"/>
              </a:rPr>
              <a:t> </a:t>
            </a:r>
            <a:r>
              <a:rPr sz="3400" spc="-155" dirty="0">
                <a:latin typeface="Cambria"/>
                <a:cs typeface="Cambria"/>
              </a:rPr>
              <a:t>Problème</a:t>
            </a:r>
            <a:r>
              <a:rPr sz="3400" spc="-30" dirty="0">
                <a:latin typeface="Cambria"/>
                <a:cs typeface="Cambria"/>
              </a:rPr>
              <a:t> </a:t>
            </a:r>
            <a:r>
              <a:rPr sz="3400" dirty="0">
                <a:latin typeface="Cambria"/>
                <a:cs typeface="Cambria"/>
              </a:rPr>
              <a:t>de</a:t>
            </a:r>
            <a:r>
              <a:rPr sz="3400" spc="-190" dirty="0">
                <a:latin typeface="Cambria"/>
                <a:cs typeface="Cambria"/>
              </a:rPr>
              <a:t> </a:t>
            </a:r>
            <a:r>
              <a:rPr sz="3400" spc="-110" dirty="0">
                <a:latin typeface="Cambria"/>
                <a:cs typeface="Cambria"/>
              </a:rPr>
              <a:t>Simplification</a:t>
            </a:r>
            <a:r>
              <a:rPr sz="3400" spc="-114" dirty="0">
                <a:latin typeface="Cambria"/>
                <a:cs typeface="Cambria"/>
              </a:rPr>
              <a:t> Optimale</a:t>
            </a:r>
            <a:r>
              <a:rPr sz="3400" dirty="0">
                <a:latin typeface="Cambria"/>
                <a:cs typeface="Cambria"/>
              </a:rPr>
              <a:t> :</a:t>
            </a:r>
            <a:r>
              <a:rPr sz="3400" spc="-125" dirty="0">
                <a:latin typeface="Cambria"/>
                <a:cs typeface="Cambria"/>
              </a:rPr>
              <a:t> </a:t>
            </a:r>
            <a:r>
              <a:rPr sz="3400" spc="-140" dirty="0">
                <a:latin typeface="Cambria"/>
                <a:cs typeface="Cambria"/>
              </a:rPr>
              <a:t>L'objectif</a:t>
            </a:r>
            <a:r>
              <a:rPr sz="3400" spc="60" dirty="0">
                <a:latin typeface="Cambria"/>
                <a:cs typeface="Cambria"/>
              </a:rPr>
              <a:t> </a:t>
            </a:r>
            <a:r>
              <a:rPr sz="3400" spc="-45" dirty="0">
                <a:latin typeface="Cambria"/>
                <a:cs typeface="Cambria"/>
              </a:rPr>
              <a:t>est</a:t>
            </a:r>
            <a:r>
              <a:rPr sz="3400" spc="-70" dirty="0">
                <a:latin typeface="Cambria"/>
                <a:cs typeface="Cambria"/>
              </a:rPr>
              <a:t> </a:t>
            </a:r>
            <a:r>
              <a:rPr sz="3400" spc="-45" dirty="0">
                <a:latin typeface="Cambria"/>
                <a:cs typeface="Cambria"/>
              </a:rPr>
              <a:t>de</a:t>
            </a:r>
            <a:r>
              <a:rPr sz="3400" spc="-100" dirty="0">
                <a:latin typeface="Cambria"/>
                <a:cs typeface="Cambria"/>
              </a:rPr>
              <a:t> </a:t>
            </a:r>
            <a:r>
              <a:rPr sz="3400" spc="-160" dirty="0">
                <a:latin typeface="Cambria"/>
                <a:cs typeface="Cambria"/>
              </a:rPr>
              <a:t>trouver</a:t>
            </a:r>
            <a:r>
              <a:rPr sz="3400" spc="-30" dirty="0">
                <a:latin typeface="Cambria"/>
                <a:cs typeface="Cambria"/>
              </a:rPr>
              <a:t> </a:t>
            </a:r>
            <a:r>
              <a:rPr sz="3400" spc="-994" dirty="0">
                <a:latin typeface="Cambria"/>
                <a:cs typeface="Cambria"/>
              </a:rPr>
              <a:t>18</a:t>
            </a:r>
            <a:r>
              <a:rPr sz="3400" spc="-20" dirty="0">
                <a:latin typeface="Cambria"/>
                <a:cs typeface="Cambria"/>
              </a:rPr>
              <a:t> le</a:t>
            </a:r>
            <a:r>
              <a:rPr sz="3400" spc="-170" dirty="0">
                <a:latin typeface="Cambria"/>
                <a:cs typeface="Cambria"/>
              </a:rPr>
              <a:t> </a:t>
            </a:r>
            <a:r>
              <a:rPr sz="3400" spc="-110" dirty="0">
                <a:latin typeface="Cambria"/>
                <a:cs typeface="Cambria"/>
              </a:rPr>
              <a:t>modèle</a:t>
            </a:r>
            <a:r>
              <a:rPr sz="3400" spc="-70" dirty="0">
                <a:latin typeface="Cambria"/>
                <a:cs typeface="Cambria"/>
              </a:rPr>
              <a:t> </a:t>
            </a:r>
            <a:r>
              <a:rPr sz="3400" i="1" spc="130" dirty="0">
                <a:latin typeface="Cambria"/>
                <a:cs typeface="Cambria"/>
              </a:rPr>
              <a:t>S</a:t>
            </a:r>
            <a:r>
              <a:rPr sz="3400" i="1" spc="-190" dirty="0">
                <a:latin typeface="Cambria"/>
                <a:cs typeface="Cambria"/>
              </a:rPr>
              <a:t> </a:t>
            </a:r>
            <a:r>
              <a:rPr sz="3400" spc="-135" dirty="0">
                <a:latin typeface="Cambria"/>
                <a:cs typeface="Cambria"/>
              </a:rPr>
              <a:t>qui</a:t>
            </a:r>
            <a:r>
              <a:rPr sz="3400" spc="-50" dirty="0">
                <a:latin typeface="Cambria"/>
                <a:cs typeface="Cambria"/>
              </a:rPr>
              <a:t> </a:t>
            </a:r>
            <a:r>
              <a:rPr sz="3400" spc="-180" dirty="0">
                <a:latin typeface="Cambria"/>
                <a:cs typeface="Cambria"/>
              </a:rPr>
              <a:t>minimise</a:t>
            </a:r>
            <a:r>
              <a:rPr sz="3400" spc="65" dirty="0">
                <a:latin typeface="Cambria"/>
                <a:cs typeface="Cambria"/>
              </a:rPr>
              <a:t> </a:t>
            </a:r>
            <a:r>
              <a:rPr sz="3400" spc="-145" dirty="0">
                <a:latin typeface="Cambria"/>
                <a:cs typeface="Cambria"/>
              </a:rPr>
              <a:t>la</a:t>
            </a:r>
            <a:r>
              <a:rPr sz="3400" spc="-45" dirty="0">
                <a:latin typeface="Cambria"/>
                <a:cs typeface="Cambria"/>
              </a:rPr>
              <a:t> </a:t>
            </a:r>
            <a:r>
              <a:rPr sz="3400" spc="-105" dirty="0">
                <a:latin typeface="Cambria"/>
                <a:cs typeface="Cambria"/>
              </a:rPr>
              <a:t>complexité</a:t>
            </a:r>
            <a:r>
              <a:rPr sz="3400" spc="70" dirty="0">
                <a:latin typeface="Cambria"/>
                <a:cs typeface="Cambria"/>
              </a:rPr>
              <a:t> </a:t>
            </a:r>
            <a:r>
              <a:rPr sz="3400" spc="-110" dirty="0">
                <a:latin typeface="Cambria"/>
                <a:cs typeface="Cambria"/>
              </a:rPr>
              <a:t>structurelle</a:t>
            </a:r>
            <a:r>
              <a:rPr sz="3400" spc="100" dirty="0">
                <a:latin typeface="Cambria"/>
                <a:cs typeface="Cambria"/>
              </a:rPr>
              <a:t> </a:t>
            </a:r>
            <a:r>
              <a:rPr sz="3400" spc="-65" dirty="0">
                <a:latin typeface="Cambria"/>
                <a:cs typeface="Cambria"/>
              </a:rPr>
              <a:t>tout</a:t>
            </a:r>
            <a:r>
              <a:rPr sz="3400" spc="-30" dirty="0">
                <a:latin typeface="Cambria"/>
                <a:cs typeface="Cambria"/>
              </a:rPr>
              <a:t> </a:t>
            </a:r>
            <a:r>
              <a:rPr sz="3400" spc="-114" dirty="0">
                <a:latin typeface="Cambria"/>
                <a:cs typeface="Cambria"/>
              </a:rPr>
              <a:t>en</a:t>
            </a:r>
            <a:r>
              <a:rPr sz="3400" spc="-75" dirty="0">
                <a:latin typeface="Cambria"/>
                <a:cs typeface="Cambria"/>
              </a:rPr>
              <a:t> </a:t>
            </a:r>
            <a:r>
              <a:rPr sz="3400" spc="-125" dirty="0">
                <a:latin typeface="Cambria"/>
                <a:cs typeface="Cambria"/>
              </a:rPr>
              <a:t>préservant</a:t>
            </a:r>
            <a:endParaRPr sz="3400">
              <a:latin typeface="Cambria"/>
              <a:cs typeface="Cambria"/>
            </a:endParaRPr>
          </a:p>
          <a:p>
            <a:pPr marL="1686560">
              <a:lnSpc>
                <a:spcPts val="3660"/>
              </a:lnSpc>
              <a:tabLst>
                <a:tab pos="3999865" algn="l"/>
              </a:tabLst>
            </a:pPr>
            <a:r>
              <a:rPr sz="3400" spc="-70" dirty="0">
                <a:latin typeface="Cambria"/>
                <a:cs typeface="Cambria"/>
              </a:rPr>
              <a:t>parfaitement</a:t>
            </a:r>
            <a:r>
              <a:rPr sz="3400" dirty="0">
                <a:latin typeface="Cambria"/>
                <a:cs typeface="Cambria"/>
              </a:rPr>
              <a:t>	</a:t>
            </a:r>
            <a:r>
              <a:rPr sz="3400" spc="-190" dirty="0">
                <a:latin typeface="Cambria"/>
                <a:cs typeface="Cambria"/>
              </a:rPr>
              <a:t>l’eHet</a:t>
            </a:r>
            <a:r>
              <a:rPr sz="3400" dirty="0">
                <a:latin typeface="Cambria"/>
                <a:cs typeface="Cambria"/>
              </a:rPr>
              <a:t> </a:t>
            </a:r>
            <a:r>
              <a:rPr sz="3400" spc="-140" dirty="0">
                <a:latin typeface="Cambria"/>
                <a:cs typeface="Cambria"/>
              </a:rPr>
              <a:t>essentiel</a:t>
            </a:r>
            <a:r>
              <a:rPr sz="3400" spc="-35" dirty="0">
                <a:latin typeface="Cambria"/>
                <a:cs typeface="Cambria"/>
              </a:rPr>
              <a:t> </a:t>
            </a:r>
            <a:r>
              <a:rPr sz="5100" spc="-839" baseline="-6535" dirty="0">
                <a:latin typeface="Cambria"/>
                <a:cs typeface="Cambria"/>
              </a:rPr>
              <a:t>No</a:t>
            </a:r>
            <a:r>
              <a:rPr sz="5100" spc="240" baseline="-6535" dirty="0">
                <a:latin typeface="Cambria"/>
                <a:cs typeface="Cambria"/>
              </a:rPr>
              <a:t> </a:t>
            </a:r>
            <a:r>
              <a:rPr sz="3400" spc="-100" dirty="0">
                <a:latin typeface="Cambria"/>
                <a:cs typeface="Cambria"/>
              </a:rPr>
              <a:t>du</a:t>
            </a:r>
            <a:r>
              <a:rPr sz="3400" spc="10" dirty="0">
                <a:latin typeface="Cambria"/>
                <a:cs typeface="Cambria"/>
              </a:rPr>
              <a:t> </a:t>
            </a:r>
            <a:r>
              <a:rPr sz="3400" spc="-160" dirty="0">
                <a:latin typeface="Cambria"/>
                <a:cs typeface="Cambria"/>
              </a:rPr>
              <a:t>modèle</a:t>
            </a:r>
            <a:r>
              <a:rPr sz="3400" spc="-30" dirty="0">
                <a:latin typeface="Cambria"/>
                <a:cs typeface="Cambria"/>
              </a:rPr>
              <a:t> </a:t>
            </a:r>
            <a:r>
              <a:rPr sz="3400" spc="-10" dirty="0">
                <a:latin typeface="Cambria"/>
                <a:cs typeface="Cambria"/>
              </a:rPr>
              <a:t>original.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77814" y="3304469"/>
            <a:ext cx="4944745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087245" algn="l"/>
                <a:tab pos="4105275" algn="l"/>
              </a:tabLst>
            </a:pPr>
            <a:r>
              <a:rPr sz="3650" i="1" spc="-450" dirty="0">
                <a:latin typeface="Cambria"/>
                <a:cs typeface="Cambria"/>
              </a:rPr>
              <a:t>Strip</a:t>
            </a:r>
            <a:r>
              <a:rPr sz="3650" i="1" spc="-250" dirty="0">
                <a:latin typeface="Cambria"/>
                <a:cs typeface="Cambria"/>
              </a:rPr>
              <a:t> </a:t>
            </a:r>
            <a:r>
              <a:rPr sz="3650" i="1" spc="235" dirty="0">
                <a:latin typeface="Cambria"/>
                <a:cs typeface="Cambria"/>
              </a:rPr>
              <a:t>CJS)</a:t>
            </a:r>
            <a:r>
              <a:rPr sz="3650" i="1" dirty="0">
                <a:latin typeface="Cambria"/>
                <a:cs typeface="Cambria"/>
              </a:rPr>
              <a:t>	</a:t>
            </a:r>
            <a:r>
              <a:rPr sz="3650" spc="-185" dirty="0">
                <a:latin typeface="Cambria"/>
                <a:cs typeface="Cambria"/>
              </a:rPr>
              <a:t>soumis</a:t>
            </a:r>
            <a:r>
              <a:rPr sz="3650" spc="-10" dirty="0">
                <a:latin typeface="Cambria"/>
                <a:cs typeface="Cambria"/>
              </a:rPr>
              <a:t> </a:t>
            </a:r>
            <a:r>
              <a:rPr sz="3650" spc="-50" dirty="0">
                <a:latin typeface="Cambria"/>
                <a:cs typeface="Cambria"/>
              </a:rPr>
              <a:t>à</a:t>
            </a:r>
            <a:r>
              <a:rPr sz="3650" dirty="0">
                <a:latin typeface="Cambria"/>
                <a:cs typeface="Cambria"/>
              </a:rPr>
              <a:t>	</a:t>
            </a:r>
            <a:r>
              <a:rPr sz="3650" i="1" spc="-280" dirty="0">
                <a:latin typeface="Cambria"/>
                <a:cs typeface="Cambria"/>
              </a:rPr>
              <a:t>EQS)</a:t>
            </a:r>
            <a:endParaRPr sz="36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75919" y="3361619"/>
            <a:ext cx="316865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spc="-280" dirty="0">
                <a:latin typeface="Cambria"/>
                <a:cs typeface="Cambria"/>
              </a:rPr>
              <a:t>la</a:t>
            </a:r>
            <a:endParaRPr sz="36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3769" y="4703222"/>
            <a:ext cx="7301865" cy="96266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850" spc="-320" dirty="0">
                <a:latin typeface="Cambria"/>
                <a:cs typeface="Cambria"/>
              </a:rPr>
              <a:t>1.</a:t>
            </a:r>
            <a:r>
              <a:rPr sz="2850" spc="-5" dirty="0">
                <a:latin typeface="Cambria"/>
                <a:cs typeface="Cambria"/>
              </a:rPr>
              <a:t> </a:t>
            </a:r>
            <a:r>
              <a:rPr sz="2850" spc="-85" dirty="0">
                <a:latin typeface="Cambria"/>
                <a:cs typeface="Cambria"/>
              </a:rPr>
              <a:t>La</a:t>
            </a:r>
            <a:r>
              <a:rPr sz="2850" spc="-100" dirty="0">
                <a:latin typeface="Cambria"/>
                <a:cs typeface="Cambria"/>
              </a:rPr>
              <a:t> </a:t>
            </a:r>
            <a:r>
              <a:rPr sz="2850" spc="-114" dirty="0">
                <a:latin typeface="Cambria"/>
                <a:cs typeface="Cambria"/>
              </a:rPr>
              <a:t>Fonctionnelle</a:t>
            </a:r>
            <a:r>
              <a:rPr sz="2850" dirty="0">
                <a:latin typeface="Cambria"/>
                <a:cs typeface="Cambria"/>
              </a:rPr>
              <a:t> </a:t>
            </a:r>
            <a:r>
              <a:rPr sz="2850" spc="-75" dirty="0">
                <a:latin typeface="Cambria"/>
                <a:cs typeface="Cambria"/>
              </a:rPr>
              <a:t>de</a:t>
            </a:r>
            <a:r>
              <a:rPr sz="2850" spc="-85" dirty="0">
                <a:latin typeface="Cambria"/>
                <a:cs typeface="Cambria"/>
              </a:rPr>
              <a:t> </a:t>
            </a:r>
            <a:r>
              <a:rPr sz="2850" spc="-110" dirty="0">
                <a:latin typeface="Cambria"/>
                <a:cs typeface="Cambria"/>
              </a:rPr>
              <a:t>Complexité</a:t>
            </a:r>
            <a:r>
              <a:rPr sz="2850" spc="45" dirty="0">
                <a:latin typeface="Cambria"/>
                <a:cs typeface="Cambria"/>
              </a:rPr>
              <a:t> </a:t>
            </a:r>
            <a:r>
              <a:rPr sz="2850" spc="-110" dirty="0">
                <a:latin typeface="Cambria"/>
                <a:cs typeface="Cambria"/>
              </a:rPr>
              <a:t>Structurelle</a:t>
            </a:r>
            <a:r>
              <a:rPr sz="2850" spc="100" dirty="0">
                <a:latin typeface="Cambria"/>
                <a:cs typeface="Cambria"/>
              </a:rPr>
              <a:t> </a:t>
            </a:r>
            <a:r>
              <a:rPr sz="2850" spc="140" dirty="0">
                <a:latin typeface="Cambria"/>
                <a:cs typeface="Cambria"/>
              </a:rPr>
              <a:t>f(S)</a:t>
            </a:r>
            <a:endParaRPr sz="2850">
              <a:latin typeface="Cambria"/>
              <a:cs typeface="Cambria"/>
            </a:endParaRPr>
          </a:p>
          <a:p>
            <a:pPr marL="27305">
              <a:lnSpc>
                <a:spcPct val="100000"/>
              </a:lnSpc>
              <a:spcBef>
                <a:spcPts val="530"/>
              </a:spcBef>
            </a:pPr>
            <a:r>
              <a:rPr sz="2300" spc="-185" dirty="0">
                <a:latin typeface="Cambria"/>
                <a:cs typeface="Cambria"/>
              </a:rPr>
              <a:t>Mesure</a:t>
            </a:r>
            <a:r>
              <a:rPr sz="2300" spc="55" dirty="0">
                <a:latin typeface="Cambria"/>
                <a:cs typeface="Cambria"/>
              </a:rPr>
              <a:t> </a:t>
            </a:r>
            <a:r>
              <a:rPr sz="2300" spc="-185" dirty="0">
                <a:latin typeface="Cambria"/>
                <a:cs typeface="Cambria"/>
              </a:rPr>
              <a:t>le</a:t>
            </a:r>
            <a:r>
              <a:rPr sz="2300" spc="-110" dirty="0">
                <a:latin typeface="Cambria"/>
                <a:cs typeface="Cambria"/>
              </a:rPr>
              <a:t> </a:t>
            </a:r>
            <a:r>
              <a:rPr sz="2300" spc="-245" dirty="0">
                <a:latin typeface="Cambria"/>
                <a:cs typeface="Cambria"/>
              </a:rPr>
              <a:t>"coût"</a:t>
            </a:r>
            <a:r>
              <a:rPr sz="2300" dirty="0">
                <a:latin typeface="Cambria"/>
                <a:cs typeface="Cambria"/>
              </a:rPr>
              <a:t> </a:t>
            </a:r>
            <a:r>
              <a:rPr sz="2300" spc="-165" dirty="0">
                <a:latin typeface="Cambria"/>
                <a:cs typeface="Cambria"/>
              </a:rPr>
              <a:t>descriptif</a:t>
            </a:r>
            <a:r>
              <a:rPr sz="2300" spc="190" dirty="0">
                <a:latin typeface="Cambria"/>
                <a:cs typeface="Cambria"/>
              </a:rPr>
              <a:t> </a:t>
            </a:r>
            <a:r>
              <a:rPr sz="2300" spc="-190" dirty="0">
                <a:latin typeface="Cambria"/>
                <a:cs typeface="Cambria"/>
              </a:rPr>
              <a:t>et</a:t>
            </a:r>
            <a:r>
              <a:rPr sz="2300" spc="-60" dirty="0">
                <a:latin typeface="Cambria"/>
                <a:cs typeface="Cambria"/>
              </a:rPr>
              <a:t> </a:t>
            </a:r>
            <a:r>
              <a:rPr sz="2300" spc="-170" dirty="0">
                <a:latin typeface="Cambria"/>
                <a:cs typeface="Cambria"/>
              </a:rPr>
              <a:t>calculatoire</a:t>
            </a:r>
            <a:r>
              <a:rPr sz="2300" spc="65" dirty="0">
                <a:latin typeface="Cambria"/>
                <a:cs typeface="Cambria"/>
              </a:rPr>
              <a:t> </a:t>
            </a:r>
            <a:r>
              <a:rPr sz="2300" spc="-229" dirty="0">
                <a:latin typeface="Cambria"/>
                <a:cs typeface="Cambria"/>
              </a:rPr>
              <a:t>du</a:t>
            </a:r>
            <a:r>
              <a:rPr sz="2300" spc="105" dirty="0">
                <a:latin typeface="Cambria"/>
                <a:cs typeface="Cambria"/>
              </a:rPr>
              <a:t> </a:t>
            </a:r>
            <a:r>
              <a:rPr sz="2300" spc="-10" dirty="0">
                <a:latin typeface="Cambria"/>
                <a:cs typeface="Cambria"/>
              </a:rPr>
              <a:t>modèle.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54087" y="4703222"/>
            <a:ext cx="7548245" cy="96266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765"/>
              </a:spcBef>
            </a:pPr>
            <a:r>
              <a:rPr sz="2850" spc="-155" dirty="0">
                <a:latin typeface="Cambria"/>
                <a:cs typeface="Cambria"/>
              </a:rPr>
              <a:t>2.</a:t>
            </a:r>
            <a:r>
              <a:rPr sz="2850" dirty="0">
                <a:latin typeface="Cambria"/>
                <a:cs typeface="Cambria"/>
              </a:rPr>
              <a:t> </a:t>
            </a:r>
            <a:r>
              <a:rPr sz="2850" spc="-85" dirty="0">
                <a:latin typeface="Cambria"/>
                <a:cs typeface="Cambria"/>
              </a:rPr>
              <a:t>La</a:t>
            </a:r>
            <a:r>
              <a:rPr sz="2850" spc="-105" dirty="0">
                <a:latin typeface="Cambria"/>
                <a:cs typeface="Cambria"/>
              </a:rPr>
              <a:t> </a:t>
            </a:r>
            <a:r>
              <a:rPr sz="2850" spc="-114" dirty="0">
                <a:latin typeface="Cambria"/>
                <a:cs typeface="Cambria"/>
              </a:rPr>
              <a:t>Fonctionnelle</a:t>
            </a:r>
            <a:r>
              <a:rPr sz="2850" spc="25" dirty="0">
                <a:latin typeface="Cambria"/>
                <a:cs typeface="Cambria"/>
              </a:rPr>
              <a:t> </a:t>
            </a:r>
            <a:r>
              <a:rPr sz="2850" spc="-105" dirty="0">
                <a:latin typeface="Cambria"/>
                <a:cs typeface="Cambria"/>
              </a:rPr>
              <a:t>d'Effet</a:t>
            </a:r>
            <a:r>
              <a:rPr sz="2850" spc="-10" dirty="0">
                <a:latin typeface="Cambria"/>
                <a:cs typeface="Cambria"/>
              </a:rPr>
              <a:t> </a:t>
            </a:r>
            <a:r>
              <a:rPr sz="2850" spc="-90" dirty="0">
                <a:latin typeface="Cambria"/>
                <a:cs typeface="Cambria"/>
              </a:rPr>
              <a:t>Essentiel</a:t>
            </a:r>
            <a:r>
              <a:rPr sz="2850" spc="50" dirty="0">
                <a:latin typeface="Cambria"/>
                <a:cs typeface="Cambria"/>
              </a:rPr>
              <a:t> </a:t>
            </a:r>
            <a:r>
              <a:rPr sz="2850" i="1" spc="-45" dirty="0">
                <a:latin typeface="Cambria"/>
                <a:cs typeface="Cambria"/>
              </a:rPr>
              <a:t>8</a:t>
            </a:r>
            <a:r>
              <a:rPr sz="2850" i="1" spc="-280" dirty="0">
                <a:latin typeface="Cambria"/>
                <a:cs typeface="Cambria"/>
              </a:rPr>
              <a:t> </a:t>
            </a:r>
            <a:r>
              <a:rPr sz="2850" i="1" spc="-305" dirty="0">
                <a:latin typeface="Cambria"/>
                <a:cs typeface="Cambria"/>
              </a:rPr>
              <a:t>pS)</a:t>
            </a:r>
            <a:endParaRPr sz="2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300" spc="-175" dirty="0">
                <a:latin typeface="Cambria"/>
                <a:cs typeface="Cambria"/>
              </a:rPr>
              <a:t>Quantifie</a:t>
            </a:r>
            <a:r>
              <a:rPr sz="2300" spc="45" dirty="0">
                <a:latin typeface="Cambria"/>
                <a:cs typeface="Cambria"/>
              </a:rPr>
              <a:t> </a:t>
            </a:r>
            <a:r>
              <a:rPr sz="2300" spc="-195" dirty="0">
                <a:latin typeface="Cambria"/>
                <a:cs typeface="Cambria"/>
              </a:rPr>
              <a:t>l'impact</a:t>
            </a:r>
            <a:r>
              <a:rPr sz="2300" spc="130" dirty="0">
                <a:latin typeface="Cambria"/>
                <a:cs typeface="Cambria"/>
              </a:rPr>
              <a:t> </a:t>
            </a:r>
            <a:r>
              <a:rPr sz="2300" spc="-195" dirty="0">
                <a:latin typeface="Cambria"/>
                <a:cs typeface="Cambria"/>
              </a:rPr>
              <a:t>sémantique</a:t>
            </a:r>
            <a:r>
              <a:rPr sz="2300" spc="135" dirty="0">
                <a:latin typeface="Cambria"/>
                <a:cs typeface="Cambria"/>
              </a:rPr>
              <a:t> </a:t>
            </a:r>
            <a:r>
              <a:rPr sz="2300" spc="-190" dirty="0">
                <a:latin typeface="Cambria"/>
                <a:cs typeface="Cambria"/>
              </a:rPr>
              <a:t>et</a:t>
            </a:r>
            <a:r>
              <a:rPr sz="2300" spc="-35" dirty="0">
                <a:latin typeface="Cambria"/>
                <a:cs typeface="Cambria"/>
              </a:rPr>
              <a:t> </a:t>
            </a:r>
            <a:r>
              <a:rPr sz="2300" spc="-180" dirty="0">
                <a:latin typeface="Cambria"/>
                <a:cs typeface="Cambria"/>
              </a:rPr>
              <a:t>fonctionnel</a:t>
            </a:r>
            <a:r>
              <a:rPr sz="2300" spc="200" dirty="0">
                <a:latin typeface="Cambria"/>
                <a:cs typeface="Cambria"/>
              </a:rPr>
              <a:t> </a:t>
            </a:r>
            <a:r>
              <a:rPr sz="2300" spc="-285" dirty="0">
                <a:latin typeface="Cambria"/>
                <a:cs typeface="Cambria"/>
              </a:rPr>
              <a:t>du</a:t>
            </a:r>
            <a:r>
              <a:rPr sz="2300" spc="110" dirty="0">
                <a:latin typeface="Cambria"/>
                <a:cs typeface="Cambria"/>
              </a:rPr>
              <a:t> </a:t>
            </a:r>
            <a:r>
              <a:rPr sz="2300" spc="-210" dirty="0">
                <a:latin typeface="Cambria"/>
                <a:cs typeface="Cambria"/>
              </a:rPr>
              <a:t>modèle</a:t>
            </a:r>
            <a:r>
              <a:rPr sz="2300" spc="80" dirty="0">
                <a:latin typeface="Cambria"/>
                <a:cs typeface="Cambria"/>
              </a:rPr>
              <a:t> </a:t>
            </a:r>
            <a:r>
              <a:rPr sz="2300" spc="-195" dirty="0">
                <a:latin typeface="Cambria"/>
                <a:cs typeface="Cambria"/>
              </a:rPr>
              <a:t>sur</a:t>
            </a:r>
            <a:r>
              <a:rPr sz="2300" spc="70" dirty="0">
                <a:latin typeface="Cambria"/>
                <a:cs typeface="Cambria"/>
              </a:rPr>
              <a:t> </a:t>
            </a:r>
            <a:r>
              <a:rPr sz="2300" spc="-185" dirty="0">
                <a:latin typeface="Cambria"/>
                <a:cs typeface="Cambria"/>
              </a:rPr>
              <a:t>le</a:t>
            </a:r>
            <a:r>
              <a:rPr sz="2300" spc="-150" dirty="0">
                <a:latin typeface="Cambria"/>
                <a:cs typeface="Cambria"/>
              </a:rPr>
              <a:t> </a:t>
            </a:r>
            <a:r>
              <a:rPr sz="2300" spc="-85" dirty="0">
                <a:latin typeface="Cambria"/>
                <a:cs typeface="Cambria"/>
              </a:rPr>
              <a:t>système.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4147" y="7355234"/>
            <a:ext cx="16391890" cy="231711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2750" spc="-45" dirty="0">
                <a:latin typeface="Cambria"/>
                <a:cs typeface="Cambria"/>
              </a:rPr>
              <a:t>Garanties</a:t>
            </a:r>
            <a:r>
              <a:rPr sz="2750" spc="-15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Théoriques</a:t>
            </a:r>
            <a:endParaRPr sz="2750">
              <a:latin typeface="Cambria"/>
              <a:cs typeface="Cambria"/>
            </a:endParaRPr>
          </a:p>
          <a:p>
            <a:pPr marL="12700">
              <a:lnSpc>
                <a:spcPts val="2515"/>
              </a:lnSpc>
              <a:spcBef>
                <a:spcPts val="750"/>
              </a:spcBef>
            </a:pPr>
            <a:r>
              <a:rPr sz="2150" spc="-235" dirty="0">
                <a:latin typeface="Arial"/>
                <a:cs typeface="Arial"/>
              </a:rPr>
              <a:t>Des</a:t>
            </a:r>
            <a:r>
              <a:rPr sz="2150" spc="-10" dirty="0">
                <a:latin typeface="Arial"/>
                <a:cs typeface="Arial"/>
              </a:rPr>
              <a:t> </a:t>
            </a:r>
            <a:r>
              <a:rPr sz="2150" spc="-160" dirty="0">
                <a:latin typeface="Arial"/>
                <a:cs typeface="Arial"/>
              </a:rPr>
              <a:t>théorèmes</a:t>
            </a:r>
            <a:r>
              <a:rPr sz="2150" spc="60" dirty="0">
                <a:latin typeface="Arial"/>
                <a:cs typeface="Arial"/>
              </a:rPr>
              <a:t> </a:t>
            </a:r>
            <a:r>
              <a:rPr sz="2150" spc="-150" dirty="0">
                <a:latin typeface="Arial"/>
                <a:cs typeface="Arial"/>
              </a:rPr>
              <a:t>rigoureux</a:t>
            </a:r>
            <a:r>
              <a:rPr sz="2150" spc="155" dirty="0">
                <a:latin typeface="Arial"/>
                <a:cs typeface="Arial"/>
              </a:rPr>
              <a:t> </a:t>
            </a:r>
            <a:r>
              <a:rPr sz="2150" spc="-150" dirty="0">
                <a:latin typeface="Arial"/>
                <a:cs typeface="Arial"/>
              </a:rPr>
              <a:t>garantissent</a:t>
            </a:r>
            <a:r>
              <a:rPr sz="2150" spc="5" dirty="0">
                <a:latin typeface="Arial"/>
                <a:cs typeface="Arial"/>
              </a:rPr>
              <a:t> </a:t>
            </a:r>
            <a:r>
              <a:rPr sz="2150" spc="-50" dirty="0">
                <a:latin typeface="Arial"/>
                <a:cs typeface="Arial"/>
              </a:rPr>
              <a:t>:</a:t>
            </a:r>
            <a:endParaRPr sz="2150">
              <a:latin typeface="Arial"/>
              <a:cs typeface="Arial"/>
            </a:endParaRPr>
          </a:p>
          <a:p>
            <a:pPr marL="332105" indent="-312420">
              <a:lnSpc>
                <a:spcPts val="2315"/>
              </a:lnSpc>
              <a:buChar char="•"/>
              <a:tabLst>
                <a:tab pos="332105" algn="l"/>
              </a:tabLst>
            </a:pPr>
            <a:r>
              <a:rPr sz="2050" spc="-100" dirty="0">
                <a:latin typeface="Arial"/>
                <a:cs typeface="Arial"/>
              </a:rPr>
              <a:t>Théorème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spc="-70" dirty="0">
                <a:latin typeface="Arial"/>
                <a:cs typeface="Arial"/>
              </a:rPr>
              <a:t>d'Existence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-145" dirty="0">
                <a:latin typeface="Arial"/>
                <a:cs typeface="Arial"/>
              </a:rPr>
              <a:t> </a:t>
            </a:r>
            <a:r>
              <a:rPr sz="2050" spc="-220" dirty="0">
                <a:latin typeface="Arial"/>
                <a:cs typeface="Arial"/>
              </a:rPr>
              <a:t>Un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-90" dirty="0">
                <a:latin typeface="Arial"/>
                <a:cs typeface="Arial"/>
              </a:rPr>
              <a:t>modèle</a:t>
            </a:r>
            <a:r>
              <a:rPr sz="2050" spc="10" dirty="0">
                <a:latin typeface="Arial"/>
                <a:cs typeface="Arial"/>
              </a:rPr>
              <a:t> </a:t>
            </a:r>
            <a:r>
              <a:rPr sz="2050" spc="-45" dirty="0">
                <a:latin typeface="Arial"/>
                <a:cs typeface="Arial"/>
              </a:rPr>
              <a:t>simplifié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-55" dirty="0">
                <a:latin typeface="Arial"/>
                <a:cs typeface="Arial"/>
              </a:rPr>
              <a:t>’optimal'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80" dirty="0">
                <a:latin typeface="Arial"/>
                <a:cs typeface="Arial"/>
              </a:rPr>
              <a:t>existe </a:t>
            </a:r>
            <a:r>
              <a:rPr sz="2050" spc="-10" dirty="0">
                <a:latin typeface="Arial"/>
                <a:cs typeface="Arial"/>
              </a:rPr>
              <a:t>toujours.</a:t>
            </a:r>
            <a:endParaRPr sz="2050">
              <a:latin typeface="Arial"/>
              <a:cs typeface="Arial"/>
            </a:endParaRPr>
          </a:p>
          <a:p>
            <a:pPr marL="332105" indent="-313055">
              <a:lnSpc>
                <a:spcPts val="2385"/>
              </a:lnSpc>
              <a:buChar char="•"/>
              <a:tabLst>
                <a:tab pos="332105" algn="l"/>
              </a:tabLst>
            </a:pPr>
            <a:r>
              <a:rPr sz="2150" spc="-170" dirty="0">
                <a:latin typeface="Arial"/>
                <a:cs typeface="Arial"/>
              </a:rPr>
              <a:t>Théorème</a:t>
            </a:r>
            <a:r>
              <a:rPr sz="2150" spc="-45" dirty="0">
                <a:latin typeface="Arial"/>
                <a:cs typeface="Arial"/>
              </a:rPr>
              <a:t> </a:t>
            </a:r>
            <a:r>
              <a:rPr sz="2150" spc="-120" dirty="0">
                <a:latin typeface="Arial"/>
                <a:cs typeface="Arial"/>
              </a:rPr>
              <a:t>de</a:t>
            </a:r>
            <a:r>
              <a:rPr sz="2150" spc="-220" dirty="0">
                <a:latin typeface="Arial"/>
                <a:cs typeface="Arial"/>
              </a:rPr>
              <a:t> </a:t>
            </a:r>
            <a:r>
              <a:rPr sz="2150" spc="-90" dirty="0">
                <a:latin typeface="Arial"/>
                <a:cs typeface="Arial"/>
              </a:rPr>
              <a:t>Stabilité</a:t>
            </a:r>
            <a:r>
              <a:rPr sz="2150" spc="-125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:</a:t>
            </a:r>
            <a:r>
              <a:rPr sz="2150" spc="5" dirty="0">
                <a:latin typeface="Arial"/>
                <a:cs typeface="Arial"/>
              </a:rPr>
              <a:t> </a:t>
            </a:r>
            <a:r>
              <a:rPr sz="2150" spc="-240" dirty="0">
                <a:latin typeface="Arial"/>
                <a:cs typeface="Arial"/>
              </a:rPr>
              <a:t>Le</a:t>
            </a:r>
            <a:r>
              <a:rPr sz="2150" spc="-135" dirty="0">
                <a:latin typeface="Arial"/>
                <a:cs typeface="Arial"/>
              </a:rPr>
              <a:t> </a:t>
            </a:r>
            <a:r>
              <a:rPr sz="2150" spc="-155" dirty="0">
                <a:latin typeface="Arial"/>
                <a:cs typeface="Arial"/>
              </a:rPr>
              <a:t>processus</a:t>
            </a:r>
            <a:r>
              <a:rPr sz="2150" spc="60" dirty="0">
                <a:latin typeface="Arial"/>
                <a:cs typeface="Arial"/>
              </a:rPr>
              <a:t> </a:t>
            </a:r>
            <a:r>
              <a:rPr sz="2150" spc="-165" dirty="0">
                <a:latin typeface="Arial"/>
                <a:cs typeface="Arial"/>
              </a:rPr>
              <a:t>de</a:t>
            </a:r>
            <a:r>
              <a:rPr sz="2150" spc="-85" dirty="0">
                <a:latin typeface="Arial"/>
                <a:cs typeface="Arial"/>
              </a:rPr>
              <a:t> </a:t>
            </a:r>
            <a:r>
              <a:rPr sz="2150" spc="-80" dirty="0">
                <a:latin typeface="Arial"/>
                <a:cs typeface="Arial"/>
              </a:rPr>
              <a:t>simplification</a:t>
            </a:r>
            <a:r>
              <a:rPr sz="2150" spc="-130" dirty="0">
                <a:latin typeface="Arial"/>
                <a:cs typeface="Arial"/>
              </a:rPr>
              <a:t> </a:t>
            </a:r>
            <a:r>
              <a:rPr sz="2150" spc="-135" dirty="0">
                <a:latin typeface="Arial"/>
                <a:cs typeface="Arial"/>
              </a:rPr>
              <a:t>est</a:t>
            </a:r>
            <a:r>
              <a:rPr sz="2150" spc="-100" dirty="0">
                <a:latin typeface="Arial"/>
                <a:cs typeface="Arial"/>
              </a:rPr>
              <a:t> </a:t>
            </a:r>
            <a:r>
              <a:rPr sz="2150" spc="-165" dirty="0">
                <a:latin typeface="Arial"/>
                <a:cs typeface="Arial"/>
              </a:rPr>
              <a:t>dynamiquement</a:t>
            </a:r>
            <a:r>
              <a:rPr sz="2150" spc="225" dirty="0">
                <a:latin typeface="Arial"/>
                <a:cs typeface="Arial"/>
              </a:rPr>
              <a:t> </a:t>
            </a:r>
            <a:r>
              <a:rPr sz="2150" spc="-10" dirty="0">
                <a:latin typeface="Arial"/>
                <a:cs typeface="Arial"/>
              </a:rPr>
              <a:t>stable.</a:t>
            </a:r>
            <a:endParaRPr sz="2150">
              <a:latin typeface="Arial"/>
              <a:cs typeface="Arial"/>
            </a:endParaRPr>
          </a:p>
          <a:p>
            <a:pPr marL="331470" indent="-313055">
              <a:lnSpc>
                <a:spcPts val="2525"/>
              </a:lnSpc>
              <a:buChar char="•"/>
              <a:tabLst>
                <a:tab pos="331470" algn="l"/>
              </a:tabLst>
            </a:pPr>
            <a:r>
              <a:rPr sz="2200" spc="-200" dirty="0">
                <a:latin typeface="Arial"/>
                <a:cs typeface="Arial"/>
              </a:rPr>
              <a:t>Théorème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spc="-145" dirty="0">
                <a:latin typeface="Arial"/>
                <a:cs typeface="Arial"/>
              </a:rPr>
              <a:t>de</a:t>
            </a:r>
            <a:r>
              <a:rPr sz="2200" spc="-190" dirty="0">
                <a:latin typeface="Arial"/>
                <a:cs typeface="Arial"/>
              </a:rPr>
              <a:t> </a:t>
            </a:r>
            <a:r>
              <a:rPr sz="2200" spc="-155" dirty="0">
                <a:latin typeface="Arial"/>
                <a:cs typeface="Arial"/>
              </a:rPr>
              <a:t>Préservation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spc="-145" dirty="0">
                <a:latin typeface="Arial"/>
                <a:cs typeface="Arial"/>
              </a:rPr>
              <a:t>de</a:t>
            </a:r>
            <a:r>
              <a:rPr sz="2200" spc="-160" dirty="0">
                <a:latin typeface="Arial"/>
                <a:cs typeface="Arial"/>
              </a:rPr>
              <a:t> </a:t>
            </a:r>
            <a:r>
              <a:rPr sz="2200" spc="-85" dirty="0">
                <a:latin typeface="Arial"/>
                <a:cs typeface="Arial"/>
              </a:rPr>
              <a:t>l'lnforiziation</a:t>
            </a:r>
            <a:r>
              <a:rPr sz="2200" spc="-190" dirty="0">
                <a:latin typeface="Arial"/>
                <a:cs typeface="Arial"/>
              </a:rPr>
              <a:t> </a:t>
            </a:r>
            <a:r>
              <a:rPr sz="2200" spc="-65" dirty="0">
                <a:latin typeface="Arial"/>
                <a:cs typeface="Arial"/>
              </a:rPr>
              <a:t>:</a:t>
            </a:r>
            <a:r>
              <a:rPr sz="2200" spc="-130" dirty="0">
                <a:latin typeface="Arial"/>
                <a:cs typeface="Arial"/>
              </a:rPr>
              <a:t> </a:t>
            </a:r>
            <a:r>
              <a:rPr sz="2200" spc="-200" dirty="0">
                <a:latin typeface="Arial"/>
                <a:cs typeface="Arial"/>
              </a:rPr>
              <a:t>Fixe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spc="-229" dirty="0">
                <a:latin typeface="Arial"/>
                <a:cs typeface="Arial"/>
              </a:rPr>
              <a:t>une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spc="-105" dirty="0">
                <a:latin typeface="Arial"/>
                <a:cs typeface="Arial"/>
              </a:rPr>
              <a:t>limite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spc="-195" dirty="0">
                <a:latin typeface="Arial"/>
                <a:cs typeface="Arial"/>
              </a:rPr>
              <a:t>supérieure</a:t>
            </a:r>
            <a:r>
              <a:rPr sz="2200" spc="100" dirty="0">
                <a:latin typeface="Arial"/>
                <a:cs typeface="Arial"/>
              </a:rPr>
              <a:t> </a:t>
            </a:r>
            <a:r>
              <a:rPr sz="2200" spc="-215" dirty="0">
                <a:latin typeface="Arial"/>
                <a:cs typeface="Arial"/>
              </a:rPr>
              <a:t>à</a:t>
            </a:r>
            <a:r>
              <a:rPr sz="2200" spc="-180" dirty="0">
                <a:latin typeface="Arial"/>
                <a:cs typeface="Arial"/>
              </a:rPr>
              <a:t> </a:t>
            </a:r>
            <a:r>
              <a:rPr sz="2200" spc="-140" dirty="0">
                <a:latin typeface="Arial"/>
                <a:cs typeface="Arial"/>
              </a:rPr>
              <a:t>la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-160" dirty="0">
                <a:latin typeface="Arial"/>
                <a:cs typeface="Arial"/>
              </a:rPr>
              <a:t>perte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spc="-125" dirty="0">
                <a:latin typeface="Arial"/>
                <a:cs typeface="Arial"/>
              </a:rPr>
              <a:t>d'information,</a:t>
            </a:r>
            <a:r>
              <a:rPr sz="2200" spc="-254" dirty="0">
                <a:latin typeface="Arial"/>
                <a:cs typeface="Arial"/>
              </a:rPr>
              <a:t> </a:t>
            </a:r>
            <a:r>
              <a:rPr sz="2200" spc="-150" dirty="0">
                <a:latin typeface="Arial"/>
                <a:cs typeface="Arial"/>
              </a:rPr>
              <a:t>garantissant</a:t>
            </a:r>
            <a:r>
              <a:rPr sz="2200" spc="140" dirty="0">
                <a:latin typeface="Arial"/>
                <a:cs typeface="Arial"/>
              </a:rPr>
              <a:t> </a:t>
            </a:r>
            <a:r>
              <a:rPr sz="2200" spc="-220" dirty="0">
                <a:latin typeface="Arial"/>
                <a:cs typeface="Arial"/>
              </a:rPr>
              <a:t>que</a:t>
            </a:r>
            <a:r>
              <a:rPr sz="2200" spc="-135" dirty="0">
                <a:latin typeface="Arial"/>
                <a:cs typeface="Arial"/>
              </a:rPr>
              <a:t> </a:t>
            </a:r>
            <a:r>
              <a:rPr sz="2200" spc="-140" dirty="0">
                <a:latin typeface="Arial"/>
                <a:cs typeface="Arial"/>
              </a:rPr>
              <a:t>le </a:t>
            </a:r>
            <a:r>
              <a:rPr sz="2200" spc="-170" dirty="0">
                <a:latin typeface="Arial"/>
                <a:cs typeface="Arial"/>
              </a:rPr>
              <a:t>’sens’</a:t>
            </a:r>
            <a:r>
              <a:rPr sz="2200" spc="-125" dirty="0">
                <a:latin typeface="Arial"/>
                <a:cs typeface="Arial"/>
              </a:rPr>
              <a:t> </a:t>
            </a:r>
            <a:r>
              <a:rPr sz="2200" spc="-155" dirty="0">
                <a:latin typeface="Arial"/>
                <a:cs typeface="Arial"/>
              </a:rPr>
              <a:t>biologique</a:t>
            </a:r>
            <a:r>
              <a:rPr sz="2200" spc="70" dirty="0">
                <a:latin typeface="Arial"/>
                <a:cs typeface="Arial"/>
              </a:rPr>
              <a:t> </a:t>
            </a:r>
            <a:r>
              <a:rPr sz="2200" spc="-155" dirty="0">
                <a:latin typeface="Arial"/>
                <a:cs typeface="Arial"/>
              </a:rPr>
              <a:t>est</a:t>
            </a:r>
            <a:r>
              <a:rPr sz="2200" spc="-10" dirty="0">
                <a:latin typeface="Arial"/>
                <a:cs typeface="Arial"/>
              </a:rPr>
              <a:t> conservé.</a:t>
            </a:r>
            <a:endParaRPr sz="22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460"/>
              </a:spcBef>
              <a:tabLst>
                <a:tab pos="703580" algn="l"/>
              </a:tabLst>
            </a:pPr>
            <a:r>
              <a:rPr sz="1500" spc="-50" dirty="0">
                <a:latin typeface="Cambria"/>
                <a:cs typeface="Cambria"/>
              </a:rPr>
              <a:t>G</a:t>
            </a:r>
            <a:r>
              <a:rPr sz="1500" dirty="0">
                <a:latin typeface="Cambria"/>
                <a:cs typeface="Cambria"/>
              </a:rPr>
              <a:t>	</a:t>
            </a:r>
            <a:r>
              <a:rPr sz="1500" spc="-10" dirty="0">
                <a:latin typeface="Cambria"/>
                <a:cs typeface="Cambria"/>
              </a:rPr>
              <a:t>NotebookLM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148189" y="6722885"/>
            <a:ext cx="624840" cy="332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110" dirty="0">
                <a:solidFill>
                  <a:srgbClr val="3B3B3B"/>
                </a:solidFill>
                <a:latin typeface="Cambria"/>
                <a:cs typeface="Cambria"/>
              </a:rPr>
              <a:t>Fisher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4700" y="5219700"/>
            <a:ext cx="4635500" cy="3175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9000" y="514349"/>
            <a:ext cx="1499616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-350" dirty="0"/>
              <a:t>Le</a:t>
            </a:r>
            <a:r>
              <a:rPr sz="5000" spc="35" dirty="0"/>
              <a:t> </a:t>
            </a:r>
            <a:r>
              <a:rPr sz="5000" dirty="0"/>
              <a:t>Fondement:</a:t>
            </a:r>
            <a:r>
              <a:rPr sz="5000" spc="135" dirty="0"/>
              <a:t> </a:t>
            </a:r>
            <a:r>
              <a:rPr sz="5000" spc="-350" dirty="0"/>
              <a:t>Le</a:t>
            </a:r>
            <a:r>
              <a:rPr sz="5000" spc="25" dirty="0"/>
              <a:t> </a:t>
            </a:r>
            <a:r>
              <a:rPr sz="5000" dirty="0"/>
              <a:t>Cadre</a:t>
            </a:r>
            <a:r>
              <a:rPr sz="5000" spc="90" dirty="0"/>
              <a:t> </a:t>
            </a:r>
            <a:r>
              <a:rPr sz="5000" spc="-70" dirty="0"/>
              <a:t>Cosmique</a:t>
            </a:r>
            <a:r>
              <a:rPr sz="5000" spc="204" dirty="0"/>
              <a:t> </a:t>
            </a:r>
            <a:r>
              <a:rPr sz="5000" dirty="0"/>
              <a:t>Surintégré</a:t>
            </a:r>
            <a:r>
              <a:rPr sz="5000" spc="185" dirty="0"/>
              <a:t> </a:t>
            </a:r>
            <a:r>
              <a:rPr sz="5000" spc="-335" dirty="0"/>
              <a:t>(UHCF-</a:t>
            </a:r>
            <a:r>
              <a:rPr sz="5000" spc="-415" dirty="0"/>
              <a:t>OM)</a:t>
            </a:r>
            <a:endParaRPr sz="5000"/>
          </a:p>
        </p:txBody>
      </p:sp>
      <p:sp>
        <p:nvSpPr>
          <p:cNvPr id="4" name="object 4"/>
          <p:cNvSpPr txBox="1"/>
          <p:nvPr/>
        </p:nvSpPr>
        <p:spPr>
          <a:xfrm>
            <a:off x="872684" y="1433688"/>
            <a:ext cx="15441930" cy="106362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5080" indent="16510">
              <a:lnSpc>
                <a:spcPct val="87200"/>
              </a:lnSpc>
              <a:spcBef>
                <a:spcPts val="470"/>
              </a:spcBef>
            </a:pPr>
            <a:r>
              <a:rPr sz="2350" spc="-225" dirty="0">
                <a:latin typeface="Arial"/>
                <a:cs typeface="Arial"/>
              </a:rPr>
              <a:t>À</a:t>
            </a:r>
            <a:r>
              <a:rPr sz="2350" spc="3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la</a:t>
            </a:r>
            <a:r>
              <a:rPr sz="2350" spc="-105" dirty="0">
                <a:latin typeface="Arial"/>
                <a:cs typeface="Arial"/>
              </a:rPr>
              <a:t> </a:t>
            </a:r>
            <a:r>
              <a:rPr sz="2350" spc="-20" dirty="0">
                <a:latin typeface="Arial"/>
                <a:cs typeface="Arial"/>
              </a:rPr>
              <a:t>base</a:t>
            </a:r>
            <a:r>
              <a:rPr sz="2350" spc="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de</a:t>
            </a:r>
            <a:r>
              <a:rPr sz="2350" spc="-1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notre</a:t>
            </a:r>
            <a:r>
              <a:rPr sz="2350" spc="20" dirty="0">
                <a:latin typeface="Arial"/>
                <a:cs typeface="Arial"/>
              </a:rPr>
              <a:t> </a:t>
            </a:r>
            <a:r>
              <a:rPr sz="2350" spc="-25" dirty="0">
                <a:latin typeface="Arial"/>
                <a:cs typeface="Arial"/>
              </a:rPr>
              <a:t>pyramide</a:t>
            </a:r>
            <a:r>
              <a:rPr sz="2350" spc="14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se</a:t>
            </a:r>
            <a:r>
              <a:rPr sz="2350" spc="-8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trouve</a:t>
            </a:r>
            <a:r>
              <a:rPr sz="2350" spc="4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le</a:t>
            </a:r>
            <a:r>
              <a:rPr sz="2350" spc="-125" dirty="0">
                <a:latin typeface="Arial"/>
                <a:cs typeface="Arial"/>
              </a:rPr>
              <a:t> </a:t>
            </a:r>
            <a:r>
              <a:rPr sz="2350" spc="-20" dirty="0">
                <a:latin typeface="Arial"/>
                <a:cs typeface="Arial"/>
              </a:rPr>
              <a:t>modèle</a:t>
            </a:r>
            <a:r>
              <a:rPr sz="2350" spc="-4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qui</a:t>
            </a:r>
            <a:r>
              <a:rPr sz="2350" spc="-14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rend</a:t>
            </a:r>
            <a:r>
              <a:rPr sz="2350" spc="-2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tout</a:t>
            </a:r>
            <a:r>
              <a:rPr sz="2350" spc="10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le</a:t>
            </a:r>
            <a:r>
              <a:rPr sz="2350" spc="-2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reste</a:t>
            </a:r>
            <a:r>
              <a:rPr sz="2350" spc="-50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possible</a:t>
            </a:r>
            <a:r>
              <a:rPr sz="2350" spc="-4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:</a:t>
            </a:r>
            <a:r>
              <a:rPr sz="2350" spc="-85" dirty="0">
                <a:latin typeface="Arial"/>
                <a:cs typeface="Arial"/>
              </a:rPr>
              <a:t> </a:t>
            </a:r>
            <a:r>
              <a:rPr sz="2350" spc="-65" dirty="0">
                <a:latin typeface="Arial"/>
                <a:cs typeface="Arial"/>
              </a:rPr>
              <a:t>le</a:t>
            </a:r>
            <a:r>
              <a:rPr sz="2350" spc="-9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Modèle</a:t>
            </a:r>
            <a:r>
              <a:rPr sz="2350" spc="-9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Mathématique-</a:t>
            </a:r>
            <a:r>
              <a:rPr sz="2350" spc="-10" dirty="0">
                <a:latin typeface="Arial"/>
                <a:cs typeface="Arial"/>
              </a:rPr>
              <a:t>Biologique </a:t>
            </a:r>
            <a:r>
              <a:rPr sz="2550" spc="-80" dirty="0">
                <a:latin typeface="Arial"/>
                <a:cs typeface="Arial"/>
              </a:rPr>
              <a:t>Complet</a:t>
            </a:r>
            <a:r>
              <a:rPr sz="2550" spc="-100" dirty="0">
                <a:latin typeface="Arial"/>
                <a:cs typeface="Arial"/>
              </a:rPr>
              <a:t> </a:t>
            </a:r>
            <a:r>
              <a:rPr sz="2550" spc="-185" dirty="0">
                <a:latin typeface="Arial"/>
                <a:cs typeface="Arial"/>
              </a:rPr>
              <a:t>(UHCF-</a:t>
            </a:r>
            <a:r>
              <a:rPr sz="2550" spc="-140" dirty="0">
                <a:latin typeface="Arial"/>
                <a:cs typeface="Arial"/>
              </a:rPr>
              <a:t>OM).</a:t>
            </a:r>
            <a:r>
              <a:rPr sz="2550" spc="-35" dirty="0">
                <a:latin typeface="Arial"/>
                <a:cs typeface="Arial"/>
              </a:rPr>
              <a:t> </a:t>
            </a:r>
            <a:r>
              <a:rPr sz="2550" spc="-280" dirty="0">
                <a:latin typeface="Arial"/>
                <a:cs typeface="Arial"/>
              </a:rPr>
              <a:t>Ce</a:t>
            </a:r>
            <a:r>
              <a:rPr sz="2550" spc="-80" dirty="0">
                <a:latin typeface="Arial"/>
                <a:cs typeface="Arial"/>
              </a:rPr>
              <a:t> </a:t>
            </a:r>
            <a:r>
              <a:rPr sz="2550" spc="-120" dirty="0">
                <a:latin typeface="Arial"/>
                <a:cs typeface="Arial"/>
              </a:rPr>
              <a:t>n‘est</a:t>
            </a:r>
            <a:r>
              <a:rPr sz="2550" spc="-45" dirty="0">
                <a:latin typeface="Arial"/>
                <a:cs typeface="Arial"/>
              </a:rPr>
              <a:t> </a:t>
            </a:r>
            <a:r>
              <a:rPr sz="2550" spc="-200" dirty="0">
                <a:latin typeface="Arial"/>
                <a:cs typeface="Arial"/>
              </a:rPr>
              <a:t>pas</a:t>
            </a:r>
            <a:r>
              <a:rPr sz="2550" spc="15" dirty="0">
                <a:latin typeface="Arial"/>
                <a:cs typeface="Arial"/>
              </a:rPr>
              <a:t> </a:t>
            </a:r>
            <a:r>
              <a:rPr sz="2550" spc="-135" dirty="0">
                <a:latin typeface="Arial"/>
                <a:cs typeface="Arial"/>
              </a:rPr>
              <a:t>simplement</a:t>
            </a:r>
            <a:r>
              <a:rPr sz="2550" spc="70" dirty="0">
                <a:latin typeface="Arial"/>
                <a:cs typeface="Arial"/>
              </a:rPr>
              <a:t> </a:t>
            </a:r>
            <a:r>
              <a:rPr sz="2550" spc="-165" dirty="0">
                <a:latin typeface="Arial"/>
                <a:cs typeface="Arial"/>
              </a:rPr>
              <a:t>une</a:t>
            </a:r>
            <a:r>
              <a:rPr sz="2550" spc="-15" dirty="0">
                <a:latin typeface="Arial"/>
                <a:cs typeface="Arial"/>
              </a:rPr>
              <a:t> </a:t>
            </a:r>
            <a:r>
              <a:rPr sz="2550" spc="-130" dirty="0">
                <a:latin typeface="Arial"/>
                <a:cs typeface="Arial"/>
              </a:rPr>
              <a:t>équation,</a:t>
            </a:r>
            <a:r>
              <a:rPr sz="2550" spc="-35" dirty="0">
                <a:latin typeface="Arial"/>
                <a:cs typeface="Arial"/>
              </a:rPr>
              <a:t> </a:t>
            </a:r>
            <a:r>
              <a:rPr sz="2550" spc="-180" dirty="0">
                <a:latin typeface="Arial"/>
                <a:cs typeface="Arial"/>
              </a:rPr>
              <a:t>mais</a:t>
            </a:r>
            <a:r>
              <a:rPr sz="2550" spc="-25" dirty="0">
                <a:latin typeface="Arial"/>
                <a:cs typeface="Arial"/>
              </a:rPr>
              <a:t> </a:t>
            </a:r>
            <a:r>
              <a:rPr sz="2550" spc="-130" dirty="0">
                <a:latin typeface="Arial"/>
                <a:cs typeface="Arial"/>
              </a:rPr>
              <a:t>une</a:t>
            </a:r>
            <a:r>
              <a:rPr sz="2550" spc="-15" dirty="0">
                <a:latin typeface="Arial"/>
                <a:cs typeface="Arial"/>
              </a:rPr>
              <a:t> </a:t>
            </a:r>
            <a:r>
              <a:rPr sz="2550" spc="-85" dirty="0">
                <a:latin typeface="Arial"/>
                <a:cs typeface="Arial"/>
              </a:rPr>
              <a:t>tentative</a:t>
            </a:r>
            <a:r>
              <a:rPr sz="2550" spc="50" dirty="0">
                <a:latin typeface="Arial"/>
                <a:cs typeface="Arial"/>
              </a:rPr>
              <a:t> </a:t>
            </a:r>
            <a:r>
              <a:rPr sz="2550" spc="-110" dirty="0">
                <a:latin typeface="Arial"/>
                <a:cs typeface="Arial"/>
              </a:rPr>
              <a:t>de</a:t>
            </a:r>
            <a:r>
              <a:rPr sz="2550" spc="-165" dirty="0">
                <a:latin typeface="Arial"/>
                <a:cs typeface="Arial"/>
              </a:rPr>
              <a:t> </a:t>
            </a:r>
            <a:r>
              <a:rPr sz="2550" spc="-95" dirty="0">
                <a:latin typeface="Arial"/>
                <a:cs typeface="Arial"/>
              </a:rPr>
              <a:t>capturer</a:t>
            </a:r>
            <a:r>
              <a:rPr sz="2550" spc="85" dirty="0">
                <a:latin typeface="Arial"/>
                <a:cs typeface="Arial"/>
              </a:rPr>
              <a:t> </a:t>
            </a:r>
            <a:r>
              <a:rPr sz="2550" spc="-150" dirty="0">
                <a:latin typeface="Arial"/>
                <a:cs typeface="Arial"/>
              </a:rPr>
              <a:t>la</a:t>
            </a:r>
            <a:r>
              <a:rPr sz="2550" spc="-114" dirty="0">
                <a:latin typeface="Arial"/>
                <a:cs typeface="Arial"/>
              </a:rPr>
              <a:t> </a:t>
            </a:r>
            <a:r>
              <a:rPr sz="2550" spc="-35" dirty="0">
                <a:latin typeface="Arial"/>
                <a:cs typeface="Arial"/>
              </a:rPr>
              <a:t>réalité</a:t>
            </a:r>
            <a:r>
              <a:rPr sz="2550" spc="-145" dirty="0">
                <a:latin typeface="Arial"/>
                <a:cs typeface="Arial"/>
              </a:rPr>
              <a:t> </a:t>
            </a:r>
            <a:r>
              <a:rPr sz="2550" spc="-10" dirty="0">
                <a:latin typeface="Arial"/>
                <a:cs typeface="Arial"/>
              </a:rPr>
              <a:t>biologique </a:t>
            </a:r>
            <a:r>
              <a:rPr sz="2550" spc="-35" dirty="0">
                <a:latin typeface="Arial"/>
                <a:cs typeface="Arial"/>
              </a:rPr>
              <a:t>intégrale</a:t>
            </a:r>
            <a:r>
              <a:rPr sz="2550" spc="-85" dirty="0">
                <a:latin typeface="Arial"/>
                <a:cs typeface="Arial"/>
              </a:rPr>
              <a:t> </a:t>
            </a:r>
            <a:r>
              <a:rPr sz="2550" spc="-125" dirty="0">
                <a:latin typeface="Arial"/>
                <a:cs typeface="Arial"/>
              </a:rPr>
              <a:t>du</a:t>
            </a:r>
            <a:r>
              <a:rPr sz="2550" spc="-130" dirty="0">
                <a:latin typeface="Arial"/>
                <a:cs typeface="Arial"/>
              </a:rPr>
              <a:t> </a:t>
            </a:r>
            <a:r>
              <a:rPr sz="2550" spc="-10" dirty="0">
                <a:latin typeface="Arial"/>
                <a:cs typeface="Arial"/>
              </a:rPr>
              <a:t>cancer.</a:t>
            </a:r>
            <a:endParaRPr sz="25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3010"/>
              </a:lnSpc>
              <a:spcBef>
                <a:spcPts val="135"/>
              </a:spcBef>
            </a:pPr>
            <a:r>
              <a:rPr spc="-20" dirty="0"/>
              <a:t>Philosophie</a:t>
            </a:r>
            <a:r>
              <a:rPr spc="-15" dirty="0"/>
              <a:t> </a:t>
            </a:r>
            <a:r>
              <a:rPr spc="-45" dirty="0"/>
              <a:t>Fondamentale</a:t>
            </a:r>
            <a:r>
              <a:rPr spc="-30" dirty="0"/>
              <a:t> </a:t>
            </a:r>
            <a:r>
              <a:rPr dirty="0"/>
              <a:t>:</a:t>
            </a:r>
            <a:r>
              <a:rPr spc="-180" dirty="0"/>
              <a:t> </a:t>
            </a:r>
            <a:r>
              <a:rPr spc="-10" dirty="0"/>
              <a:t>L'intégration</a:t>
            </a:r>
          </a:p>
          <a:p>
            <a:pPr marL="12700">
              <a:lnSpc>
                <a:spcPts val="3130"/>
              </a:lnSpc>
            </a:pPr>
            <a:r>
              <a:rPr sz="2700" spc="-55" dirty="0"/>
              <a:t>Non-</a:t>
            </a:r>
            <a:r>
              <a:rPr sz="2700" spc="-10" dirty="0"/>
              <a:t>Réductionniste</a:t>
            </a:r>
            <a:endParaRPr sz="2700"/>
          </a:p>
          <a:p>
            <a:pPr marL="17780" marR="5080" indent="-1270">
              <a:lnSpc>
                <a:spcPts val="2550"/>
              </a:lnSpc>
              <a:spcBef>
                <a:spcPts val="919"/>
              </a:spcBef>
            </a:pPr>
            <a:r>
              <a:rPr sz="2350" spc="-180" dirty="0"/>
              <a:t>La</a:t>
            </a:r>
            <a:r>
              <a:rPr sz="2350" spc="-5" dirty="0"/>
              <a:t> </a:t>
            </a:r>
            <a:r>
              <a:rPr sz="2350" spc="-60" dirty="0"/>
              <a:t>tumeur</a:t>
            </a:r>
            <a:r>
              <a:rPr sz="2350" spc="-105" dirty="0"/>
              <a:t> </a:t>
            </a:r>
            <a:r>
              <a:rPr sz="2350" spc="-90" dirty="0"/>
              <a:t>maligne</a:t>
            </a:r>
            <a:r>
              <a:rPr sz="2350" spc="-70" dirty="0"/>
              <a:t> </a:t>
            </a:r>
            <a:r>
              <a:rPr sz="2350" spc="-10" dirty="0"/>
              <a:t>est</a:t>
            </a:r>
            <a:r>
              <a:rPr sz="2350" spc="-155" dirty="0"/>
              <a:t> </a:t>
            </a:r>
            <a:r>
              <a:rPr sz="2350" spc="-50" dirty="0"/>
              <a:t>un</a:t>
            </a:r>
            <a:r>
              <a:rPr sz="2350" spc="-105" dirty="0"/>
              <a:t> </a:t>
            </a:r>
            <a:r>
              <a:rPr sz="2350" spc="-90" dirty="0"/>
              <a:t>système</a:t>
            </a:r>
            <a:r>
              <a:rPr sz="2350" spc="-75" dirty="0"/>
              <a:t> </a:t>
            </a:r>
            <a:r>
              <a:rPr sz="2350" spc="-45" dirty="0"/>
              <a:t>ouvert</a:t>
            </a:r>
            <a:r>
              <a:rPr sz="2350" spc="-55" dirty="0"/>
              <a:t> </a:t>
            </a:r>
            <a:r>
              <a:rPr sz="2350" spc="-65" dirty="0"/>
              <a:t>qui</a:t>
            </a:r>
            <a:r>
              <a:rPr sz="2350" spc="-95" dirty="0"/>
              <a:t> </a:t>
            </a:r>
            <a:r>
              <a:rPr sz="2350" spc="-125" dirty="0"/>
              <a:t>ne</a:t>
            </a:r>
            <a:r>
              <a:rPr sz="2350" spc="-45" dirty="0"/>
              <a:t> </a:t>
            </a:r>
            <a:r>
              <a:rPr sz="2350" spc="-20" dirty="0"/>
              <a:t>peut</a:t>
            </a:r>
            <a:r>
              <a:rPr sz="2350" spc="-5" dirty="0"/>
              <a:t> </a:t>
            </a:r>
            <a:r>
              <a:rPr sz="2350" spc="-20" dirty="0"/>
              <a:t>être </a:t>
            </a:r>
            <a:r>
              <a:rPr sz="2400" spc="-60" dirty="0"/>
              <a:t>réduit</a:t>
            </a:r>
            <a:r>
              <a:rPr sz="2400" spc="-110" dirty="0"/>
              <a:t> </a:t>
            </a:r>
            <a:r>
              <a:rPr sz="2400" spc="-220" dirty="0"/>
              <a:t>à</a:t>
            </a:r>
            <a:r>
              <a:rPr sz="2400" spc="-75" dirty="0"/>
              <a:t> </a:t>
            </a:r>
            <a:r>
              <a:rPr sz="2400" spc="-135" dirty="0"/>
              <a:t>un</a:t>
            </a:r>
            <a:r>
              <a:rPr sz="2400" spc="-30" dirty="0"/>
              <a:t> </a:t>
            </a:r>
            <a:r>
              <a:rPr sz="2400" spc="-145" dirty="0"/>
              <a:t>seul</a:t>
            </a:r>
            <a:r>
              <a:rPr sz="2400" spc="-75" dirty="0"/>
              <a:t> </a:t>
            </a:r>
            <a:r>
              <a:rPr sz="2400" spc="-120" dirty="0"/>
              <a:t>niveau</a:t>
            </a:r>
            <a:r>
              <a:rPr sz="2400" spc="-10" dirty="0"/>
              <a:t> </a:t>
            </a:r>
            <a:r>
              <a:rPr sz="2400" spc="-160" dirty="0"/>
              <a:t>sans</a:t>
            </a:r>
            <a:r>
              <a:rPr sz="2400" spc="-20" dirty="0"/>
              <a:t> </a:t>
            </a:r>
            <a:r>
              <a:rPr sz="2400" spc="-95" dirty="0"/>
              <a:t>perdre</a:t>
            </a:r>
            <a:r>
              <a:rPr sz="2400" spc="50" dirty="0"/>
              <a:t> </a:t>
            </a:r>
            <a:r>
              <a:rPr sz="2400" spc="-165" dirty="0"/>
              <a:t>son</a:t>
            </a:r>
            <a:r>
              <a:rPr sz="2400" spc="-30" dirty="0"/>
              <a:t> </a:t>
            </a:r>
            <a:r>
              <a:rPr sz="2400" spc="-125" dirty="0"/>
              <a:t>essence.</a:t>
            </a:r>
            <a:r>
              <a:rPr sz="2400" spc="55" dirty="0"/>
              <a:t> </a:t>
            </a:r>
            <a:r>
              <a:rPr sz="2400" spc="-204" dirty="0"/>
              <a:t>L'UHCF-</a:t>
            </a:r>
            <a:r>
              <a:rPr sz="2400" spc="-315" dirty="0"/>
              <a:t>OM </a:t>
            </a:r>
            <a:r>
              <a:rPr sz="2500" spc="-165" dirty="0"/>
              <a:t>reconnaît</a:t>
            </a:r>
            <a:r>
              <a:rPr sz="2500" spc="100" dirty="0"/>
              <a:t> </a:t>
            </a:r>
            <a:r>
              <a:rPr sz="2500" spc="-20" dirty="0"/>
              <a:t>l'irréductibilité</a:t>
            </a:r>
            <a:r>
              <a:rPr sz="2500" spc="-210" dirty="0"/>
              <a:t> </a:t>
            </a:r>
            <a:r>
              <a:rPr sz="2500" spc="-65" dirty="0"/>
              <a:t>inhérente</a:t>
            </a:r>
            <a:r>
              <a:rPr sz="2500" spc="-25" dirty="0"/>
              <a:t> </a:t>
            </a:r>
            <a:r>
              <a:rPr sz="2500" spc="-190" dirty="0"/>
              <a:t>de</a:t>
            </a:r>
            <a:r>
              <a:rPr sz="2500" spc="-95" dirty="0"/>
              <a:t> </a:t>
            </a:r>
            <a:r>
              <a:rPr sz="2500" spc="-190" dirty="0"/>
              <a:t>la</a:t>
            </a:r>
            <a:r>
              <a:rPr sz="2500" spc="-15" dirty="0"/>
              <a:t> </a:t>
            </a:r>
            <a:r>
              <a:rPr sz="2500" spc="-45" dirty="0"/>
              <a:t>complexité </a:t>
            </a:r>
            <a:r>
              <a:rPr sz="2300" spc="-10" dirty="0"/>
              <a:t>biologique.</a:t>
            </a:r>
            <a:endParaRPr sz="2300"/>
          </a:p>
        </p:txBody>
      </p:sp>
      <p:sp>
        <p:nvSpPr>
          <p:cNvPr id="6" name="object 6"/>
          <p:cNvSpPr txBox="1"/>
          <p:nvPr/>
        </p:nvSpPr>
        <p:spPr>
          <a:xfrm>
            <a:off x="9031278" y="2867730"/>
            <a:ext cx="5137150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dirty="0">
                <a:latin typeface="Arial"/>
                <a:cs typeface="Arial"/>
              </a:rPr>
              <a:t>Les</a:t>
            </a:r>
            <a:r>
              <a:rPr sz="2550" spc="-85" dirty="0">
                <a:latin typeface="Arial"/>
                <a:cs typeface="Arial"/>
              </a:rPr>
              <a:t> </a:t>
            </a:r>
            <a:r>
              <a:rPr sz="2550" dirty="0">
                <a:latin typeface="Arial"/>
                <a:cs typeface="Arial"/>
              </a:rPr>
              <a:t>Sept</a:t>
            </a:r>
            <a:r>
              <a:rPr sz="2550" spc="-55" dirty="0">
                <a:latin typeface="Arial"/>
                <a:cs typeface="Arial"/>
              </a:rPr>
              <a:t> </a:t>
            </a:r>
            <a:r>
              <a:rPr sz="2550" dirty="0">
                <a:latin typeface="Arial"/>
                <a:cs typeface="Arial"/>
              </a:rPr>
              <a:t>Principes</a:t>
            </a:r>
            <a:r>
              <a:rPr sz="2550" spc="-105" dirty="0">
                <a:latin typeface="Arial"/>
                <a:cs typeface="Arial"/>
              </a:rPr>
              <a:t> </a:t>
            </a:r>
            <a:r>
              <a:rPr sz="2550" spc="-20" dirty="0">
                <a:latin typeface="Arial"/>
                <a:cs typeface="Arial"/>
              </a:rPr>
              <a:t>Fondamentaux</a:t>
            </a:r>
            <a:r>
              <a:rPr sz="2550" spc="55" dirty="0">
                <a:latin typeface="Arial"/>
                <a:cs typeface="Arial"/>
              </a:rPr>
              <a:t> </a:t>
            </a:r>
            <a:r>
              <a:rPr sz="2550" spc="-50" dirty="0">
                <a:latin typeface="Arial"/>
                <a:cs typeface="Arial"/>
              </a:rPr>
              <a:t>:</a:t>
            </a:r>
            <a:endParaRPr sz="2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32399" y="4238272"/>
            <a:ext cx="26924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165" dirty="0">
                <a:solidFill>
                  <a:srgbClr val="2B2B2B"/>
                </a:solidFill>
                <a:latin typeface="Arial"/>
                <a:cs typeface="Arial"/>
              </a:rPr>
              <a:t>2.</a:t>
            </a:r>
            <a:endParaRPr sz="27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38801" y="5916788"/>
            <a:ext cx="265430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-25" dirty="0">
                <a:solidFill>
                  <a:srgbClr val="232323"/>
                </a:solidFill>
                <a:latin typeface="Arial"/>
                <a:cs typeface="Arial"/>
              </a:rPr>
              <a:t>4.</a:t>
            </a:r>
            <a:endParaRPr sz="23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10015" y="3491088"/>
            <a:ext cx="7292340" cy="527685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546100" marR="509905" indent="-534035">
              <a:lnSpc>
                <a:spcPts val="2500"/>
              </a:lnSpc>
              <a:spcBef>
                <a:spcPts val="459"/>
              </a:spcBef>
              <a:tabLst>
                <a:tab pos="541655" algn="l"/>
              </a:tabLst>
            </a:pPr>
            <a:r>
              <a:rPr sz="2350" spc="-25" dirty="0">
                <a:solidFill>
                  <a:srgbClr val="2D2D2D"/>
                </a:solidFill>
                <a:latin typeface="Arial"/>
                <a:cs typeface="Arial"/>
              </a:rPr>
              <a:t>1.</a:t>
            </a:r>
            <a:r>
              <a:rPr sz="2350" dirty="0">
                <a:solidFill>
                  <a:srgbClr val="2D2D2D"/>
                </a:solidFill>
                <a:latin typeface="Arial"/>
                <a:cs typeface="Arial"/>
              </a:rPr>
              <a:t>	</a:t>
            </a:r>
            <a:r>
              <a:rPr sz="2350" spc="-40" dirty="0">
                <a:latin typeface="Arial"/>
                <a:cs typeface="Arial"/>
              </a:rPr>
              <a:t>Exhaustivité</a:t>
            </a:r>
            <a:r>
              <a:rPr sz="2350" spc="-125" dirty="0">
                <a:latin typeface="Arial"/>
                <a:cs typeface="Arial"/>
              </a:rPr>
              <a:t> </a:t>
            </a:r>
            <a:r>
              <a:rPr sz="2350" spc="-30" dirty="0">
                <a:latin typeface="Arial"/>
                <a:cs typeface="Arial"/>
              </a:rPr>
              <a:t>Holistique</a:t>
            </a:r>
            <a:r>
              <a:rPr sz="2350" spc="-130" dirty="0">
                <a:latin typeface="Arial"/>
                <a:cs typeface="Arial"/>
              </a:rPr>
              <a:t> </a:t>
            </a:r>
            <a:r>
              <a:rPr sz="2350" spc="-25" dirty="0">
                <a:latin typeface="Arial"/>
                <a:cs typeface="Arial"/>
              </a:rPr>
              <a:t>:</a:t>
            </a:r>
            <a:r>
              <a:rPr sz="2350" spc="-200" dirty="0">
                <a:latin typeface="Arial"/>
                <a:cs typeface="Arial"/>
              </a:rPr>
              <a:t> </a:t>
            </a:r>
            <a:r>
              <a:rPr sz="2350" spc="-40" dirty="0">
                <a:latin typeface="Arial"/>
                <a:cs typeface="Arial"/>
              </a:rPr>
              <a:t>Inclut</a:t>
            </a:r>
            <a:r>
              <a:rPr sz="2350" spc="60" dirty="0">
                <a:latin typeface="Arial"/>
                <a:cs typeface="Arial"/>
              </a:rPr>
              <a:t> </a:t>
            </a:r>
            <a:r>
              <a:rPr sz="2350" spc="-85" dirty="0">
                <a:latin typeface="Arial"/>
                <a:cs typeface="Arial"/>
              </a:rPr>
              <a:t>tous</a:t>
            </a:r>
            <a:r>
              <a:rPr sz="2350" spc="-120" dirty="0">
                <a:latin typeface="Arial"/>
                <a:cs typeface="Arial"/>
              </a:rPr>
              <a:t> </a:t>
            </a:r>
            <a:r>
              <a:rPr sz="2350" spc="-110" dirty="0">
                <a:latin typeface="Arial"/>
                <a:cs typeface="Arial"/>
              </a:rPr>
              <a:t>les</a:t>
            </a:r>
            <a:r>
              <a:rPr sz="2350" spc="-55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niveaux </a:t>
            </a:r>
            <a:r>
              <a:rPr sz="2350" spc="-80" dirty="0">
                <a:latin typeface="Arial"/>
                <a:cs typeface="Arial"/>
              </a:rPr>
              <a:t>biologiques</a:t>
            </a:r>
            <a:r>
              <a:rPr sz="2350" spc="-35" dirty="0">
                <a:latin typeface="Arial"/>
                <a:cs typeface="Arial"/>
              </a:rPr>
              <a:t> </a:t>
            </a:r>
            <a:r>
              <a:rPr sz="2350" spc="-95" dirty="0">
                <a:latin typeface="Arial"/>
                <a:cs typeface="Arial"/>
              </a:rPr>
              <a:t>(moléculaire,</a:t>
            </a:r>
            <a:r>
              <a:rPr sz="2350" spc="-35" dirty="0">
                <a:latin typeface="Arial"/>
                <a:cs typeface="Arial"/>
              </a:rPr>
              <a:t> </a:t>
            </a:r>
            <a:r>
              <a:rPr sz="2350" spc="-75" dirty="0">
                <a:latin typeface="Arial"/>
                <a:cs typeface="Arial"/>
              </a:rPr>
              <a:t>cellulaire,</a:t>
            </a:r>
            <a:r>
              <a:rPr sz="2350" spc="-35" dirty="0">
                <a:latin typeface="Arial"/>
                <a:cs typeface="Arial"/>
              </a:rPr>
              <a:t> </a:t>
            </a:r>
            <a:r>
              <a:rPr sz="2350" spc="-75" dirty="0">
                <a:latin typeface="Arial"/>
                <a:cs typeface="Arial"/>
              </a:rPr>
              <a:t>tissulaire,</a:t>
            </a:r>
            <a:r>
              <a:rPr sz="2350" spc="-90" dirty="0">
                <a:latin typeface="Arial"/>
                <a:cs typeface="Arial"/>
              </a:rPr>
              <a:t> </a:t>
            </a:r>
            <a:r>
              <a:rPr sz="2350" spc="-45" dirty="0">
                <a:latin typeface="Arial"/>
                <a:cs typeface="Arial"/>
              </a:rPr>
              <a:t>etc.).</a:t>
            </a:r>
            <a:endParaRPr sz="2350">
              <a:latin typeface="Arial"/>
              <a:cs typeface="Arial"/>
            </a:endParaRPr>
          </a:p>
          <a:p>
            <a:pPr marL="549275">
              <a:lnSpc>
                <a:spcPts val="2800"/>
              </a:lnSpc>
              <a:spcBef>
                <a:spcPts val="900"/>
              </a:spcBef>
            </a:pPr>
            <a:r>
              <a:rPr sz="2500" spc="-130" dirty="0">
                <a:latin typeface="Arial"/>
                <a:cs typeface="Arial"/>
              </a:rPr>
              <a:t>Correspondance</a:t>
            </a:r>
            <a:r>
              <a:rPr sz="2500" spc="-275" dirty="0">
                <a:latin typeface="Arial"/>
                <a:cs typeface="Arial"/>
              </a:rPr>
              <a:t> </a:t>
            </a:r>
            <a:r>
              <a:rPr sz="2500" spc="-90" dirty="0">
                <a:latin typeface="Arial"/>
                <a:cs typeface="Arial"/>
              </a:rPr>
              <a:t>Mathématique-</a:t>
            </a:r>
            <a:r>
              <a:rPr sz="2500" spc="-80" dirty="0">
                <a:latin typeface="Arial"/>
                <a:cs typeface="Arial"/>
              </a:rPr>
              <a:t>Biologique:</a:t>
            </a:r>
            <a:r>
              <a:rPr sz="2500" spc="95" dirty="0">
                <a:latin typeface="Arial"/>
                <a:cs typeface="Arial"/>
              </a:rPr>
              <a:t> </a:t>
            </a:r>
            <a:r>
              <a:rPr sz="2500" spc="-95" dirty="0">
                <a:latin typeface="Arial"/>
                <a:cs typeface="Arial"/>
              </a:rPr>
              <a:t>Chaque</a:t>
            </a:r>
            <a:endParaRPr sz="2500">
              <a:latin typeface="Arial"/>
              <a:cs typeface="Arial"/>
            </a:endParaRPr>
          </a:p>
          <a:p>
            <a:pPr marL="548005">
              <a:lnSpc>
                <a:spcPts val="2680"/>
              </a:lnSpc>
            </a:pPr>
            <a:r>
              <a:rPr sz="2400" spc="-105" dirty="0">
                <a:latin typeface="Arial"/>
                <a:cs typeface="Arial"/>
              </a:rPr>
              <a:t>terme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335" dirty="0">
                <a:latin typeface="Arial"/>
                <a:cs typeface="Arial"/>
              </a:rPr>
              <a:t>a</a:t>
            </a:r>
            <a:r>
              <a:rPr sz="2400" spc="50" dirty="0">
                <a:latin typeface="Arial"/>
                <a:cs typeface="Arial"/>
              </a:rPr>
              <a:t> </a:t>
            </a:r>
            <a:r>
              <a:rPr sz="2400" spc="-190" dirty="0">
                <a:latin typeface="Arial"/>
                <a:cs typeface="Arial"/>
              </a:rPr>
              <a:t>un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équivalent</a:t>
            </a:r>
            <a:r>
              <a:rPr sz="2400" spc="8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biologique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mesurable.</a:t>
            </a:r>
            <a:endParaRPr sz="2400">
              <a:latin typeface="Arial"/>
              <a:cs typeface="Arial"/>
            </a:endParaRPr>
          </a:p>
          <a:p>
            <a:pPr marL="32384">
              <a:lnSpc>
                <a:spcPts val="2605"/>
              </a:lnSpc>
              <a:spcBef>
                <a:spcPts val="1120"/>
              </a:spcBef>
              <a:tabLst>
                <a:tab pos="541655" algn="l"/>
              </a:tabLst>
            </a:pPr>
            <a:r>
              <a:rPr sz="2300" spc="-25" dirty="0">
                <a:solidFill>
                  <a:srgbClr val="2A2A2A"/>
                </a:solidFill>
                <a:latin typeface="Arial"/>
                <a:cs typeface="Arial"/>
              </a:rPr>
              <a:t>3.</a:t>
            </a:r>
            <a:r>
              <a:rPr sz="2300" dirty="0">
                <a:solidFill>
                  <a:srgbClr val="2A2A2A"/>
                </a:solidFill>
                <a:latin typeface="Arial"/>
                <a:cs typeface="Arial"/>
              </a:rPr>
              <a:t>	</a:t>
            </a:r>
            <a:r>
              <a:rPr sz="2300" spc="-30" dirty="0">
                <a:latin typeface="Arial"/>
                <a:cs typeface="Arial"/>
              </a:rPr>
              <a:t>Hiérarchie</a:t>
            </a:r>
            <a:r>
              <a:rPr sz="2300" spc="-130" dirty="0">
                <a:latin typeface="Arial"/>
                <a:cs typeface="Arial"/>
              </a:rPr>
              <a:t> </a:t>
            </a:r>
            <a:r>
              <a:rPr sz="2300" spc="-65" dirty="0">
                <a:latin typeface="Arial"/>
                <a:cs typeface="Arial"/>
              </a:rPr>
              <a:t>Graduelle</a:t>
            </a:r>
            <a:r>
              <a:rPr sz="2300" spc="-9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:</a:t>
            </a:r>
            <a:r>
              <a:rPr sz="2300" spc="-55" dirty="0">
                <a:latin typeface="Arial"/>
                <a:cs typeface="Arial"/>
              </a:rPr>
              <a:t> </a:t>
            </a:r>
            <a:r>
              <a:rPr sz="2300" spc="-45" dirty="0">
                <a:latin typeface="Arial"/>
                <a:cs typeface="Arial"/>
              </a:rPr>
              <a:t>Structure</a:t>
            </a:r>
            <a:r>
              <a:rPr sz="2300" spc="-10" dirty="0">
                <a:latin typeface="Arial"/>
                <a:cs typeface="Arial"/>
              </a:rPr>
              <a:t> </a:t>
            </a:r>
            <a:r>
              <a:rPr sz="2300" spc="-70" dirty="0">
                <a:latin typeface="Arial"/>
                <a:cs typeface="Arial"/>
              </a:rPr>
              <a:t>modulaire</a:t>
            </a:r>
            <a:r>
              <a:rPr sz="2300" spc="65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extensible</a:t>
            </a:r>
            <a:endParaRPr sz="2300">
              <a:latin typeface="Arial"/>
              <a:cs typeface="Arial"/>
            </a:endParaRPr>
          </a:p>
          <a:p>
            <a:pPr marL="560070">
              <a:lnSpc>
                <a:spcPts val="2665"/>
              </a:lnSpc>
            </a:pPr>
            <a:r>
              <a:rPr sz="2350" dirty="0">
                <a:latin typeface="Arial"/>
                <a:cs typeface="Arial"/>
              </a:rPr>
              <a:t>(5</a:t>
            </a:r>
            <a:r>
              <a:rPr sz="2350" spc="-150" dirty="0">
                <a:latin typeface="Arial"/>
                <a:cs typeface="Arial"/>
              </a:rPr>
              <a:t> </a:t>
            </a:r>
            <a:r>
              <a:rPr sz="2350" spc="-1130" dirty="0">
                <a:latin typeface="Arial"/>
                <a:cs typeface="Arial"/>
              </a:rPr>
              <a:t>—</a:t>
            </a:r>
            <a:r>
              <a:rPr sz="2350" spc="-380" dirty="0">
                <a:latin typeface="Arial"/>
                <a:cs typeface="Arial"/>
              </a:rPr>
              <a:t>›</a:t>
            </a:r>
            <a:r>
              <a:rPr sz="2350" spc="1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8</a:t>
            </a:r>
            <a:r>
              <a:rPr sz="2350" spc="-85" dirty="0">
                <a:latin typeface="Arial"/>
                <a:cs typeface="Arial"/>
              </a:rPr>
              <a:t> </a:t>
            </a:r>
            <a:r>
              <a:rPr sz="2350" spc="-1130" dirty="0">
                <a:latin typeface="Arial"/>
                <a:cs typeface="Arial"/>
              </a:rPr>
              <a:t>—</a:t>
            </a:r>
            <a:r>
              <a:rPr sz="2350" spc="-380" dirty="0">
                <a:latin typeface="Arial"/>
                <a:cs typeface="Arial"/>
              </a:rPr>
              <a:t>›</a:t>
            </a:r>
            <a:r>
              <a:rPr sz="2350" spc="-45" dirty="0">
                <a:latin typeface="Arial"/>
                <a:cs typeface="Arial"/>
              </a:rPr>
              <a:t> </a:t>
            </a:r>
            <a:r>
              <a:rPr sz="2350" spc="-70" dirty="0">
                <a:latin typeface="Arial"/>
                <a:cs typeface="Arial"/>
              </a:rPr>
              <a:t>12</a:t>
            </a:r>
            <a:r>
              <a:rPr sz="2350" spc="15" dirty="0">
                <a:latin typeface="Arial"/>
                <a:cs typeface="Arial"/>
              </a:rPr>
              <a:t> </a:t>
            </a:r>
            <a:r>
              <a:rPr sz="2350" spc="-1130" dirty="0">
                <a:latin typeface="Arial"/>
                <a:cs typeface="Arial"/>
              </a:rPr>
              <a:t>—</a:t>
            </a:r>
            <a:r>
              <a:rPr sz="2350" spc="-380" dirty="0">
                <a:latin typeface="Arial"/>
                <a:cs typeface="Arial"/>
              </a:rPr>
              <a:t>›</a:t>
            </a:r>
            <a:r>
              <a:rPr sz="2350" spc="-145" dirty="0">
                <a:latin typeface="Arial"/>
                <a:cs typeface="Arial"/>
              </a:rPr>
              <a:t> </a:t>
            </a:r>
            <a:r>
              <a:rPr sz="2350" spc="-50" dirty="0">
                <a:latin typeface="Arial"/>
                <a:cs typeface="Arial"/>
              </a:rPr>
              <a:t>16</a:t>
            </a:r>
            <a:r>
              <a:rPr sz="2350" spc="-55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systèmes).</a:t>
            </a:r>
            <a:endParaRPr sz="2350">
              <a:latin typeface="Arial"/>
              <a:cs typeface="Arial"/>
            </a:endParaRPr>
          </a:p>
          <a:p>
            <a:pPr marL="548005" marR="1274445" indent="-2540">
              <a:lnSpc>
                <a:spcPts val="2500"/>
              </a:lnSpc>
              <a:spcBef>
                <a:spcPts val="1430"/>
              </a:spcBef>
            </a:pPr>
            <a:r>
              <a:rPr sz="2350" spc="-40" dirty="0">
                <a:latin typeface="Arial"/>
                <a:cs typeface="Arial"/>
              </a:rPr>
              <a:t>Testabilité</a:t>
            </a:r>
            <a:r>
              <a:rPr sz="2350" spc="-15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:</a:t>
            </a:r>
            <a:r>
              <a:rPr sz="2350" spc="-165" dirty="0">
                <a:latin typeface="Arial"/>
                <a:cs typeface="Arial"/>
              </a:rPr>
              <a:t> Chaque</a:t>
            </a:r>
            <a:r>
              <a:rPr sz="2350" spc="-50" dirty="0">
                <a:latin typeface="Arial"/>
                <a:cs typeface="Arial"/>
              </a:rPr>
              <a:t> </a:t>
            </a:r>
            <a:r>
              <a:rPr sz="2350" spc="-90" dirty="0">
                <a:latin typeface="Arial"/>
                <a:cs typeface="Arial"/>
              </a:rPr>
              <a:t>paramètre</a:t>
            </a:r>
            <a:r>
              <a:rPr sz="2350" spc="4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est</a:t>
            </a:r>
            <a:r>
              <a:rPr sz="2350" spc="5" dirty="0">
                <a:latin typeface="Arial"/>
                <a:cs typeface="Arial"/>
              </a:rPr>
              <a:t> </a:t>
            </a:r>
            <a:r>
              <a:rPr sz="2350" spc="-75" dirty="0">
                <a:latin typeface="Arial"/>
                <a:cs typeface="Arial"/>
              </a:rPr>
              <a:t>vérifiable </a:t>
            </a:r>
            <a:r>
              <a:rPr sz="2350" spc="-80" dirty="0">
                <a:latin typeface="Arial"/>
                <a:cs typeface="Arial"/>
              </a:rPr>
              <a:t>théoriquement</a:t>
            </a:r>
            <a:r>
              <a:rPr sz="2350" spc="4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et</a:t>
            </a:r>
            <a:r>
              <a:rPr sz="2350" spc="-165" dirty="0">
                <a:latin typeface="Arial"/>
                <a:cs typeface="Arial"/>
              </a:rPr>
              <a:t> </a:t>
            </a:r>
            <a:r>
              <a:rPr sz="2350" spc="-35" dirty="0">
                <a:latin typeface="Arial"/>
                <a:cs typeface="Arial"/>
              </a:rPr>
              <a:t>expérimentalement.</a:t>
            </a:r>
            <a:endParaRPr sz="2350">
              <a:latin typeface="Arial"/>
              <a:cs typeface="Arial"/>
            </a:endParaRPr>
          </a:p>
          <a:p>
            <a:pPr marL="553085" marR="720725" indent="-521334">
              <a:lnSpc>
                <a:spcPts val="2550"/>
              </a:lnSpc>
              <a:spcBef>
                <a:spcPts val="1310"/>
              </a:spcBef>
              <a:buClr>
                <a:srgbClr val="242424"/>
              </a:buClr>
              <a:buAutoNum type="arabicPeriod" startAt="5"/>
              <a:tabLst>
                <a:tab pos="555625" algn="l"/>
              </a:tabLst>
            </a:pPr>
            <a:r>
              <a:rPr sz="2350" spc="-40" dirty="0">
                <a:latin typeface="Arial"/>
                <a:cs typeface="Arial"/>
              </a:rPr>
              <a:t>Adaptation</a:t>
            </a:r>
            <a:r>
              <a:rPr sz="2350" spc="-135" dirty="0">
                <a:latin typeface="Arial"/>
                <a:cs typeface="Arial"/>
              </a:rPr>
              <a:t> </a:t>
            </a:r>
            <a:r>
              <a:rPr sz="2350" spc="-85" dirty="0">
                <a:latin typeface="Arial"/>
                <a:cs typeface="Arial"/>
              </a:rPr>
              <a:t>Dynamique</a:t>
            </a:r>
            <a:r>
              <a:rPr sz="2350" spc="-75" dirty="0">
                <a:latin typeface="Arial"/>
                <a:cs typeface="Arial"/>
              </a:rPr>
              <a:t> </a:t>
            </a:r>
            <a:r>
              <a:rPr sz="2350" spc="-40" dirty="0">
                <a:latin typeface="Arial"/>
                <a:cs typeface="Arial"/>
              </a:rPr>
              <a:t>:</a:t>
            </a:r>
            <a:r>
              <a:rPr sz="2350" spc="-130" dirty="0">
                <a:latin typeface="Arial"/>
                <a:cs typeface="Arial"/>
              </a:rPr>
              <a:t> </a:t>
            </a:r>
            <a:r>
              <a:rPr sz="2350" spc="-180" dirty="0">
                <a:latin typeface="Arial"/>
                <a:cs typeface="Arial"/>
              </a:rPr>
              <a:t>Le</a:t>
            </a:r>
            <a:r>
              <a:rPr sz="2350" spc="-25" dirty="0">
                <a:latin typeface="Arial"/>
                <a:cs typeface="Arial"/>
              </a:rPr>
              <a:t> </a:t>
            </a:r>
            <a:r>
              <a:rPr sz="2350" spc="-100" dirty="0">
                <a:latin typeface="Arial"/>
                <a:cs typeface="Arial"/>
              </a:rPr>
              <a:t>modèle</a:t>
            </a:r>
            <a:r>
              <a:rPr sz="2350" spc="25" dirty="0">
                <a:latin typeface="Arial"/>
                <a:cs typeface="Arial"/>
              </a:rPr>
              <a:t> </a:t>
            </a:r>
            <a:r>
              <a:rPr sz="2350" spc="-90" dirty="0">
                <a:latin typeface="Arial"/>
                <a:cs typeface="Arial"/>
              </a:rPr>
              <a:t>s'adapte</a:t>
            </a:r>
            <a:r>
              <a:rPr sz="2350" spc="45" dirty="0">
                <a:latin typeface="Arial"/>
                <a:cs typeface="Arial"/>
              </a:rPr>
              <a:t> </a:t>
            </a:r>
            <a:r>
              <a:rPr sz="2350" spc="-100" dirty="0">
                <a:latin typeface="Arial"/>
                <a:cs typeface="Arial"/>
              </a:rPr>
              <a:t>aux 	</a:t>
            </a:r>
            <a:r>
              <a:rPr sz="2350" spc="-125" dirty="0">
                <a:latin typeface="Arial"/>
                <a:cs typeface="Arial"/>
              </a:rPr>
              <a:t>données</a:t>
            </a:r>
            <a:r>
              <a:rPr sz="2350" spc="-15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individuelles.</a:t>
            </a:r>
            <a:endParaRPr sz="2350">
              <a:latin typeface="Arial"/>
              <a:cs typeface="Arial"/>
            </a:endParaRPr>
          </a:p>
          <a:p>
            <a:pPr marL="542925" indent="-509270">
              <a:lnSpc>
                <a:spcPct val="100000"/>
              </a:lnSpc>
              <a:spcBef>
                <a:spcPts val="940"/>
              </a:spcBef>
              <a:buClr>
                <a:srgbClr val="2B2B2B"/>
              </a:buClr>
              <a:buSzPct val="106818"/>
              <a:buAutoNum type="arabicPeriod" startAt="5"/>
              <a:tabLst>
                <a:tab pos="542925" algn="l"/>
              </a:tabLst>
            </a:pPr>
            <a:r>
              <a:rPr sz="2200" spc="-30" dirty="0">
                <a:latin typeface="Arial"/>
                <a:cs typeface="Arial"/>
              </a:rPr>
              <a:t>Réalisme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Scientifique</a:t>
            </a:r>
            <a:r>
              <a:rPr sz="2200" spc="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: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Maintient</a:t>
            </a:r>
            <a:r>
              <a:rPr sz="2200" spc="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la</a:t>
            </a:r>
            <a:r>
              <a:rPr sz="2200" spc="7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validité</a:t>
            </a:r>
            <a:r>
              <a:rPr sz="2200" spc="6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biologique.</a:t>
            </a:r>
            <a:endParaRPr sz="2200">
              <a:latin typeface="Arial"/>
              <a:cs typeface="Arial"/>
            </a:endParaRPr>
          </a:p>
          <a:p>
            <a:pPr marL="544830" marR="265430" indent="-514984">
              <a:lnSpc>
                <a:spcPts val="2550"/>
              </a:lnSpc>
              <a:spcBef>
                <a:spcPts val="1540"/>
              </a:spcBef>
              <a:buAutoNum type="arabicPeriod" startAt="5"/>
              <a:tabLst>
                <a:tab pos="544830" algn="l"/>
                <a:tab pos="549910" algn="l"/>
              </a:tabLst>
            </a:pPr>
            <a:r>
              <a:rPr sz="3525" baseline="1182" dirty="0">
                <a:solidFill>
                  <a:srgbClr val="262626"/>
                </a:solidFill>
                <a:latin typeface="Arial"/>
                <a:cs typeface="Arial"/>
              </a:rPr>
              <a:t>	</a:t>
            </a:r>
            <a:r>
              <a:rPr sz="2400" spc="-65" dirty="0">
                <a:latin typeface="Arial"/>
                <a:cs typeface="Arial"/>
              </a:rPr>
              <a:t>Calculabilité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:</a:t>
            </a:r>
            <a:r>
              <a:rPr sz="2400" spc="-165" dirty="0">
                <a:latin typeface="Arial"/>
                <a:cs typeface="Arial"/>
              </a:rPr>
              <a:t> </a:t>
            </a:r>
            <a:r>
              <a:rPr sz="2400" spc="-175" dirty="0">
                <a:latin typeface="Arial"/>
                <a:cs typeface="Arial"/>
              </a:rPr>
              <a:t>Assure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204" dirty="0">
                <a:latin typeface="Arial"/>
                <a:cs typeface="Arial"/>
              </a:rPr>
              <a:t>la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possibilité</a:t>
            </a:r>
            <a:r>
              <a:rPr sz="2400" spc="9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de</a:t>
            </a:r>
            <a:r>
              <a:rPr sz="2400" spc="-165" dirty="0">
                <a:latin typeface="Arial"/>
                <a:cs typeface="Arial"/>
              </a:rPr>
              <a:t> mise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65" dirty="0">
                <a:latin typeface="Arial"/>
                <a:cs typeface="Arial"/>
              </a:rPr>
              <a:t>en</a:t>
            </a:r>
            <a:r>
              <a:rPr sz="2400" spc="-155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œuvre </a:t>
            </a:r>
            <a:r>
              <a:rPr sz="2400" spc="-60" dirty="0">
                <a:latin typeface="Arial"/>
                <a:cs typeface="Arial"/>
              </a:rPr>
              <a:t>numérique.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9810" y="8799689"/>
            <a:ext cx="15119350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-10" dirty="0">
                <a:latin typeface="Arial"/>
                <a:cs typeface="Arial"/>
              </a:rPr>
              <a:t>Le</a:t>
            </a:r>
            <a:r>
              <a:rPr sz="2350" spc="-5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résultat</a:t>
            </a:r>
            <a:r>
              <a:rPr sz="2350" spc="10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est</a:t>
            </a:r>
            <a:r>
              <a:rPr sz="2350" spc="5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l'intégration</a:t>
            </a:r>
            <a:r>
              <a:rPr sz="2350" spc="130" dirty="0">
                <a:latin typeface="Arial"/>
                <a:cs typeface="Arial"/>
              </a:rPr>
              <a:t> </a:t>
            </a:r>
            <a:r>
              <a:rPr sz="2350" spc="-25" dirty="0">
                <a:latin typeface="Arial"/>
                <a:cs typeface="Arial"/>
              </a:rPr>
              <a:t>sans</a:t>
            </a:r>
            <a:r>
              <a:rPr sz="2350" spc="4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précédent</a:t>
            </a:r>
            <a:r>
              <a:rPr sz="2350" spc="160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de</a:t>
            </a:r>
            <a:r>
              <a:rPr sz="2350" spc="-14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16</a:t>
            </a:r>
            <a:r>
              <a:rPr sz="2350" spc="-8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sous-systèmes</a:t>
            </a:r>
            <a:r>
              <a:rPr sz="2350" spc="114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biologiques</a:t>
            </a:r>
            <a:r>
              <a:rPr sz="2350" spc="12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dans</a:t>
            </a:r>
            <a:r>
              <a:rPr sz="2350" spc="13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un</a:t>
            </a:r>
            <a:r>
              <a:rPr sz="2350" spc="-5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cadre</a:t>
            </a:r>
            <a:r>
              <a:rPr sz="2350" spc="12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mathématique</a:t>
            </a:r>
            <a:r>
              <a:rPr sz="2350" spc="165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unifié.</a:t>
            </a:r>
            <a:endParaRPr sz="2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07423" y="9439980"/>
            <a:ext cx="123253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latin typeface="Arial"/>
                <a:cs typeface="Arial"/>
              </a:rPr>
              <a:t>G</a:t>
            </a:r>
            <a:r>
              <a:rPr sz="1300" spc="49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9900" y="2971800"/>
            <a:ext cx="6870700" cy="6057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7251" rIns="0" bIns="0" rtlCol="0">
            <a:spAutoFit/>
          </a:bodyPr>
          <a:lstStyle/>
          <a:p>
            <a:pPr marL="391795">
              <a:lnSpc>
                <a:spcPct val="100000"/>
              </a:lnSpc>
              <a:spcBef>
                <a:spcPts val="105"/>
              </a:spcBef>
            </a:pPr>
            <a:r>
              <a:rPr sz="4300" spc="-30" dirty="0">
                <a:latin typeface="Cambria"/>
                <a:cs typeface="Cambria"/>
              </a:rPr>
              <a:t>La</a:t>
            </a:r>
            <a:r>
              <a:rPr sz="4300" spc="-210" dirty="0">
                <a:latin typeface="Cambria"/>
                <a:cs typeface="Cambria"/>
              </a:rPr>
              <a:t> </a:t>
            </a:r>
            <a:r>
              <a:rPr sz="4300" spc="-125" dirty="0">
                <a:latin typeface="Cambria"/>
                <a:cs typeface="Cambria"/>
              </a:rPr>
              <a:t>Réalité</a:t>
            </a:r>
            <a:r>
              <a:rPr sz="4300" spc="-110" dirty="0">
                <a:latin typeface="Cambria"/>
                <a:cs typeface="Cambria"/>
              </a:rPr>
              <a:t> </a:t>
            </a:r>
            <a:r>
              <a:rPr sz="4300" spc="-140" dirty="0">
                <a:latin typeface="Cambria"/>
                <a:cs typeface="Cambria"/>
              </a:rPr>
              <a:t>Biologique</a:t>
            </a:r>
            <a:r>
              <a:rPr sz="4300" spc="-55" dirty="0">
                <a:latin typeface="Cambria"/>
                <a:cs typeface="Cambria"/>
              </a:rPr>
              <a:t> </a:t>
            </a:r>
            <a:r>
              <a:rPr sz="4300" spc="-110" dirty="0">
                <a:latin typeface="Cambria"/>
                <a:cs typeface="Cambria"/>
              </a:rPr>
              <a:t>Intégrale</a:t>
            </a:r>
            <a:r>
              <a:rPr sz="4300" spc="-130" dirty="0">
                <a:latin typeface="Cambria"/>
                <a:cs typeface="Cambria"/>
              </a:rPr>
              <a:t> </a:t>
            </a:r>
            <a:r>
              <a:rPr sz="4300" dirty="0">
                <a:latin typeface="Cambria"/>
                <a:cs typeface="Cambria"/>
              </a:rPr>
              <a:t>:</a:t>
            </a:r>
            <a:r>
              <a:rPr sz="4300" spc="-180" dirty="0">
                <a:latin typeface="Cambria"/>
                <a:cs typeface="Cambria"/>
              </a:rPr>
              <a:t> </a:t>
            </a:r>
            <a:r>
              <a:rPr sz="4300" spc="-135" dirty="0">
                <a:latin typeface="Cambria"/>
                <a:cs typeface="Cambria"/>
              </a:rPr>
              <a:t>Les</a:t>
            </a:r>
            <a:r>
              <a:rPr sz="4300" spc="-210" dirty="0">
                <a:latin typeface="Cambria"/>
                <a:cs typeface="Cambria"/>
              </a:rPr>
              <a:t> </a:t>
            </a:r>
            <a:r>
              <a:rPr sz="4300" spc="-550" dirty="0">
                <a:latin typeface="Cambria"/>
                <a:cs typeface="Cambria"/>
              </a:rPr>
              <a:t>16</a:t>
            </a:r>
            <a:r>
              <a:rPr sz="4300" spc="120" dirty="0">
                <a:latin typeface="Cambria"/>
                <a:cs typeface="Cambria"/>
              </a:rPr>
              <a:t> </a:t>
            </a:r>
            <a:r>
              <a:rPr sz="4300" spc="-105" dirty="0">
                <a:latin typeface="Cambria"/>
                <a:cs typeface="Cambria"/>
              </a:rPr>
              <a:t>Systèmes</a:t>
            </a:r>
            <a:r>
              <a:rPr sz="4300" spc="110" dirty="0">
                <a:latin typeface="Cambria"/>
                <a:cs typeface="Cambria"/>
              </a:rPr>
              <a:t> </a:t>
            </a:r>
            <a:r>
              <a:rPr sz="4300" spc="-110" dirty="0">
                <a:latin typeface="Cambria"/>
                <a:cs typeface="Cambria"/>
              </a:rPr>
              <a:t>du</a:t>
            </a:r>
            <a:r>
              <a:rPr sz="4300" spc="-130" dirty="0">
                <a:latin typeface="Cambria"/>
                <a:cs typeface="Cambria"/>
              </a:rPr>
              <a:t> </a:t>
            </a:r>
            <a:r>
              <a:rPr sz="4300" spc="-90" dirty="0">
                <a:latin typeface="Cambria"/>
                <a:cs typeface="Cambria"/>
              </a:rPr>
              <a:t>Modèle</a:t>
            </a:r>
            <a:r>
              <a:rPr sz="4300" spc="-25" dirty="0">
                <a:latin typeface="Cambria"/>
                <a:cs typeface="Cambria"/>
              </a:rPr>
              <a:t> </a:t>
            </a:r>
            <a:r>
              <a:rPr sz="4300" spc="-10" dirty="0">
                <a:latin typeface="Cambria"/>
                <a:cs typeface="Cambria"/>
              </a:rPr>
              <a:t>UHCF-</a:t>
            </a:r>
            <a:r>
              <a:rPr sz="4300" spc="-25" dirty="0">
                <a:latin typeface="Cambria"/>
                <a:cs typeface="Cambria"/>
              </a:rPr>
              <a:t>OM</a:t>
            </a:r>
            <a:endParaRPr sz="43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7725" y="1668991"/>
            <a:ext cx="14846300" cy="8267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5"/>
              </a:spcBef>
            </a:pPr>
            <a:r>
              <a:rPr sz="2700" spc="-260" dirty="0">
                <a:latin typeface="Arial"/>
                <a:cs typeface="Arial"/>
              </a:rPr>
              <a:t>Le</a:t>
            </a:r>
            <a:r>
              <a:rPr sz="2700" spc="-140" dirty="0">
                <a:latin typeface="Arial"/>
                <a:cs typeface="Arial"/>
              </a:rPr>
              <a:t> </a:t>
            </a:r>
            <a:r>
              <a:rPr sz="2700" spc="-175" dirty="0">
                <a:latin typeface="Arial"/>
                <a:cs typeface="Arial"/>
              </a:rPr>
              <a:t>Vecteur</a:t>
            </a:r>
            <a:r>
              <a:rPr sz="2700" spc="-135" dirty="0">
                <a:latin typeface="Arial"/>
                <a:cs typeface="Arial"/>
              </a:rPr>
              <a:t> </a:t>
            </a:r>
            <a:r>
              <a:rPr sz="2700" spc="-165" dirty="0">
                <a:latin typeface="Arial"/>
                <a:cs typeface="Arial"/>
              </a:rPr>
              <a:t>Biologique</a:t>
            </a:r>
            <a:r>
              <a:rPr sz="2700" spc="-95" dirty="0">
                <a:latin typeface="Arial"/>
                <a:cs typeface="Arial"/>
              </a:rPr>
              <a:t> </a:t>
            </a:r>
            <a:r>
              <a:rPr sz="2700" spc="-200" dirty="0">
                <a:latin typeface="Arial"/>
                <a:cs typeface="Arial"/>
              </a:rPr>
              <a:t>Complet</a:t>
            </a:r>
            <a:r>
              <a:rPr sz="2700" spc="-95" dirty="0">
                <a:latin typeface="Arial"/>
                <a:cs typeface="Arial"/>
              </a:rPr>
              <a:t> </a:t>
            </a:r>
            <a:r>
              <a:rPr sz="2700" spc="-105" dirty="0">
                <a:latin typeface="Arial"/>
                <a:cs typeface="Arial"/>
              </a:rPr>
              <a:t>:</a:t>
            </a:r>
            <a:r>
              <a:rPr sz="2700" spc="-190" dirty="0">
                <a:latin typeface="Arial"/>
                <a:cs typeface="Arial"/>
              </a:rPr>
              <a:t> </a:t>
            </a:r>
            <a:r>
              <a:rPr sz="2700" spc="-75" dirty="0">
                <a:latin typeface="Arial"/>
                <a:cs typeface="Arial"/>
              </a:rPr>
              <a:t>I(x,</a:t>
            </a:r>
            <a:r>
              <a:rPr sz="2700" spc="-2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t)</a:t>
            </a:r>
            <a:r>
              <a:rPr sz="2700" spc="-35" dirty="0">
                <a:latin typeface="Arial"/>
                <a:cs typeface="Arial"/>
              </a:rPr>
              <a:t> </a:t>
            </a:r>
            <a:r>
              <a:rPr sz="2700" spc="-254" dirty="0">
                <a:latin typeface="Arial"/>
                <a:cs typeface="Arial"/>
              </a:rPr>
              <a:t>=</a:t>
            </a:r>
            <a:r>
              <a:rPr sz="2700" spc="-85" dirty="0">
                <a:latin typeface="Arial"/>
                <a:cs typeface="Arial"/>
              </a:rPr>
              <a:t> </a:t>
            </a:r>
            <a:r>
              <a:rPr sz="2700" spc="-75" dirty="0">
                <a:latin typeface="Arial"/>
                <a:cs typeface="Arial"/>
              </a:rPr>
              <a:t>[I</a:t>
            </a:r>
            <a:r>
              <a:rPr sz="3075" spc="-112" baseline="-16260" dirty="0">
                <a:latin typeface="Arial"/>
                <a:cs typeface="Arial"/>
              </a:rPr>
              <a:t>1</a:t>
            </a:r>
            <a:r>
              <a:rPr sz="2700" spc="-75" dirty="0">
                <a:latin typeface="Arial"/>
                <a:cs typeface="Arial"/>
              </a:rPr>
              <a:t>,1</a:t>
            </a:r>
            <a:r>
              <a:rPr sz="2925" spc="-112" baseline="-17094" dirty="0">
                <a:latin typeface="Arial"/>
                <a:cs typeface="Arial"/>
              </a:rPr>
              <a:t>2</a:t>
            </a:r>
            <a:r>
              <a:rPr sz="2700" spc="-75" dirty="0">
                <a:latin typeface="Arial"/>
                <a:cs typeface="Arial"/>
              </a:rPr>
              <a:t>,...,</a:t>
            </a:r>
            <a:r>
              <a:rPr sz="2700" spc="-440" dirty="0">
                <a:latin typeface="Arial"/>
                <a:cs typeface="Arial"/>
              </a:rPr>
              <a:t> </a:t>
            </a:r>
            <a:r>
              <a:rPr sz="2700" spc="110" dirty="0">
                <a:latin typeface="Arial"/>
                <a:cs typeface="Arial"/>
              </a:rPr>
              <a:t>Itt]</a:t>
            </a:r>
            <a:endParaRPr sz="27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0"/>
              </a:spcBef>
            </a:pPr>
            <a:r>
              <a:rPr sz="2500" spc="-180" dirty="0">
                <a:latin typeface="Arial"/>
                <a:cs typeface="Arial"/>
              </a:rPr>
              <a:t>Chaque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spc="-140" dirty="0">
                <a:latin typeface="Arial"/>
                <a:cs typeface="Arial"/>
              </a:rPr>
              <a:t>composante</a:t>
            </a:r>
            <a:r>
              <a:rPr sz="2500" spc="-3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I</a:t>
            </a:r>
            <a:r>
              <a:rPr sz="3075" baseline="-16260" dirty="0">
                <a:latin typeface="Arial"/>
                <a:cs typeface="Arial"/>
              </a:rPr>
              <a:t>k</a:t>
            </a:r>
            <a:r>
              <a:rPr sz="3075" spc="-382" baseline="-16260" dirty="0">
                <a:latin typeface="Arial"/>
                <a:cs typeface="Arial"/>
              </a:rPr>
              <a:t> </a:t>
            </a:r>
            <a:r>
              <a:rPr sz="2500" spc="-120" dirty="0">
                <a:latin typeface="Arial"/>
                <a:cs typeface="Arial"/>
              </a:rPr>
              <a:t>représente</a:t>
            </a:r>
            <a:r>
              <a:rPr sz="2500" spc="-55" dirty="0">
                <a:latin typeface="Arial"/>
                <a:cs typeface="Arial"/>
              </a:rPr>
              <a:t> </a:t>
            </a:r>
            <a:r>
              <a:rPr sz="2500" spc="-125" dirty="0">
                <a:latin typeface="Arial"/>
                <a:cs typeface="Arial"/>
              </a:rPr>
              <a:t>un</a:t>
            </a:r>
            <a:r>
              <a:rPr sz="2500" spc="-50" dirty="0">
                <a:latin typeface="Arial"/>
                <a:cs typeface="Arial"/>
              </a:rPr>
              <a:t> </a:t>
            </a:r>
            <a:r>
              <a:rPr sz="2500" spc="-160" dirty="0">
                <a:latin typeface="Arial"/>
                <a:cs typeface="Arial"/>
              </a:rPr>
              <a:t>sous-</a:t>
            </a:r>
            <a:r>
              <a:rPr sz="2500" spc="-120" dirty="0">
                <a:latin typeface="Arial"/>
                <a:cs typeface="Arial"/>
              </a:rPr>
              <a:t>système</a:t>
            </a:r>
            <a:r>
              <a:rPr sz="2500" spc="75" dirty="0">
                <a:latin typeface="Arial"/>
                <a:cs typeface="Arial"/>
              </a:rPr>
              <a:t> </a:t>
            </a:r>
            <a:r>
              <a:rPr sz="2500" spc="-114" dirty="0">
                <a:latin typeface="Arial"/>
                <a:cs typeface="Arial"/>
              </a:rPr>
              <a:t>biologique</a:t>
            </a:r>
            <a:r>
              <a:rPr sz="2500" spc="-50" dirty="0">
                <a:latin typeface="Arial"/>
                <a:cs typeface="Arial"/>
              </a:rPr>
              <a:t> </a:t>
            </a:r>
            <a:r>
              <a:rPr sz="2500" spc="-140" dirty="0">
                <a:latin typeface="Arial"/>
                <a:cs typeface="Arial"/>
              </a:rPr>
              <a:t>dynamique</a:t>
            </a:r>
            <a:r>
              <a:rPr sz="2500" spc="45" dirty="0">
                <a:latin typeface="Arial"/>
                <a:cs typeface="Arial"/>
              </a:rPr>
              <a:t> </a:t>
            </a:r>
            <a:r>
              <a:rPr sz="2500" spc="-105" dirty="0">
                <a:latin typeface="Arial"/>
                <a:cs typeface="Arial"/>
              </a:rPr>
              <a:t>régi</a:t>
            </a:r>
            <a:r>
              <a:rPr sz="2500" spc="-70" dirty="0">
                <a:latin typeface="Arial"/>
                <a:cs typeface="Arial"/>
              </a:rPr>
              <a:t> </a:t>
            </a:r>
            <a:r>
              <a:rPr sz="2500" spc="-125" dirty="0">
                <a:latin typeface="Arial"/>
                <a:cs typeface="Arial"/>
              </a:rPr>
              <a:t>par</a:t>
            </a:r>
            <a:r>
              <a:rPr sz="2500" spc="-35" dirty="0">
                <a:latin typeface="Arial"/>
                <a:cs typeface="Arial"/>
              </a:rPr>
              <a:t> </a:t>
            </a:r>
            <a:r>
              <a:rPr sz="2500" spc="-235" dirty="0">
                <a:latin typeface="Arial"/>
                <a:cs typeface="Arial"/>
              </a:rPr>
              <a:t>sa</a:t>
            </a:r>
            <a:r>
              <a:rPr sz="2500" spc="-75" dirty="0">
                <a:latin typeface="Arial"/>
                <a:cs typeface="Arial"/>
              </a:rPr>
              <a:t> </a:t>
            </a:r>
            <a:r>
              <a:rPr sz="2500" spc="-105" dirty="0">
                <a:latin typeface="Arial"/>
                <a:cs typeface="Arial"/>
              </a:rPr>
              <a:t>propre</a:t>
            </a:r>
            <a:r>
              <a:rPr sz="2500" spc="-70" dirty="0">
                <a:latin typeface="Arial"/>
                <a:cs typeface="Arial"/>
              </a:rPr>
              <a:t> </a:t>
            </a:r>
            <a:r>
              <a:rPr sz="2500" spc="-105" dirty="0">
                <a:latin typeface="Arial"/>
                <a:cs typeface="Arial"/>
              </a:rPr>
              <a:t>équation</a:t>
            </a:r>
            <a:r>
              <a:rPr sz="2500" spc="85" dirty="0">
                <a:latin typeface="Arial"/>
                <a:cs typeface="Arial"/>
              </a:rPr>
              <a:t> </a:t>
            </a:r>
            <a:r>
              <a:rPr sz="2500" spc="-30" dirty="0">
                <a:latin typeface="Arial"/>
                <a:cs typeface="Arial"/>
              </a:rPr>
              <a:t>différentielle.</a:t>
            </a:r>
            <a:endParaRPr sz="2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7006" y="2868788"/>
            <a:ext cx="1087120" cy="75374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467995" marR="5080" indent="-455930">
              <a:lnSpc>
                <a:spcPct val="102800"/>
              </a:lnSpc>
              <a:spcBef>
                <a:spcPts val="30"/>
              </a:spcBef>
            </a:pPr>
            <a:r>
              <a:rPr sz="2350" spc="-125" dirty="0">
                <a:latin typeface="Arial"/>
                <a:cs typeface="Arial"/>
              </a:rPr>
              <a:t>Système </a:t>
            </a:r>
            <a:r>
              <a:rPr sz="2350" spc="-25" dirty="0">
                <a:latin typeface="Arial"/>
                <a:cs typeface="Arial"/>
              </a:rPr>
              <a:t>I‹</a:t>
            </a:r>
            <a:endParaRPr sz="23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67839" y="7960783"/>
            <a:ext cx="227965" cy="76200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650" spc="-90" dirty="0">
                <a:latin typeface="Arial"/>
                <a:cs typeface="Arial"/>
              </a:rPr>
              <a:t>14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650" spc="-90" dirty="0">
                <a:latin typeface="Arial"/>
                <a:cs typeface="Arial"/>
              </a:rPr>
              <a:t>15</a:t>
            </a:r>
            <a:endParaRPr sz="16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72814" y="3240969"/>
            <a:ext cx="5793740" cy="147764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322580" indent="1823720">
              <a:lnSpc>
                <a:spcPts val="2800"/>
              </a:lnSpc>
              <a:spcBef>
                <a:spcPts val="290"/>
              </a:spcBef>
              <a:tabLst>
                <a:tab pos="558800" algn="l"/>
                <a:tab pos="3623945" algn="l"/>
              </a:tabLst>
            </a:pPr>
            <a:r>
              <a:rPr sz="2400" spc="-80" dirty="0">
                <a:latin typeface="Arial"/>
                <a:cs typeface="Arial"/>
              </a:rPr>
              <a:t>•grée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50" dirty="0">
                <a:latin typeface="Arial"/>
                <a:cs typeface="Arial"/>
              </a:rPr>
              <a:t>(mutations,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instabilité) </a:t>
            </a:r>
            <a:r>
              <a:rPr sz="2400" spc="-25" dirty="0">
                <a:latin typeface="Arial"/>
                <a:cs typeface="Arial"/>
              </a:rPr>
              <a:t>Epi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25" dirty="0">
                <a:latin typeface="Arial"/>
                <a:cs typeface="Arial"/>
              </a:rPr>
              <a:t>énétique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165" dirty="0">
                <a:latin typeface="Arial"/>
                <a:cs typeface="Arial"/>
              </a:rPr>
              <a:t>avancée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(méth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40" dirty="0">
                <a:latin typeface="Arial"/>
                <a:cs typeface="Arial"/>
              </a:rPr>
              <a:t>lation,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165" dirty="0">
                <a:latin typeface="Arial"/>
                <a:cs typeface="Arial"/>
              </a:rPr>
              <a:t>histones)</a:t>
            </a:r>
            <a:endParaRPr sz="2400">
              <a:latin typeface="Arial"/>
              <a:cs typeface="Arial"/>
            </a:endParaRPr>
          </a:p>
          <a:p>
            <a:pPr marL="2861945">
              <a:lnSpc>
                <a:spcPts val="2700"/>
              </a:lnSpc>
              <a:tabLst>
                <a:tab pos="3852545" algn="l"/>
              </a:tabLst>
            </a:pPr>
            <a:r>
              <a:rPr sz="2350" spc="-90" dirty="0">
                <a:latin typeface="Arial"/>
                <a:cs typeface="Arial"/>
              </a:rPr>
              <a:t>rée</a:t>
            </a:r>
            <a:r>
              <a:rPr sz="2350" spc="-100" dirty="0">
                <a:latin typeface="Arial"/>
                <a:cs typeface="Arial"/>
              </a:rPr>
              <a:t> </a:t>
            </a:r>
            <a:r>
              <a:rPr sz="2350" spc="-25" dirty="0">
                <a:latin typeface="Arial"/>
                <a:cs typeface="Arial"/>
              </a:rPr>
              <a:t>(ex</a:t>
            </a:r>
            <a:r>
              <a:rPr sz="2350" dirty="0">
                <a:latin typeface="Arial"/>
                <a:cs typeface="Arial"/>
              </a:rPr>
              <a:t>	</a:t>
            </a:r>
            <a:r>
              <a:rPr sz="2350" spc="-145" dirty="0">
                <a:latin typeface="Arial"/>
                <a:cs typeface="Arial"/>
              </a:rPr>
              <a:t>ression</a:t>
            </a:r>
            <a:r>
              <a:rPr sz="2350" dirty="0">
                <a:latin typeface="Arial"/>
                <a:cs typeface="Arial"/>
              </a:rPr>
              <a:t> </a:t>
            </a:r>
            <a:r>
              <a:rPr sz="2350" spc="-155" dirty="0">
                <a:latin typeface="Arial"/>
                <a:cs typeface="Arial"/>
              </a:rPr>
              <a:t>génique)</a:t>
            </a:r>
            <a:endParaRPr sz="2350">
              <a:latin typeface="Arial"/>
              <a:cs typeface="Arial"/>
            </a:endParaRPr>
          </a:p>
          <a:p>
            <a:pPr marL="1946275">
              <a:lnSpc>
                <a:spcPts val="2940"/>
              </a:lnSpc>
            </a:pPr>
            <a:r>
              <a:rPr sz="2500" spc="-204" dirty="0">
                <a:latin typeface="Arial"/>
                <a:cs typeface="Arial"/>
              </a:rPr>
              <a:t>namique</a:t>
            </a:r>
            <a:r>
              <a:rPr sz="2500" spc="15" dirty="0">
                <a:latin typeface="Arial"/>
                <a:cs typeface="Arial"/>
              </a:rPr>
              <a:t> </a:t>
            </a:r>
            <a:r>
              <a:rPr sz="2500" spc="-195" dirty="0">
                <a:latin typeface="Arial"/>
                <a:cs typeface="Arial"/>
              </a:rPr>
              <a:t>(repliement,</a:t>
            </a:r>
            <a:r>
              <a:rPr sz="2500" spc="80" dirty="0">
                <a:latin typeface="Arial"/>
                <a:cs typeface="Arial"/>
              </a:rPr>
              <a:t> </a:t>
            </a:r>
            <a:r>
              <a:rPr sz="2500" spc="-375" dirty="0">
                <a:latin typeface="Arial"/>
                <a:cs typeface="Arial"/>
              </a:rPr>
              <a:t>PTM)</a:t>
            </a:r>
            <a:endParaRPr sz="2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70132" y="4684888"/>
            <a:ext cx="7007859" cy="218694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3970" marR="5080" indent="1606550">
              <a:lnSpc>
                <a:spcPct val="95200"/>
              </a:lnSpc>
              <a:spcBef>
                <a:spcPts val="245"/>
              </a:spcBef>
              <a:tabLst>
                <a:tab pos="2691765" algn="l"/>
                <a:tab pos="2746375" algn="l"/>
                <a:tab pos="3074035" algn="l"/>
                <a:tab pos="4723130" algn="l"/>
                <a:tab pos="4916805" algn="l"/>
                <a:tab pos="5198745" algn="l"/>
              </a:tabLst>
            </a:pPr>
            <a:r>
              <a:rPr sz="2350" spc="-75" dirty="0">
                <a:latin typeface="Arial"/>
                <a:cs typeface="Arial"/>
              </a:rPr>
              <a:t>ue</a:t>
            </a:r>
            <a:r>
              <a:rPr sz="2350" spc="-285" dirty="0">
                <a:latin typeface="Arial"/>
                <a:cs typeface="Arial"/>
              </a:rPr>
              <a:t> </a:t>
            </a:r>
            <a:r>
              <a:rPr sz="2350" spc="-25" dirty="0">
                <a:latin typeface="Arial"/>
                <a:cs typeface="Arial"/>
              </a:rPr>
              <a:t>com</a:t>
            </a:r>
            <a:r>
              <a:rPr sz="2350" dirty="0">
                <a:latin typeface="Arial"/>
                <a:cs typeface="Arial"/>
              </a:rPr>
              <a:t>		</a:t>
            </a:r>
            <a:r>
              <a:rPr sz="2350" spc="-70" dirty="0">
                <a:latin typeface="Arial"/>
                <a:cs typeface="Arial"/>
              </a:rPr>
              <a:t>ètè</a:t>
            </a:r>
            <a:r>
              <a:rPr sz="2350" spc="-95" dirty="0">
                <a:latin typeface="Arial"/>
                <a:cs typeface="Arial"/>
              </a:rPr>
              <a:t> </a:t>
            </a:r>
            <a:r>
              <a:rPr sz="2350" spc="-65" dirty="0">
                <a:latin typeface="Arial"/>
                <a:cs typeface="Arial"/>
              </a:rPr>
              <a:t>(effet</a:t>
            </a:r>
            <a:r>
              <a:rPr sz="2350" spc="-50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Warbur</a:t>
            </a:r>
            <a:r>
              <a:rPr sz="2350" dirty="0">
                <a:latin typeface="Arial"/>
                <a:cs typeface="Arial"/>
              </a:rPr>
              <a:t>	</a:t>
            </a:r>
            <a:r>
              <a:rPr sz="2350" spc="-100" dirty="0">
                <a:latin typeface="Arial"/>
                <a:cs typeface="Arial"/>
              </a:rPr>
              <a:t>,</a:t>
            </a:r>
            <a:r>
              <a:rPr sz="2350" spc="-80" dirty="0">
                <a:latin typeface="Arial"/>
                <a:cs typeface="Arial"/>
              </a:rPr>
              <a:t> </a:t>
            </a:r>
            <a:r>
              <a:rPr sz="2350" u="sng" spc="-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métaboli</a:t>
            </a:r>
            <a:r>
              <a:rPr sz="2350" u="none" spc="-85" dirty="0">
                <a:latin typeface="Arial"/>
                <a:cs typeface="Arial"/>
              </a:rPr>
              <a:t>s</a:t>
            </a:r>
            <a:r>
              <a:rPr sz="2350" u="sng" spc="-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me)</a:t>
            </a:r>
            <a:r>
              <a:rPr sz="2350" u="none" spc="-85" dirty="0">
                <a:latin typeface="Arial"/>
                <a:cs typeface="Arial"/>
              </a:rPr>
              <a:t> </a:t>
            </a:r>
            <a:r>
              <a:rPr sz="2550" u="none" spc="-305" dirty="0">
                <a:latin typeface="Arial"/>
                <a:cs typeface="Arial"/>
              </a:rPr>
              <a:t>Réseaux</a:t>
            </a:r>
            <a:r>
              <a:rPr sz="2550" u="none" spc="-10" dirty="0">
                <a:latin typeface="Arial"/>
                <a:cs typeface="Arial"/>
              </a:rPr>
              <a:t> </a:t>
            </a:r>
            <a:r>
              <a:rPr sz="2550" u="none" spc="-235" dirty="0">
                <a:latin typeface="Arial"/>
                <a:cs typeface="Arial"/>
              </a:rPr>
              <a:t>de</a:t>
            </a:r>
            <a:r>
              <a:rPr sz="2550" u="none" spc="-204" dirty="0">
                <a:latin typeface="Arial"/>
                <a:cs typeface="Arial"/>
              </a:rPr>
              <a:t> </a:t>
            </a:r>
            <a:r>
              <a:rPr sz="2550" u="none" spc="-165" dirty="0">
                <a:latin typeface="Arial"/>
                <a:cs typeface="Arial"/>
              </a:rPr>
              <a:t>signalisation</a:t>
            </a:r>
            <a:r>
              <a:rPr sz="2550" u="none" spc="100" dirty="0">
                <a:latin typeface="Arial"/>
                <a:cs typeface="Arial"/>
              </a:rPr>
              <a:t> </a:t>
            </a:r>
            <a:r>
              <a:rPr sz="3825" u="none" spc="-202" baseline="1089" dirty="0">
                <a:latin typeface="Arial"/>
                <a:cs typeface="Arial"/>
              </a:rPr>
              <a:t>(</a:t>
            </a:r>
            <a:r>
              <a:rPr sz="3825" u="none" spc="-217" baseline="1089" dirty="0">
                <a:latin typeface="Arial"/>
                <a:cs typeface="Arial"/>
              </a:rPr>
              <a:t>PI</a:t>
            </a:r>
            <a:r>
              <a:rPr sz="3825" u="none" spc="-179" baseline="1089" dirty="0">
                <a:latin typeface="Arial"/>
                <a:cs typeface="Arial"/>
              </a:rPr>
              <a:t>3</a:t>
            </a:r>
            <a:r>
              <a:rPr sz="3825" u="none" spc="-217" baseline="-2178" dirty="0">
                <a:latin typeface="Arial"/>
                <a:cs typeface="Arial"/>
              </a:rPr>
              <a:t>K</a:t>
            </a:r>
            <a:r>
              <a:rPr sz="3825" u="none" spc="-195" baseline="-2178" dirty="0">
                <a:latin typeface="Arial"/>
                <a:cs typeface="Arial"/>
              </a:rPr>
              <a:t>/</a:t>
            </a:r>
            <a:r>
              <a:rPr sz="3825" u="none" spc="-217" baseline="1089" dirty="0">
                <a:latin typeface="Arial"/>
                <a:cs typeface="Arial"/>
              </a:rPr>
              <a:t>AK</a:t>
            </a:r>
            <a:r>
              <a:rPr sz="3825" u="none" spc="-450" baseline="1089" dirty="0">
                <a:latin typeface="Arial"/>
                <a:cs typeface="Arial"/>
              </a:rPr>
              <a:t>T</a:t>
            </a:r>
            <a:r>
              <a:rPr sz="2550" u="none" spc="-1835" dirty="0">
                <a:latin typeface="Arial"/>
                <a:cs typeface="Arial"/>
              </a:rPr>
              <a:t>R</a:t>
            </a:r>
            <a:r>
              <a:rPr sz="3825" u="none" spc="-202" baseline="1089" dirty="0">
                <a:latin typeface="Arial"/>
                <a:cs typeface="Arial"/>
              </a:rPr>
              <a:t>,</a:t>
            </a:r>
            <a:r>
              <a:rPr sz="3825" u="none" spc="262" baseline="1089" dirty="0">
                <a:latin typeface="Arial"/>
                <a:cs typeface="Arial"/>
              </a:rPr>
              <a:t> </a:t>
            </a:r>
            <a:r>
              <a:rPr sz="2550" u="none" spc="-10" dirty="0">
                <a:latin typeface="Arial"/>
                <a:cs typeface="Arial"/>
              </a:rPr>
              <a:t>AS</a:t>
            </a:r>
            <a:r>
              <a:rPr sz="3825" u="none" spc="-15" baseline="-4357" dirty="0">
                <a:latin typeface="Arial"/>
                <a:cs typeface="Arial"/>
              </a:rPr>
              <a:t>/</a:t>
            </a:r>
            <a:r>
              <a:rPr sz="2550" u="none" spc="-10" dirty="0">
                <a:latin typeface="Arial"/>
                <a:cs typeface="Arial"/>
              </a:rPr>
              <a:t>MAPK) </a:t>
            </a:r>
            <a:r>
              <a:rPr sz="2500" u="none" spc="-150" dirty="0">
                <a:latin typeface="Arial"/>
                <a:cs typeface="Arial"/>
              </a:rPr>
              <a:t>Microenvironnement</a:t>
            </a:r>
            <a:r>
              <a:rPr sz="2500" u="none" spc="-200" dirty="0">
                <a:latin typeface="Arial"/>
                <a:cs typeface="Arial"/>
              </a:rPr>
              <a:t> </a:t>
            </a:r>
            <a:r>
              <a:rPr sz="2500" u="none" spc="-50" dirty="0">
                <a:latin typeface="Arial"/>
                <a:cs typeface="Arial"/>
              </a:rPr>
              <a:t>d</a:t>
            </a:r>
            <a:r>
              <a:rPr sz="2500" u="none" dirty="0">
                <a:latin typeface="Arial"/>
                <a:cs typeface="Arial"/>
              </a:rPr>
              <a:t>	</a:t>
            </a:r>
            <a:r>
              <a:rPr sz="2500" u="none" spc="-204" dirty="0">
                <a:latin typeface="Arial"/>
                <a:cs typeface="Arial"/>
              </a:rPr>
              <a:t>amique</a:t>
            </a:r>
            <a:r>
              <a:rPr sz="2500" u="heavy" spc="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500" u="heavy" spc="-3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(O</a:t>
            </a:r>
            <a:r>
              <a:rPr sz="2500" u="none" spc="-380" dirty="0">
                <a:latin typeface="Arial"/>
                <a:cs typeface="Arial"/>
              </a:rPr>
              <a:t>ù,</a:t>
            </a:r>
            <a:r>
              <a:rPr sz="2500" u="none" dirty="0">
                <a:latin typeface="Arial"/>
                <a:cs typeface="Arial"/>
              </a:rPr>
              <a:t>	</a:t>
            </a:r>
            <a:r>
              <a:rPr sz="2500" u="none" spc="-280" dirty="0">
                <a:latin typeface="Arial"/>
                <a:cs typeface="Arial"/>
              </a:rPr>
              <a:t>H,</a:t>
            </a:r>
            <a:r>
              <a:rPr sz="2500" u="none" dirty="0">
                <a:latin typeface="Arial"/>
                <a:cs typeface="Arial"/>
              </a:rPr>
              <a:t>	</a:t>
            </a:r>
            <a:r>
              <a:rPr sz="2500" u="none" spc="-95" dirty="0">
                <a:latin typeface="Arial"/>
                <a:cs typeface="Arial"/>
              </a:rPr>
              <a:t>lucose) </a:t>
            </a:r>
            <a:r>
              <a:rPr sz="2500" u="none" spc="-10" dirty="0">
                <a:latin typeface="Arial"/>
                <a:cs typeface="Arial"/>
              </a:rPr>
              <a:t>Biomécani</a:t>
            </a:r>
            <a:r>
              <a:rPr sz="2500" u="none" dirty="0">
                <a:latin typeface="Arial"/>
                <a:cs typeface="Arial"/>
              </a:rPr>
              <a:t>	</a:t>
            </a:r>
            <a:r>
              <a:rPr sz="2500" u="none" spc="-145" dirty="0">
                <a:latin typeface="Arial"/>
                <a:cs typeface="Arial"/>
              </a:rPr>
              <a:t>e</a:t>
            </a:r>
            <a:r>
              <a:rPr sz="2500" u="none" spc="-210" dirty="0">
                <a:latin typeface="Arial"/>
                <a:cs typeface="Arial"/>
              </a:rPr>
              <a:t> </a:t>
            </a:r>
            <a:r>
              <a:rPr sz="2500" u="none" spc="-200" dirty="0">
                <a:latin typeface="Arial"/>
                <a:cs typeface="Arial"/>
              </a:rPr>
              <a:t>(tenseur</a:t>
            </a:r>
            <a:r>
              <a:rPr sz="2500" u="none" spc="80" dirty="0">
                <a:latin typeface="Arial"/>
                <a:cs typeface="Arial"/>
              </a:rPr>
              <a:t> </a:t>
            </a:r>
            <a:r>
              <a:rPr sz="2500" u="none" spc="-95" dirty="0">
                <a:latin typeface="Arial"/>
                <a:cs typeface="Arial"/>
              </a:rPr>
              <a:t>contrainte</a:t>
            </a:r>
            <a:r>
              <a:rPr sz="3750" u="none" spc="-142" baseline="-4444" dirty="0">
                <a:latin typeface="Arial"/>
                <a:cs typeface="Arial"/>
              </a:rPr>
              <a:t>/d</a:t>
            </a:r>
            <a:r>
              <a:rPr sz="2500" u="none" spc="-95" dirty="0">
                <a:latin typeface="Arial"/>
                <a:cs typeface="Arial"/>
              </a:rPr>
              <a:t>éformation)</a:t>
            </a:r>
            <a:endParaRPr sz="2500">
              <a:latin typeface="Arial"/>
              <a:cs typeface="Arial"/>
            </a:endParaRPr>
          </a:p>
          <a:p>
            <a:pPr marL="349250">
              <a:lnSpc>
                <a:spcPts val="2780"/>
              </a:lnSpc>
            </a:pPr>
            <a:r>
              <a:rPr sz="2400" spc="-180" dirty="0">
                <a:latin typeface="Arial"/>
                <a:cs typeface="Arial"/>
              </a:rPr>
              <a:t>namique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des</a:t>
            </a:r>
            <a:r>
              <a:rPr sz="2400" spc="-165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cellules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souches</a:t>
            </a:r>
            <a:r>
              <a:rPr sz="2400" spc="100" dirty="0">
                <a:latin typeface="Arial"/>
                <a:cs typeface="Arial"/>
              </a:rPr>
              <a:t> </a:t>
            </a:r>
            <a:r>
              <a:rPr sz="2400" spc="-160" dirty="0">
                <a:latin typeface="Arial"/>
                <a:cs typeface="Arial"/>
              </a:rPr>
              <a:t>(hiérarchie,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plasticité)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4549140" algn="l"/>
                <a:tab pos="5414645" algn="l"/>
              </a:tabLst>
            </a:pPr>
            <a:r>
              <a:rPr sz="2300" spc="-60" dirty="0">
                <a:latin typeface="Arial"/>
                <a:cs typeface="Arial"/>
              </a:rPr>
              <a:t>Immunité</a:t>
            </a:r>
            <a:r>
              <a:rPr sz="2300" spc="-100" dirty="0">
                <a:latin typeface="Arial"/>
                <a:cs typeface="Arial"/>
              </a:rPr>
              <a:t> </a:t>
            </a:r>
            <a:r>
              <a:rPr sz="2300" spc="-40" dirty="0">
                <a:latin typeface="Arial"/>
                <a:cs typeface="Arial"/>
              </a:rPr>
              <a:t>et</a:t>
            </a:r>
            <a:r>
              <a:rPr sz="2300" spc="-180" dirty="0">
                <a:latin typeface="Arial"/>
                <a:cs typeface="Arial"/>
              </a:rPr>
              <a:t> </a:t>
            </a:r>
            <a:r>
              <a:rPr sz="2300" spc="-40" dirty="0">
                <a:latin typeface="Arial"/>
                <a:cs typeface="Arial"/>
              </a:rPr>
              <a:t>inflammation</a:t>
            </a:r>
            <a:r>
              <a:rPr sz="2300" spc="65" dirty="0">
                <a:latin typeface="Arial"/>
                <a:cs typeface="Arial"/>
              </a:rPr>
              <a:t> </a:t>
            </a:r>
            <a:r>
              <a:rPr sz="2300" spc="-105" dirty="0">
                <a:latin typeface="Arial"/>
                <a:cs typeface="Arial"/>
              </a:rPr>
              <a:t>(cellules</a:t>
            </a:r>
            <a:r>
              <a:rPr sz="2300" spc="-55" dirty="0">
                <a:latin typeface="Arial"/>
                <a:cs typeface="Arial"/>
              </a:rPr>
              <a:t> </a:t>
            </a:r>
            <a:r>
              <a:rPr sz="2300" spc="-50" dirty="0">
                <a:latin typeface="Arial"/>
                <a:cs typeface="Arial"/>
              </a:rPr>
              <a:t>T</a:t>
            </a:r>
            <a:r>
              <a:rPr sz="2300" dirty="0">
                <a:latin typeface="Arial"/>
                <a:cs typeface="Arial"/>
              </a:rPr>
              <a:t>	</a:t>
            </a:r>
            <a:r>
              <a:rPr sz="2300" spc="-10" dirty="0">
                <a:latin typeface="Arial"/>
                <a:cs typeface="Arial"/>
              </a:rPr>
              <a:t>check</a:t>
            </a:r>
            <a:r>
              <a:rPr sz="2300" dirty="0">
                <a:latin typeface="Arial"/>
                <a:cs typeface="Arial"/>
              </a:rPr>
              <a:t>	</a:t>
            </a:r>
            <a:r>
              <a:rPr sz="2300" spc="-10" dirty="0">
                <a:latin typeface="Arial"/>
                <a:cs typeface="Arial"/>
              </a:rPr>
              <a:t>oints)</a:t>
            </a:r>
            <a:endParaRPr sz="2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70300" y="6847769"/>
            <a:ext cx="2792730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spc="-145" dirty="0">
                <a:latin typeface="Arial"/>
                <a:cs typeface="Arial"/>
              </a:rPr>
              <a:t>Système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30" dirty="0">
                <a:latin typeface="Arial"/>
                <a:cs typeface="Arial"/>
              </a:rPr>
              <a:t>vasculaire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int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62650" y="7203369"/>
            <a:ext cx="2225040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447165" algn="l"/>
              </a:tabLst>
            </a:pPr>
            <a:r>
              <a:rPr sz="2400" spc="-145" dirty="0">
                <a:latin typeface="Arial"/>
                <a:cs typeface="Arial"/>
              </a:rPr>
              <a:t>me</a:t>
            </a:r>
            <a:r>
              <a:rPr sz="2400" spc="-29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I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25" dirty="0">
                <a:latin typeface="Arial"/>
                <a:cs typeface="Arial"/>
              </a:rPr>
              <a:t>ioue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d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17431" y="6847769"/>
            <a:ext cx="2230755" cy="751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2840"/>
              </a:lnSpc>
              <a:spcBef>
                <a:spcPts val="130"/>
              </a:spcBef>
              <a:tabLst>
                <a:tab pos="1148080" algn="l"/>
              </a:tabLst>
            </a:pPr>
            <a:r>
              <a:rPr sz="2400" spc="-285" dirty="0">
                <a:latin typeface="Arial"/>
                <a:cs typeface="Arial"/>
              </a:rPr>
              <a:t>’é</a:t>
            </a:r>
            <a:r>
              <a:rPr sz="2400" spc="-10" dirty="0">
                <a:latin typeface="Arial"/>
                <a:cs typeface="Arial"/>
              </a:rPr>
              <a:t> (angio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35" dirty="0">
                <a:latin typeface="Arial"/>
                <a:cs typeface="Arial"/>
              </a:rPr>
              <a:t>enèse,</a:t>
            </a:r>
            <a:endParaRPr sz="2400">
              <a:latin typeface="Arial"/>
              <a:cs typeface="Arial"/>
            </a:endParaRPr>
          </a:p>
          <a:p>
            <a:pPr marL="644525">
              <a:lnSpc>
                <a:spcPts val="2840"/>
              </a:lnSpc>
              <a:tabLst>
                <a:tab pos="1998980" algn="l"/>
              </a:tabLst>
            </a:pPr>
            <a:r>
              <a:rPr sz="2400" spc="-170" dirty="0">
                <a:latin typeface="Arial"/>
                <a:cs typeface="Arial"/>
              </a:rPr>
              <a:t>ue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(draina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20" dirty="0">
                <a:latin typeface="Arial"/>
                <a:cs typeface="Arial"/>
              </a:rPr>
              <a:t>e,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39736" y="6847769"/>
            <a:ext cx="947419" cy="75184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indent="63500">
              <a:lnSpc>
                <a:spcPts val="2800"/>
              </a:lnSpc>
              <a:spcBef>
                <a:spcPts val="290"/>
              </a:spcBef>
            </a:pPr>
            <a:r>
              <a:rPr sz="2400" spc="-30" dirty="0">
                <a:latin typeface="Arial"/>
                <a:cs typeface="Arial"/>
              </a:rPr>
              <a:t>usion) </a:t>
            </a:r>
            <a:r>
              <a:rPr sz="2400" spc="-175" dirty="0">
                <a:latin typeface="Arial"/>
                <a:cs typeface="Arial"/>
              </a:rPr>
              <a:t>ression)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74049" y="7565319"/>
            <a:ext cx="5687060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spc="-145" dirty="0">
                <a:latin typeface="Arial"/>
                <a:cs typeface="Arial"/>
              </a:rPr>
              <a:t>Microbiome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interactif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30" dirty="0">
                <a:latin typeface="Arial"/>
                <a:cs typeface="Arial"/>
              </a:rPr>
              <a:t>(bactéries,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virus,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toxines)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73387" y="7918450"/>
            <a:ext cx="554037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3250" algn="l"/>
                <a:tab pos="2780030" algn="l"/>
              </a:tabLst>
            </a:pPr>
            <a:r>
              <a:rPr sz="2500" spc="-20" dirty="0">
                <a:latin typeface="Arial"/>
                <a:cs typeface="Arial"/>
              </a:rPr>
              <a:t>Méta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70" dirty="0">
                <a:latin typeface="Arial"/>
                <a:cs typeface="Arial"/>
              </a:rPr>
              <a:t>Iti-</a:t>
            </a:r>
            <a:r>
              <a:rPr sz="2500" spc="-25" dirty="0">
                <a:latin typeface="Arial"/>
                <a:cs typeface="Arial"/>
              </a:rPr>
              <a:t>éta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165" dirty="0">
                <a:latin typeface="Arial"/>
                <a:cs typeface="Arial"/>
              </a:rPr>
              <a:t>es</a:t>
            </a:r>
            <a:r>
              <a:rPr sz="2500" spc="-160" dirty="0">
                <a:latin typeface="Arial"/>
                <a:cs typeface="Arial"/>
              </a:rPr>
              <a:t> </a:t>
            </a:r>
            <a:r>
              <a:rPr sz="2500" spc="-335" dirty="0">
                <a:latin typeface="Arial"/>
                <a:cs typeface="Arial"/>
              </a:rPr>
              <a:t>(EMT/MET,</a:t>
            </a:r>
            <a:r>
              <a:rPr sz="2500" spc="65" dirty="0">
                <a:latin typeface="Arial"/>
                <a:cs typeface="Arial"/>
              </a:rPr>
              <a:t> </a:t>
            </a:r>
            <a:r>
              <a:rPr sz="2500" spc="-195" dirty="0">
                <a:latin typeface="Arial"/>
                <a:cs typeface="Arial"/>
              </a:rPr>
              <a:t>invasion)</a:t>
            </a:r>
            <a:endParaRPr sz="2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68625" y="8291689"/>
            <a:ext cx="6353175" cy="7575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7780">
              <a:lnSpc>
                <a:spcPts val="2785"/>
              </a:lnSpc>
              <a:spcBef>
                <a:spcPts val="110"/>
              </a:spcBef>
            </a:pPr>
            <a:r>
              <a:rPr sz="2350" spc="-85" dirty="0">
                <a:latin typeface="Arial"/>
                <a:cs typeface="Arial"/>
              </a:rPr>
              <a:t>Pharmacodynamique/cinétique</a:t>
            </a:r>
            <a:r>
              <a:rPr sz="2350" spc="-250" dirty="0">
                <a:latin typeface="Arial"/>
                <a:cs typeface="Arial"/>
              </a:rPr>
              <a:t> </a:t>
            </a:r>
            <a:r>
              <a:rPr sz="2350" spc="-130" dirty="0">
                <a:latin typeface="Arial"/>
                <a:cs typeface="Arial"/>
              </a:rPr>
              <a:t>(résistance,</a:t>
            </a:r>
            <a:r>
              <a:rPr sz="2350" spc="204" dirty="0">
                <a:latin typeface="Arial"/>
                <a:cs typeface="Arial"/>
              </a:rPr>
              <a:t> </a:t>
            </a:r>
            <a:r>
              <a:rPr sz="2350" spc="-265" dirty="0">
                <a:latin typeface="Arial"/>
                <a:cs typeface="Arial"/>
              </a:rPr>
              <a:t>PK/PD)</a:t>
            </a:r>
            <a:endParaRPr sz="2350">
              <a:latin typeface="Arial"/>
              <a:cs typeface="Arial"/>
            </a:endParaRPr>
          </a:p>
          <a:p>
            <a:pPr marL="12700">
              <a:lnSpc>
                <a:spcPts val="2965"/>
              </a:lnSpc>
            </a:pPr>
            <a:r>
              <a:rPr sz="2500" spc="-190" dirty="0">
                <a:latin typeface="Arial"/>
                <a:cs typeface="Arial"/>
              </a:rPr>
              <a:t>Communication</a:t>
            </a:r>
            <a:r>
              <a:rPr sz="2500" spc="180" dirty="0">
                <a:latin typeface="Arial"/>
                <a:cs typeface="Arial"/>
              </a:rPr>
              <a:t> </a:t>
            </a:r>
            <a:r>
              <a:rPr sz="2500" spc="-100" dirty="0">
                <a:latin typeface="Arial"/>
                <a:cs typeface="Arial"/>
              </a:rPr>
              <a:t>intercellulaire</a:t>
            </a:r>
            <a:r>
              <a:rPr sz="2500" spc="-155" dirty="0">
                <a:latin typeface="Arial"/>
                <a:cs typeface="Arial"/>
              </a:rPr>
              <a:t> </a:t>
            </a:r>
            <a:r>
              <a:rPr sz="2500" spc="-254" dirty="0">
                <a:latin typeface="Arial"/>
                <a:cs typeface="Arial"/>
              </a:rPr>
              <a:t>(exosomes,</a:t>
            </a:r>
            <a:r>
              <a:rPr sz="2500" spc="170" dirty="0">
                <a:latin typeface="Arial"/>
                <a:cs typeface="Arial"/>
              </a:rPr>
              <a:t> </a:t>
            </a:r>
            <a:r>
              <a:rPr sz="2500" spc="-165" dirty="0">
                <a:latin typeface="Arial"/>
                <a:cs typeface="Arial"/>
              </a:rPr>
              <a:t>jonctions)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3800" y="495300"/>
            <a:ext cx="3175000" cy="127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026400" y="5992283"/>
            <a:ext cx="1287145" cy="0"/>
          </a:xfrm>
          <a:custGeom>
            <a:avLst/>
            <a:gdLst/>
            <a:ahLst/>
            <a:cxnLst/>
            <a:rect l="l" t="t" r="r" b="b"/>
            <a:pathLst>
              <a:path w="1287145">
                <a:moveTo>
                  <a:pt x="0" y="0"/>
                </a:moveTo>
                <a:lnTo>
                  <a:pt x="1286933" y="0"/>
                </a:lnTo>
              </a:path>
            </a:pathLst>
          </a:custGeom>
          <a:ln w="29633">
            <a:solidFill>
              <a:srgbClr val="484B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31400" y="5829300"/>
            <a:ext cx="2438400" cy="3556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946400" y="2628900"/>
            <a:ext cx="9804400" cy="1130300"/>
            <a:chOff x="2946400" y="2628900"/>
            <a:chExt cx="9804400" cy="113030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46400" y="2628900"/>
              <a:ext cx="9804400" cy="6477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3900" y="3270250"/>
              <a:ext cx="6121400" cy="48895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03900" y="4127500"/>
            <a:ext cx="5740400" cy="3556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05600" y="4546600"/>
            <a:ext cx="7543800" cy="7874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91200" y="5829300"/>
            <a:ext cx="2159000" cy="3556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026400" y="5664200"/>
            <a:ext cx="1587500" cy="76200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420033" y="383116"/>
            <a:ext cx="12545695" cy="914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800" spc="-180" dirty="0">
                <a:solidFill>
                  <a:srgbClr val="0F0F0F"/>
                </a:solidFill>
                <a:latin typeface="Cambria"/>
                <a:cs typeface="Cambria"/>
              </a:rPr>
              <a:t>L'Equation</a:t>
            </a:r>
            <a:r>
              <a:rPr sz="5800" spc="-140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5800" spc="-55" dirty="0">
                <a:solidFill>
                  <a:srgbClr val="0C0C0C"/>
                </a:solidFill>
                <a:latin typeface="Cambria"/>
                <a:cs typeface="Cambria"/>
              </a:rPr>
              <a:t>Cosmique</a:t>
            </a:r>
            <a:r>
              <a:rPr sz="5800" spc="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5800" spc="-85" dirty="0">
                <a:solidFill>
                  <a:srgbClr val="151515"/>
                </a:solidFill>
                <a:latin typeface="Cambria"/>
                <a:cs typeface="Cambria"/>
              </a:rPr>
              <a:t>Surhyper</a:t>
            </a:r>
            <a:r>
              <a:rPr sz="5800" spc="-90" dirty="0">
                <a:solidFill>
                  <a:srgbClr val="151515"/>
                </a:solidFill>
                <a:latin typeface="Cambria"/>
                <a:cs typeface="Cambria"/>
              </a:rPr>
              <a:t> </a:t>
            </a:r>
            <a:r>
              <a:rPr sz="5800" spc="-10" dirty="0">
                <a:solidFill>
                  <a:srgbClr val="181818"/>
                </a:solidFill>
                <a:latin typeface="Cambria"/>
                <a:cs typeface="Cambria"/>
              </a:rPr>
              <a:t>Complète</a:t>
            </a:r>
            <a:endParaRPr sz="58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4866" y="1526469"/>
            <a:ext cx="15799435" cy="72644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5400" marR="5080" indent="-13335">
              <a:lnSpc>
                <a:spcPts val="2600"/>
              </a:lnSpc>
              <a:spcBef>
                <a:spcPts val="450"/>
              </a:spcBef>
              <a:tabLst>
                <a:tab pos="15013940" algn="l"/>
              </a:tabLst>
            </a:pPr>
            <a:r>
              <a:rPr sz="2400" dirty="0">
                <a:latin typeface="Arial"/>
                <a:cs typeface="Arial"/>
              </a:rPr>
              <a:t>L'équation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maîtresse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décrit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l'évolution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densité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cellules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cancéreuses</a:t>
            </a:r>
            <a:r>
              <a:rPr sz="2400" spc="1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C(x,t)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intégrant</a:t>
            </a:r>
            <a:r>
              <a:rPr sz="2400" spc="1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simultanément</a:t>
            </a:r>
            <a:r>
              <a:rPr sz="2400" dirty="0">
                <a:latin typeface="Arial"/>
                <a:cs typeface="Arial"/>
              </a:rPr>
              <a:t>	les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16 </a:t>
            </a:r>
            <a:r>
              <a:rPr sz="2400" dirty="0">
                <a:latin typeface="Arial"/>
                <a:cs typeface="Arial"/>
              </a:rPr>
              <a:t>systèmes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biologiques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phénomènes</a:t>
            </a:r>
            <a:r>
              <a:rPr sz="2400" spc="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physiques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complexes.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74601" y="3774016"/>
            <a:ext cx="28003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110" dirty="0">
                <a:latin typeface="Cambria"/>
                <a:cs typeface="Cambria"/>
              </a:rPr>
              <a:t>16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10714" y="3552472"/>
            <a:ext cx="347345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430" dirty="0">
                <a:latin typeface="Courier New"/>
                <a:cs typeface="Courier New"/>
              </a:rPr>
              <a:t>=i</a:t>
            </a:r>
            <a:endParaRPr sz="27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88788" y="4454525"/>
            <a:ext cx="454659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640" dirty="0">
                <a:latin typeface="Cambria"/>
                <a:cs typeface="Cambria"/>
              </a:rPr>
              <a:t>/C—</a:t>
            </a:r>
            <a:r>
              <a:rPr sz="1850" spc="-930" dirty="0">
                <a:latin typeface="Cambria"/>
                <a:cs typeface="Cambria"/>
              </a:rPr>
              <a:t>—</a:t>
            </a:r>
            <a:r>
              <a:rPr sz="1850" spc="-570" dirty="0">
                <a:latin typeface="Cambria"/>
                <a:cs typeface="Cambria"/>
              </a:rPr>
              <a:t>1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62223" y="4972050"/>
            <a:ext cx="1238885" cy="844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02260" algn="l"/>
              </a:tabLst>
            </a:pPr>
            <a:r>
              <a:rPr sz="2500" spc="-520" dirty="0">
                <a:solidFill>
                  <a:srgbClr val="0A0A0A"/>
                </a:solidFill>
                <a:latin typeface="Cambria"/>
                <a:cs typeface="Cambria"/>
              </a:rPr>
              <a:t>“</a:t>
            </a:r>
            <a:r>
              <a:rPr sz="2500" dirty="0">
                <a:solidFill>
                  <a:srgbClr val="0A0A0A"/>
                </a:solidFill>
                <a:latin typeface="Cambria"/>
                <a:cs typeface="Cambria"/>
              </a:rPr>
              <a:t>	</a:t>
            </a:r>
            <a:r>
              <a:rPr sz="2500" spc="-495" dirty="0">
                <a:latin typeface="Cambria"/>
                <a:cs typeface="Cambria"/>
              </a:rPr>
              <a:t>No</a:t>
            </a:r>
            <a:r>
              <a:rPr sz="2500" i="1" spc="-495" dirty="0">
                <a:latin typeface="Cambria"/>
                <a:cs typeface="Cambria"/>
              </a:rPr>
              <a:t>K</a:t>
            </a:r>
            <a:endParaRPr sz="2500">
              <a:latin typeface="Cambria"/>
              <a:cs typeface="Cambria"/>
            </a:endParaRPr>
          </a:p>
          <a:p>
            <a:pPr marL="247650">
              <a:lnSpc>
                <a:spcPct val="100000"/>
              </a:lnSpc>
              <a:spcBef>
                <a:spcPts val="1400"/>
              </a:spcBef>
            </a:pPr>
            <a:r>
              <a:rPr sz="2550" spc="-15" baseline="8169" dirty="0">
                <a:latin typeface="Times New Roman"/>
                <a:cs typeface="Times New Roman"/>
              </a:rPr>
              <a:t>N</a:t>
            </a:r>
            <a:r>
              <a:rPr sz="1700" spc="-10" dirty="0">
                <a:latin typeface="Times New Roman"/>
                <a:cs typeface="Times New Roman"/>
              </a:rPr>
              <a:t>thetapies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75647" y="6129866"/>
            <a:ext cx="44767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i="1" spc="-830" dirty="0">
                <a:latin typeface="Cambria"/>
                <a:cs typeface="Cambria"/>
              </a:rPr>
              <a:t>d—</a:t>
            </a:r>
            <a:r>
              <a:rPr sz="2050" i="1" spc="-819" dirty="0">
                <a:latin typeface="Cambria"/>
                <a:cs typeface="Cambria"/>
              </a:rPr>
              <a:t>—</a:t>
            </a:r>
            <a:r>
              <a:rPr sz="2050" i="1" spc="-50" dirty="0">
                <a:solidFill>
                  <a:srgbClr val="313131"/>
                </a:solidFill>
                <a:latin typeface="Cambria"/>
                <a:cs typeface="Cambria"/>
              </a:rPr>
              <a:t>I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4001" y="6892925"/>
            <a:ext cx="5185410" cy="1060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50850" indent="-438150">
              <a:lnSpc>
                <a:spcPts val="2060"/>
              </a:lnSpc>
              <a:spcBef>
                <a:spcPts val="125"/>
              </a:spcBef>
              <a:buAutoNum type="arabicPeriod"/>
              <a:tabLst>
                <a:tab pos="450850" algn="l"/>
              </a:tabLst>
            </a:pPr>
            <a:r>
              <a:rPr sz="1850" spc="-85" dirty="0">
                <a:latin typeface="Cambria"/>
                <a:cs typeface="Cambria"/>
              </a:rPr>
              <a:t>Diffusion</a:t>
            </a:r>
            <a:r>
              <a:rPr sz="1850" spc="55" dirty="0">
                <a:latin typeface="Cambria"/>
                <a:cs typeface="Cambria"/>
              </a:rPr>
              <a:t> </a:t>
            </a:r>
            <a:r>
              <a:rPr sz="1850" spc="-65" dirty="0">
                <a:latin typeface="Cambria"/>
                <a:cs typeface="Cambria"/>
              </a:rPr>
              <a:t>tensorielle</a:t>
            </a:r>
            <a:r>
              <a:rPr sz="1850" spc="70" dirty="0">
                <a:latin typeface="Cambria"/>
                <a:cs typeface="Cambria"/>
              </a:rPr>
              <a:t> </a:t>
            </a:r>
            <a:r>
              <a:rPr sz="1850" spc="-105" dirty="0">
                <a:latin typeface="Cambria"/>
                <a:cs typeface="Cambria"/>
              </a:rPr>
              <a:t>non</a:t>
            </a:r>
            <a:r>
              <a:rPr sz="1850" spc="60" dirty="0">
                <a:latin typeface="Cambria"/>
                <a:cs typeface="Cambria"/>
              </a:rPr>
              <a:t> </a:t>
            </a:r>
            <a:r>
              <a:rPr sz="1850" spc="-90" dirty="0">
                <a:latin typeface="Cambria"/>
                <a:cs typeface="Cambria"/>
              </a:rPr>
              <a:t>linéaire</a:t>
            </a:r>
            <a:r>
              <a:rPr sz="1850" spc="-5" dirty="0">
                <a:latin typeface="Cambria"/>
                <a:cs typeface="Cambria"/>
              </a:rPr>
              <a:t> </a:t>
            </a:r>
            <a:r>
              <a:rPr sz="1850" dirty="0">
                <a:latin typeface="Cambria"/>
                <a:cs typeface="Cambria"/>
              </a:rPr>
              <a:t>et</a:t>
            </a:r>
            <a:r>
              <a:rPr sz="1850" spc="-5" dirty="0">
                <a:latin typeface="Cambria"/>
                <a:cs typeface="Cambria"/>
              </a:rPr>
              <a:t> </a:t>
            </a:r>
            <a:r>
              <a:rPr sz="1850" spc="-75" dirty="0">
                <a:latin typeface="Cambria"/>
                <a:cs typeface="Cambria"/>
              </a:rPr>
              <a:t>non</a:t>
            </a:r>
            <a:r>
              <a:rPr sz="1850" spc="60" dirty="0">
                <a:latin typeface="Cambria"/>
                <a:cs typeface="Cambria"/>
              </a:rPr>
              <a:t> </a:t>
            </a:r>
            <a:r>
              <a:rPr sz="1850" spc="-50" dirty="0">
                <a:latin typeface="Cambria"/>
                <a:cs typeface="Cambria"/>
              </a:rPr>
              <a:t>homogène</a:t>
            </a:r>
            <a:endParaRPr sz="1850">
              <a:latin typeface="Cambria"/>
              <a:cs typeface="Cambria"/>
            </a:endParaRPr>
          </a:p>
          <a:p>
            <a:pPr marL="451484" indent="-421005">
              <a:lnSpc>
                <a:spcPts val="2085"/>
              </a:lnSpc>
              <a:buAutoNum type="arabicPeriod"/>
              <a:tabLst>
                <a:tab pos="451484" algn="l"/>
              </a:tabLst>
            </a:pPr>
            <a:r>
              <a:rPr sz="1950" spc="-120" dirty="0">
                <a:latin typeface="Cambria"/>
                <a:cs typeface="Cambria"/>
              </a:rPr>
              <a:t>Advection</a:t>
            </a:r>
            <a:r>
              <a:rPr sz="1950" spc="100" dirty="0">
                <a:latin typeface="Cambria"/>
                <a:cs typeface="Cambria"/>
              </a:rPr>
              <a:t> </a:t>
            </a:r>
            <a:r>
              <a:rPr sz="1950" spc="-125" dirty="0">
                <a:latin typeface="Cambria"/>
                <a:cs typeface="Cambria"/>
              </a:rPr>
              <a:t>mécanique</a:t>
            </a:r>
            <a:r>
              <a:rPr sz="1950" spc="20" dirty="0">
                <a:latin typeface="Cambria"/>
                <a:cs typeface="Cambria"/>
              </a:rPr>
              <a:t> </a:t>
            </a:r>
            <a:r>
              <a:rPr sz="1950" spc="-60" dirty="0">
                <a:latin typeface="Cambria"/>
                <a:cs typeface="Cambria"/>
              </a:rPr>
              <a:t>et</a:t>
            </a:r>
            <a:r>
              <a:rPr sz="1950" spc="-40" dirty="0">
                <a:latin typeface="Cambria"/>
                <a:cs typeface="Cambria"/>
              </a:rPr>
              <a:t> chimiotaxie</a:t>
            </a:r>
            <a:endParaRPr sz="1950">
              <a:latin typeface="Cambria"/>
              <a:cs typeface="Cambria"/>
            </a:endParaRPr>
          </a:p>
          <a:p>
            <a:pPr marL="452120" indent="-421640">
              <a:lnSpc>
                <a:spcPts val="1850"/>
              </a:lnSpc>
              <a:buAutoNum type="arabicPeriod"/>
              <a:tabLst>
                <a:tab pos="452120" algn="l"/>
              </a:tabLst>
            </a:pPr>
            <a:r>
              <a:rPr sz="1700" dirty="0">
                <a:latin typeface="Cambria"/>
                <a:cs typeface="Cambria"/>
              </a:rPr>
              <a:t>Croissance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conditionnée</a:t>
            </a:r>
            <a:r>
              <a:rPr sz="1700" spc="3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par</a:t>
            </a:r>
            <a:r>
              <a:rPr sz="1700" spc="204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les</a:t>
            </a:r>
            <a:r>
              <a:rPr sz="1700" spc="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16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systèmes</a:t>
            </a:r>
            <a:endParaRPr sz="1700">
              <a:latin typeface="Cambria"/>
              <a:cs typeface="Cambria"/>
            </a:endParaRPr>
          </a:p>
          <a:p>
            <a:pPr marL="451484" indent="-414655">
              <a:lnSpc>
                <a:spcPts val="2125"/>
              </a:lnSpc>
              <a:buAutoNum type="arabicPeriod"/>
              <a:tabLst>
                <a:tab pos="451484" algn="l"/>
              </a:tabLst>
            </a:pPr>
            <a:r>
              <a:rPr sz="1850" spc="-75" dirty="0">
                <a:latin typeface="Cambria"/>
                <a:cs typeface="Cambria"/>
              </a:rPr>
              <a:t>Mort</a:t>
            </a:r>
            <a:r>
              <a:rPr sz="1850" spc="40" dirty="0">
                <a:latin typeface="Cambria"/>
                <a:cs typeface="Cambria"/>
              </a:rPr>
              <a:t> </a:t>
            </a:r>
            <a:r>
              <a:rPr sz="1850" spc="-85" dirty="0">
                <a:latin typeface="Cambria"/>
                <a:cs typeface="Cambria"/>
              </a:rPr>
              <a:t>cellulaire</a:t>
            </a:r>
            <a:r>
              <a:rPr sz="1850" spc="85" dirty="0">
                <a:latin typeface="Cambria"/>
                <a:cs typeface="Cambria"/>
              </a:rPr>
              <a:t> </a:t>
            </a:r>
            <a:r>
              <a:rPr sz="1850" spc="-60" dirty="0">
                <a:latin typeface="Cambria"/>
                <a:cs typeface="Cambria"/>
              </a:rPr>
              <a:t>multi-</a:t>
            </a:r>
            <a:r>
              <a:rPr sz="1850" spc="-10" dirty="0">
                <a:latin typeface="Cambria"/>
                <a:cs typeface="Cambria"/>
              </a:rPr>
              <a:t>mécanismes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21457" y="6892925"/>
            <a:ext cx="4953000" cy="8032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26720" indent="-414020">
              <a:lnSpc>
                <a:spcPts val="2060"/>
              </a:lnSpc>
              <a:spcBef>
                <a:spcPts val="125"/>
              </a:spcBef>
              <a:buFont typeface="Cambria"/>
              <a:buAutoNum type="arabicPeriod" startAt="5"/>
              <a:tabLst>
                <a:tab pos="426720" algn="l"/>
              </a:tabLst>
            </a:pPr>
            <a:r>
              <a:rPr sz="1850" spc="-70" dirty="0">
                <a:latin typeface="Arial"/>
                <a:cs typeface="Arial"/>
              </a:rPr>
              <a:t>Interactions</a:t>
            </a:r>
            <a:r>
              <a:rPr sz="1850" spc="-60" dirty="0">
                <a:latin typeface="Arial"/>
                <a:cs typeface="Arial"/>
              </a:rPr>
              <a:t> </a:t>
            </a:r>
            <a:r>
              <a:rPr sz="1850" spc="-80" dirty="0">
                <a:latin typeface="Arial"/>
                <a:cs typeface="Arial"/>
              </a:rPr>
              <a:t>biologiques</a:t>
            </a:r>
            <a:r>
              <a:rPr sz="1850" spc="50" dirty="0">
                <a:latin typeface="Arial"/>
                <a:cs typeface="Arial"/>
              </a:rPr>
              <a:t> </a:t>
            </a:r>
            <a:r>
              <a:rPr sz="1850" spc="-100" dirty="0">
                <a:latin typeface="Arial"/>
                <a:cs typeface="Arial"/>
              </a:rPr>
              <a:t>non</a:t>
            </a:r>
            <a:r>
              <a:rPr sz="1850" spc="-30" dirty="0">
                <a:latin typeface="Arial"/>
                <a:cs typeface="Arial"/>
              </a:rPr>
              <a:t> </a:t>
            </a:r>
            <a:r>
              <a:rPr sz="1850" spc="-85" dirty="0">
                <a:latin typeface="Arial"/>
                <a:cs typeface="Arial"/>
              </a:rPr>
              <a:t>locales</a:t>
            </a:r>
            <a:r>
              <a:rPr sz="1850" spc="30" dirty="0">
                <a:latin typeface="Arial"/>
                <a:cs typeface="Arial"/>
              </a:rPr>
              <a:t> </a:t>
            </a:r>
            <a:r>
              <a:rPr sz="1850" spc="-190" dirty="0">
                <a:latin typeface="Arial"/>
                <a:cs typeface="Arial"/>
              </a:rPr>
              <a:t>(16</a:t>
            </a:r>
            <a:r>
              <a:rPr sz="1850" spc="55" dirty="0">
                <a:latin typeface="Arial"/>
                <a:cs typeface="Arial"/>
              </a:rPr>
              <a:t> </a:t>
            </a:r>
            <a:r>
              <a:rPr sz="1850" spc="-70" dirty="0">
                <a:latin typeface="Arial"/>
                <a:cs typeface="Arial"/>
              </a:rPr>
              <a:t>termes)</a:t>
            </a:r>
            <a:endParaRPr sz="1850">
              <a:latin typeface="Arial"/>
              <a:cs typeface="Arial"/>
            </a:endParaRPr>
          </a:p>
          <a:p>
            <a:pPr marL="426720" indent="-412750">
              <a:lnSpc>
                <a:spcPts val="2085"/>
              </a:lnSpc>
              <a:buSzPct val="105405"/>
              <a:buFont typeface="Cambria"/>
              <a:buAutoNum type="arabicPeriod" startAt="5"/>
              <a:tabLst>
                <a:tab pos="426720" algn="l"/>
              </a:tabLst>
            </a:pPr>
            <a:r>
              <a:rPr sz="1850" spc="-65" dirty="0">
                <a:latin typeface="Arial"/>
                <a:cs typeface="Arial"/>
              </a:rPr>
              <a:t>Interactions</a:t>
            </a:r>
            <a:r>
              <a:rPr sz="1850" spc="35" dirty="0">
                <a:latin typeface="Arial"/>
                <a:cs typeface="Arial"/>
              </a:rPr>
              <a:t> </a:t>
            </a:r>
            <a:r>
              <a:rPr sz="1850" spc="-75" dirty="0">
                <a:latin typeface="Arial"/>
                <a:cs typeface="Arial"/>
              </a:rPr>
              <a:t>tensorielles</a:t>
            </a:r>
            <a:r>
              <a:rPr sz="1850" spc="-45" dirty="0">
                <a:latin typeface="Arial"/>
                <a:cs typeface="Arial"/>
              </a:rPr>
              <a:t> </a:t>
            </a:r>
            <a:r>
              <a:rPr sz="1850" spc="-10" dirty="0">
                <a:latin typeface="Arial"/>
                <a:cs typeface="Arial"/>
              </a:rPr>
              <a:t>complexes</a:t>
            </a:r>
            <a:endParaRPr sz="1850">
              <a:latin typeface="Arial"/>
              <a:cs typeface="Arial"/>
            </a:endParaRPr>
          </a:p>
          <a:p>
            <a:pPr marL="432434" indent="-418465">
              <a:lnSpc>
                <a:spcPts val="1945"/>
              </a:lnSpc>
              <a:buFont typeface="Cambria"/>
              <a:buAutoNum type="arabicPeriod" startAt="5"/>
              <a:tabLst>
                <a:tab pos="432434" algn="l"/>
              </a:tabLst>
            </a:pPr>
            <a:r>
              <a:rPr sz="1700" spc="-30" dirty="0">
                <a:latin typeface="Arial"/>
                <a:cs typeface="Arial"/>
              </a:rPr>
              <a:t>Mémoire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historique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pondérée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et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conditionnelle</a:t>
            </a:r>
            <a:endParaRPr sz="17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873092" y="5574241"/>
            <a:ext cx="60769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75" dirty="0">
                <a:latin typeface="Cambria"/>
                <a:cs typeface="Cambria"/>
              </a:rPr>
              <a:t>modes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833619" y="6022622"/>
            <a:ext cx="49530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459" dirty="0">
                <a:latin typeface="Courier New"/>
                <a:cs typeface="Courier New"/>
              </a:rPr>
              <a:t>»=i</a:t>
            </a:r>
            <a:endParaRPr sz="275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768216" y="6892925"/>
            <a:ext cx="507873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25450" algn="l"/>
              </a:tabLst>
            </a:pPr>
            <a:r>
              <a:rPr sz="1850" spc="-25" dirty="0">
                <a:latin typeface="Arial"/>
                <a:cs typeface="Arial"/>
              </a:rPr>
              <a:t>B.</a:t>
            </a:r>
            <a:r>
              <a:rPr sz="1850" dirty="0">
                <a:latin typeface="Arial"/>
                <a:cs typeface="Arial"/>
              </a:rPr>
              <a:t>	</a:t>
            </a:r>
            <a:r>
              <a:rPr sz="1850" spc="-75" dirty="0">
                <a:latin typeface="Arial"/>
                <a:cs typeface="Arial"/>
              </a:rPr>
              <a:t>Stochasticité</a:t>
            </a:r>
            <a:r>
              <a:rPr sz="1850" spc="-55" dirty="0">
                <a:latin typeface="Arial"/>
                <a:cs typeface="Arial"/>
              </a:rPr>
              <a:t> </a:t>
            </a:r>
            <a:r>
              <a:rPr sz="1850" spc="-50" dirty="0">
                <a:latin typeface="Arial"/>
                <a:cs typeface="Arial"/>
              </a:rPr>
              <a:t>hybride </a:t>
            </a:r>
            <a:r>
              <a:rPr sz="1850" spc="-114" dirty="0">
                <a:latin typeface="Arial"/>
                <a:cs typeface="Arial"/>
              </a:rPr>
              <a:t>(Brownien</a:t>
            </a:r>
            <a:r>
              <a:rPr sz="1850" spc="80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•</a:t>
            </a:r>
            <a:r>
              <a:rPr sz="1850" spc="254" dirty="0">
                <a:latin typeface="Arial"/>
                <a:cs typeface="Arial"/>
              </a:rPr>
              <a:t> </a:t>
            </a:r>
            <a:r>
              <a:rPr sz="1850" spc="-130" dirty="0">
                <a:latin typeface="Arial"/>
                <a:cs typeface="Arial"/>
              </a:rPr>
              <a:t>Sauts</a:t>
            </a:r>
            <a:r>
              <a:rPr sz="1850" spc="-15" dirty="0">
                <a:latin typeface="Arial"/>
                <a:cs typeface="Arial"/>
              </a:rPr>
              <a:t> </a:t>
            </a:r>
            <a:r>
              <a:rPr sz="1850" spc="-90" dirty="0">
                <a:latin typeface="Arial"/>
                <a:cs typeface="Arial"/>
              </a:rPr>
              <a:t>de </a:t>
            </a:r>
            <a:r>
              <a:rPr sz="1850" spc="-45" dirty="0">
                <a:latin typeface="Arial"/>
                <a:cs typeface="Arial"/>
              </a:rPr>
              <a:t>Lévy)</a:t>
            </a:r>
            <a:endParaRPr sz="18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762899" y="7146925"/>
            <a:ext cx="486283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30530" algn="l"/>
              </a:tabLst>
            </a:pPr>
            <a:r>
              <a:rPr sz="1850" spc="-25" dirty="0">
                <a:latin typeface="Arial"/>
                <a:cs typeface="Arial"/>
              </a:rPr>
              <a:t>9.</a:t>
            </a:r>
            <a:r>
              <a:rPr sz="1850" dirty="0">
                <a:latin typeface="Arial"/>
                <a:cs typeface="Arial"/>
              </a:rPr>
              <a:t>	</a:t>
            </a:r>
            <a:r>
              <a:rPr sz="1850" spc="-125" dirty="0">
                <a:latin typeface="Arial"/>
                <a:cs typeface="Arial"/>
              </a:rPr>
              <a:t>Système</a:t>
            </a:r>
            <a:r>
              <a:rPr sz="1850" spc="40" dirty="0">
                <a:latin typeface="Arial"/>
                <a:cs typeface="Arial"/>
              </a:rPr>
              <a:t> </a:t>
            </a:r>
            <a:r>
              <a:rPr sz="1850" spc="-90" dirty="0">
                <a:latin typeface="Arial"/>
                <a:cs typeface="Arial"/>
              </a:rPr>
              <a:t>de</a:t>
            </a:r>
            <a:r>
              <a:rPr sz="1850" spc="-125" dirty="0">
                <a:latin typeface="Arial"/>
                <a:cs typeface="Arial"/>
              </a:rPr>
              <a:t> </a:t>
            </a:r>
            <a:r>
              <a:rPr sz="1850" spc="-75" dirty="0">
                <a:latin typeface="Arial"/>
                <a:cs typeface="Arial"/>
              </a:rPr>
              <a:t>contrôle</a:t>
            </a:r>
            <a:r>
              <a:rPr sz="1850" spc="-25" dirty="0">
                <a:latin typeface="Arial"/>
                <a:cs typeface="Arial"/>
              </a:rPr>
              <a:t> </a:t>
            </a:r>
            <a:r>
              <a:rPr sz="1850" spc="-75" dirty="0">
                <a:latin typeface="Arial"/>
                <a:cs typeface="Arial"/>
              </a:rPr>
              <a:t>thérapeutique</a:t>
            </a:r>
            <a:r>
              <a:rPr sz="1850" spc="75" dirty="0">
                <a:latin typeface="Arial"/>
                <a:cs typeface="Arial"/>
              </a:rPr>
              <a:t> </a:t>
            </a:r>
            <a:r>
              <a:rPr sz="1850" spc="-80" dirty="0">
                <a:latin typeface="Arial"/>
                <a:cs typeface="Arial"/>
              </a:rPr>
              <a:t>dynamique</a:t>
            </a:r>
            <a:endParaRPr sz="18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761787" y="7405864"/>
            <a:ext cx="3660775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084" algn="l"/>
              </a:tabLst>
            </a:pPr>
            <a:r>
              <a:rPr sz="1700" spc="-25" dirty="0">
                <a:latin typeface="Arial"/>
                <a:cs typeface="Arial"/>
              </a:rPr>
              <a:t>10.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5" dirty="0">
                <a:latin typeface="Arial"/>
                <a:cs typeface="Arial"/>
              </a:rPr>
              <a:t>Morphogenèse </a:t>
            </a:r>
            <a:r>
              <a:rPr sz="1700" dirty="0">
                <a:latin typeface="Arial"/>
                <a:cs typeface="Arial"/>
              </a:rPr>
              <a:t>via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modes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propres</a:t>
            </a:r>
            <a:endParaRPr sz="17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67509" y="8015816"/>
            <a:ext cx="15598140" cy="12255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7145">
              <a:lnSpc>
                <a:spcPts val="2355"/>
              </a:lnSpc>
              <a:spcBef>
                <a:spcPts val="130"/>
              </a:spcBef>
            </a:pPr>
            <a:r>
              <a:rPr sz="2050" spc="55" dirty="0">
                <a:latin typeface="Cambria"/>
                <a:cs typeface="Cambria"/>
              </a:rPr>
              <a:t>Caractéristiques</a:t>
            </a:r>
            <a:r>
              <a:rPr sz="2050" spc="-50" dirty="0">
                <a:latin typeface="Cambria"/>
                <a:cs typeface="Cambria"/>
              </a:rPr>
              <a:t> </a:t>
            </a:r>
            <a:r>
              <a:rPr sz="2050" spc="135" dirty="0">
                <a:latin typeface="Cambria"/>
                <a:cs typeface="Cambria"/>
              </a:rPr>
              <a:t>Clés</a:t>
            </a:r>
            <a:r>
              <a:rPr sz="2050" spc="-130" dirty="0">
                <a:latin typeface="Cambria"/>
                <a:cs typeface="Cambria"/>
              </a:rPr>
              <a:t> </a:t>
            </a:r>
            <a:r>
              <a:rPr sz="2050" spc="100" dirty="0">
                <a:latin typeface="Cambria"/>
                <a:cs typeface="Cambria"/>
              </a:rPr>
              <a:t>de</a:t>
            </a:r>
            <a:r>
              <a:rPr sz="2050" spc="10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la</a:t>
            </a:r>
            <a:r>
              <a:rPr sz="2050" spc="-20" dirty="0">
                <a:latin typeface="Cambria"/>
                <a:cs typeface="Cambria"/>
              </a:rPr>
              <a:t> </a:t>
            </a:r>
            <a:r>
              <a:rPr sz="2050" spc="-10" dirty="0">
                <a:latin typeface="Cambria"/>
                <a:cs typeface="Cambria"/>
              </a:rPr>
              <a:t>Formulation</a:t>
            </a:r>
            <a:r>
              <a:rPr sz="2050" spc="210" dirty="0">
                <a:latin typeface="Cambria"/>
                <a:cs typeface="Cambria"/>
              </a:rPr>
              <a:t> </a:t>
            </a:r>
            <a:r>
              <a:rPr sz="2050" spc="-50" dirty="0">
                <a:latin typeface="Cambria"/>
                <a:cs typeface="Cambria"/>
              </a:rPr>
              <a:t>:</a:t>
            </a:r>
            <a:endParaRPr sz="2050">
              <a:latin typeface="Cambria"/>
              <a:cs typeface="Cambria"/>
            </a:endParaRPr>
          </a:p>
          <a:p>
            <a:pPr marL="283210" indent="-270510">
              <a:lnSpc>
                <a:spcPts val="2385"/>
              </a:lnSpc>
              <a:buChar char="•"/>
              <a:tabLst>
                <a:tab pos="283210" algn="l"/>
              </a:tabLst>
            </a:pPr>
            <a:r>
              <a:rPr sz="2150" spc="-10" dirty="0">
                <a:latin typeface="Cambria"/>
                <a:cs typeface="Cambria"/>
              </a:rPr>
              <a:t>Dérivée</a:t>
            </a:r>
            <a:r>
              <a:rPr sz="2150" spc="-11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fractionnaire</a:t>
            </a:r>
            <a:r>
              <a:rPr sz="2150" spc="50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UHCF</a:t>
            </a:r>
            <a:r>
              <a:rPr sz="2150" spc="-114" dirty="0">
                <a:latin typeface="Cambria"/>
                <a:cs typeface="Cambria"/>
              </a:rPr>
              <a:t> </a:t>
            </a:r>
            <a:r>
              <a:rPr sz="2150" spc="-30" dirty="0">
                <a:latin typeface="Cambria"/>
                <a:cs typeface="Cambria"/>
              </a:rPr>
              <a:t>d'ordre</a:t>
            </a:r>
            <a:r>
              <a:rPr sz="2150" spc="-50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variable</a:t>
            </a:r>
            <a:r>
              <a:rPr sz="2150" spc="2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:</a:t>
            </a:r>
            <a:r>
              <a:rPr sz="2150" spc="25" dirty="0">
                <a:latin typeface="Cambria"/>
                <a:cs typeface="Cambria"/>
              </a:rPr>
              <a:t> </a:t>
            </a:r>
            <a:r>
              <a:rPr sz="2150" spc="-30" dirty="0">
                <a:latin typeface="Cambria"/>
                <a:cs typeface="Cambria"/>
              </a:rPr>
              <a:t>Capture</a:t>
            </a:r>
            <a:r>
              <a:rPr sz="2150" spc="130" dirty="0">
                <a:latin typeface="Cambria"/>
                <a:cs typeface="Cambria"/>
              </a:rPr>
              <a:t> </a:t>
            </a:r>
            <a:r>
              <a:rPr sz="2150" spc="-25" dirty="0">
                <a:latin typeface="Cambria"/>
                <a:cs typeface="Cambria"/>
              </a:rPr>
              <a:t>la</a:t>
            </a:r>
            <a:r>
              <a:rPr sz="2150" spc="114" dirty="0">
                <a:latin typeface="Cambria"/>
                <a:cs typeface="Cambria"/>
              </a:rPr>
              <a:t> </a:t>
            </a:r>
            <a:r>
              <a:rPr sz="2150" spc="-110" dirty="0">
                <a:latin typeface="Cambria"/>
                <a:cs typeface="Cambria"/>
              </a:rPr>
              <a:t>mémoire</a:t>
            </a:r>
            <a:r>
              <a:rPr sz="2150" spc="3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et</a:t>
            </a:r>
            <a:r>
              <a:rPr sz="2150" spc="95" dirty="0">
                <a:latin typeface="Cambria"/>
                <a:cs typeface="Cambria"/>
              </a:rPr>
              <a:t> </a:t>
            </a:r>
            <a:r>
              <a:rPr sz="2150" spc="-80" dirty="0">
                <a:latin typeface="Cambria"/>
                <a:cs typeface="Cambria"/>
              </a:rPr>
              <a:t>l'anomalie</a:t>
            </a:r>
            <a:r>
              <a:rPr sz="2150" spc="-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des </a:t>
            </a:r>
            <a:r>
              <a:rPr sz="2150" spc="-10" dirty="0">
                <a:latin typeface="Cambria"/>
                <a:cs typeface="Cambria"/>
              </a:rPr>
              <a:t>processus.</a:t>
            </a:r>
            <a:endParaRPr sz="2150">
              <a:latin typeface="Cambria"/>
              <a:cs typeface="Cambria"/>
            </a:endParaRPr>
          </a:p>
          <a:p>
            <a:pPr marL="283845" indent="-270510">
              <a:lnSpc>
                <a:spcPts val="2290"/>
              </a:lnSpc>
              <a:buChar char="•"/>
              <a:tabLst>
                <a:tab pos="283845" algn="l"/>
              </a:tabLst>
            </a:pPr>
            <a:r>
              <a:rPr sz="2050" spc="55" dirty="0">
                <a:latin typeface="Cambria"/>
                <a:cs typeface="Cambria"/>
              </a:rPr>
              <a:t>Céométrie</a:t>
            </a:r>
            <a:r>
              <a:rPr sz="2050" spc="-20" dirty="0">
                <a:latin typeface="Cambria"/>
                <a:cs typeface="Cambria"/>
              </a:rPr>
              <a:t> </a:t>
            </a:r>
            <a:r>
              <a:rPr sz="2050" spc="60" dirty="0">
                <a:latin typeface="Cambria"/>
                <a:cs typeface="Cambria"/>
              </a:rPr>
              <a:t>de</a:t>
            </a:r>
            <a:r>
              <a:rPr sz="2050" spc="125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variétés</a:t>
            </a:r>
            <a:r>
              <a:rPr sz="2050" spc="-80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évolutives</a:t>
            </a:r>
            <a:r>
              <a:rPr sz="2050" spc="155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:</a:t>
            </a:r>
            <a:r>
              <a:rPr sz="2050" spc="95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Le</a:t>
            </a:r>
            <a:r>
              <a:rPr sz="2050" spc="35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tissu</a:t>
            </a:r>
            <a:r>
              <a:rPr sz="2050" spc="80" dirty="0">
                <a:latin typeface="Cambria"/>
                <a:cs typeface="Cambria"/>
              </a:rPr>
              <a:t> </a:t>
            </a:r>
            <a:r>
              <a:rPr sz="2050" spc="-30" dirty="0">
                <a:latin typeface="Cambria"/>
                <a:cs typeface="Cambria"/>
              </a:rPr>
              <a:t>tumoral</a:t>
            </a:r>
            <a:r>
              <a:rPr sz="2050" spc="140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est</a:t>
            </a:r>
            <a:r>
              <a:rPr sz="2050" spc="190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modélisé</a:t>
            </a:r>
            <a:r>
              <a:rPr sz="2050" spc="170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comme</a:t>
            </a:r>
            <a:r>
              <a:rPr sz="2050" spc="204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une</a:t>
            </a:r>
            <a:r>
              <a:rPr sz="2050" spc="170" dirty="0">
                <a:latin typeface="Cambria"/>
                <a:cs typeface="Cambria"/>
              </a:rPr>
              <a:t> </a:t>
            </a:r>
            <a:r>
              <a:rPr sz="2050" spc="-20" dirty="0">
                <a:latin typeface="Cambria"/>
                <a:cs typeface="Cambria"/>
              </a:rPr>
              <a:t>variété</a:t>
            </a:r>
            <a:r>
              <a:rPr sz="2050" spc="185" dirty="0">
                <a:latin typeface="Cambria"/>
                <a:cs typeface="Cambria"/>
              </a:rPr>
              <a:t> </a:t>
            </a:r>
            <a:r>
              <a:rPr sz="2050" spc="-35" dirty="0">
                <a:latin typeface="Cambria"/>
                <a:cs typeface="Cambria"/>
              </a:rPr>
              <a:t>riemannienne</a:t>
            </a:r>
            <a:r>
              <a:rPr sz="2050" spc="160" dirty="0">
                <a:latin typeface="Cambria"/>
                <a:cs typeface="Cambria"/>
              </a:rPr>
              <a:t> </a:t>
            </a:r>
            <a:r>
              <a:rPr sz="2050" spc="-25" dirty="0">
                <a:latin typeface="Cambria"/>
                <a:cs typeface="Cambria"/>
              </a:rPr>
              <a:t>qui</a:t>
            </a:r>
            <a:r>
              <a:rPr sz="2050" spc="114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se</a:t>
            </a:r>
            <a:r>
              <a:rPr sz="2050" spc="350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déforme</a:t>
            </a:r>
            <a:r>
              <a:rPr sz="2050" spc="145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dans</a:t>
            </a:r>
            <a:r>
              <a:rPr sz="2050" spc="105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le</a:t>
            </a:r>
            <a:r>
              <a:rPr sz="2050" spc="130" dirty="0">
                <a:latin typeface="Cambria"/>
                <a:cs typeface="Cambria"/>
              </a:rPr>
              <a:t> </a:t>
            </a:r>
            <a:r>
              <a:rPr sz="2050" spc="-10" dirty="0">
                <a:latin typeface="Cambria"/>
                <a:cs typeface="Cambria"/>
              </a:rPr>
              <a:t>temps.</a:t>
            </a:r>
            <a:endParaRPr sz="2050">
              <a:latin typeface="Cambria"/>
              <a:cs typeface="Cambria"/>
            </a:endParaRPr>
          </a:p>
          <a:p>
            <a:pPr marL="284480" indent="-271145">
              <a:lnSpc>
                <a:spcPts val="2380"/>
              </a:lnSpc>
              <a:buChar char="•"/>
              <a:tabLst>
                <a:tab pos="284480" algn="l"/>
              </a:tabLst>
            </a:pPr>
            <a:r>
              <a:rPr sz="2050" spc="70" dirty="0">
                <a:latin typeface="Cambria"/>
                <a:cs typeface="Cambria"/>
              </a:rPr>
              <a:t>Stochasticité</a:t>
            </a:r>
            <a:r>
              <a:rPr sz="2050" spc="125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hybride</a:t>
            </a:r>
            <a:r>
              <a:rPr sz="2050" spc="45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:</a:t>
            </a:r>
            <a:r>
              <a:rPr sz="2050" spc="25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Combine</a:t>
            </a:r>
            <a:r>
              <a:rPr sz="2050" spc="160" dirty="0">
                <a:latin typeface="Cambria"/>
                <a:cs typeface="Cambria"/>
              </a:rPr>
              <a:t> </a:t>
            </a:r>
            <a:r>
              <a:rPr sz="2050" spc="75" dirty="0">
                <a:latin typeface="Cambria"/>
                <a:cs typeface="Cambria"/>
              </a:rPr>
              <a:t>des</a:t>
            </a:r>
            <a:r>
              <a:rPr sz="2050" spc="-50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fluctuations</a:t>
            </a:r>
            <a:r>
              <a:rPr sz="2050" spc="105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continues</a:t>
            </a:r>
            <a:r>
              <a:rPr sz="2050" spc="120" dirty="0">
                <a:latin typeface="Cambria"/>
                <a:cs typeface="Cambria"/>
              </a:rPr>
              <a:t> </a:t>
            </a:r>
            <a:r>
              <a:rPr sz="2050" spc="-25" dirty="0">
                <a:latin typeface="Cambria"/>
                <a:cs typeface="Cambria"/>
              </a:rPr>
              <a:t>(mouvement</a:t>
            </a:r>
            <a:r>
              <a:rPr sz="2050" spc="405" dirty="0">
                <a:latin typeface="Cambria"/>
                <a:cs typeface="Cambria"/>
              </a:rPr>
              <a:t> </a:t>
            </a:r>
            <a:r>
              <a:rPr sz="2050" spc="-60" dirty="0">
                <a:latin typeface="Cambria"/>
                <a:cs typeface="Cambria"/>
              </a:rPr>
              <a:t>brownien)</a:t>
            </a:r>
            <a:r>
              <a:rPr sz="2050" spc="150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et</a:t>
            </a:r>
            <a:r>
              <a:rPr sz="2050" spc="135" dirty="0">
                <a:latin typeface="Cambria"/>
                <a:cs typeface="Cambria"/>
              </a:rPr>
              <a:t> </a:t>
            </a:r>
            <a:r>
              <a:rPr sz="2050" spc="75" dirty="0">
                <a:latin typeface="Cambria"/>
                <a:cs typeface="Cambria"/>
              </a:rPr>
              <a:t>des</a:t>
            </a:r>
            <a:r>
              <a:rPr sz="2050" spc="20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événements</a:t>
            </a:r>
            <a:r>
              <a:rPr sz="2050" spc="135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discrets</a:t>
            </a:r>
            <a:r>
              <a:rPr sz="2050" spc="35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(sauts</a:t>
            </a:r>
            <a:r>
              <a:rPr sz="2050" spc="-30" dirty="0">
                <a:latin typeface="Cambria"/>
                <a:cs typeface="Cambria"/>
              </a:rPr>
              <a:t> </a:t>
            </a:r>
            <a:r>
              <a:rPr sz="2050" spc="50" dirty="0">
                <a:latin typeface="Cambria"/>
                <a:cs typeface="Cambria"/>
              </a:rPr>
              <a:t>de</a:t>
            </a:r>
            <a:r>
              <a:rPr sz="2050" spc="120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Lévy</a:t>
            </a:r>
            <a:r>
              <a:rPr sz="2050" spc="210" dirty="0">
                <a:latin typeface="Cambria"/>
                <a:cs typeface="Cambria"/>
              </a:rPr>
              <a:t> </a:t>
            </a:r>
            <a:r>
              <a:rPr sz="2050" spc="-25" dirty="0">
                <a:latin typeface="Cambria"/>
                <a:cs typeface="Cambria"/>
              </a:rPr>
              <a:t>pour</a:t>
            </a:r>
            <a:r>
              <a:rPr sz="2050" spc="165" dirty="0">
                <a:latin typeface="Cambria"/>
                <a:cs typeface="Cambria"/>
              </a:rPr>
              <a:t> </a:t>
            </a:r>
            <a:r>
              <a:rPr sz="2050" spc="-25" dirty="0">
                <a:latin typeface="Cambria"/>
                <a:cs typeface="Cambria"/>
              </a:rPr>
              <a:t>les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57505" y="9238544"/>
            <a:ext cx="1917064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80" dirty="0">
                <a:latin typeface="Cambria"/>
                <a:cs typeface="Cambria"/>
              </a:rPr>
              <a:t>mutations</a:t>
            </a:r>
            <a:r>
              <a:rPr sz="1800" spc="305" dirty="0">
                <a:latin typeface="Cambria"/>
                <a:cs typeface="Cambria"/>
              </a:rPr>
              <a:t> </a:t>
            </a:r>
            <a:r>
              <a:rPr sz="2700" spc="82" baseline="1543" dirty="0">
                <a:latin typeface="Cambria"/>
                <a:cs typeface="Cambria"/>
              </a:rPr>
              <a:t>rares).</a:t>
            </a:r>
            <a:endParaRPr sz="2700" baseline="1543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556242" y="9378244"/>
            <a:ext cx="17970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60" dirty="0">
                <a:latin typeface="Cambria"/>
                <a:cs typeface="Cambria"/>
              </a:rPr>
              <a:t>G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344506" y="9378244"/>
            <a:ext cx="98742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240" dirty="0">
                <a:latin typeface="Cambria"/>
                <a:cs typeface="Cambria"/>
              </a:rPr>
              <a:t>NotebookLM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0900" y="4445000"/>
            <a:ext cx="1447800" cy="76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09400" y="4445000"/>
            <a:ext cx="1447800" cy="762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400800" y="4453466"/>
            <a:ext cx="1426845" cy="42545"/>
            <a:chOff x="6400800" y="4453466"/>
            <a:chExt cx="1426845" cy="42545"/>
          </a:xfrm>
        </p:grpSpPr>
        <p:sp>
          <p:nvSpPr>
            <p:cNvPr id="5" name="object 5"/>
            <p:cNvSpPr/>
            <p:nvPr/>
          </p:nvSpPr>
          <p:spPr>
            <a:xfrm>
              <a:off x="6400800" y="4493683"/>
              <a:ext cx="1426845" cy="0"/>
            </a:xfrm>
            <a:custGeom>
              <a:avLst/>
              <a:gdLst/>
              <a:ahLst/>
              <a:cxnLst/>
              <a:rect l="l" t="t" r="r" b="b"/>
              <a:pathLst>
                <a:path w="1426845">
                  <a:moveTo>
                    <a:pt x="0" y="0"/>
                  </a:moveTo>
                  <a:lnTo>
                    <a:pt x="1426633" y="0"/>
                  </a:lnTo>
                </a:path>
              </a:pathLst>
            </a:custGeom>
            <a:ln w="4233">
              <a:solidFill>
                <a:srgbClr val="A880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00800" y="4455583"/>
              <a:ext cx="1426845" cy="0"/>
            </a:xfrm>
            <a:custGeom>
              <a:avLst/>
              <a:gdLst/>
              <a:ahLst/>
              <a:cxnLst/>
              <a:rect l="l" t="t" r="r" b="b"/>
              <a:pathLst>
                <a:path w="1426845">
                  <a:moveTo>
                    <a:pt x="0" y="0"/>
                  </a:moveTo>
                  <a:lnTo>
                    <a:pt x="1426633" y="0"/>
                  </a:lnTo>
                </a:path>
              </a:pathLst>
            </a:custGeom>
            <a:ln w="4233">
              <a:solidFill>
                <a:srgbClr val="A880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6883400" y="1276350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12700">
            <a:solidFill>
              <a:srgbClr val="7B7B7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60538" y="344663"/>
            <a:ext cx="13773785" cy="1547495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3970" marR="5080" indent="-1905">
              <a:lnSpc>
                <a:spcPts val="5400"/>
              </a:lnSpc>
              <a:spcBef>
                <a:spcPts val="1265"/>
              </a:spcBef>
              <a:tabLst>
                <a:tab pos="4318000" algn="l"/>
              </a:tabLst>
            </a:pPr>
            <a:r>
              <a:rPr sz="5450" dirty="0">
                <a:solidFill>
                  <a:srgbClr val="161616"/>
                </a:solidFill>
                <a:latin typeface="Cambria"/>
                <a:cs typeface="Cambria"/>
              </a:rPr>
              <a:t>La</a:t>
            </a:r>
            <a:r>
              <a:rPr sz="5450" spc="-300" dirty="0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sz="5450" spc="-95" dirty="0">
                <a:solidFill>
                  <a:srgbClr val="161616"/>
                </a:solidFill>
                <a:latin typeface="Cambria"/>
                <a:cs typeface="Cambria"/>
              </a:rPr>
              <a:t>Rigueur</a:t>
            </a:r>
            <a:r>
              <a:rPr sz="5450" spc="-195" dirty="0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sz="5450" spc="-140" dirty="0">
                <a:solidFill>
                  <a:srgbClr val="161616"/>
                </a:solidFill>
                <a:latin typeface="Cambria"/>
                <a:cs typeface="Cambria"/>
              </a:rPr>
              <a:t>Absolue</a:t>
            </a:r>
            <a:r>
              <a:rPr sz="5450" spc="-90" dirty="0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sz="5450" spc="140" dirty="0">
                <a:solidFill>
                  <a:srgbClr val="181818"/>
                </a:solidFill>
                <a:latin typeface="Cambria"/>
                <a:cs typeface="Cambria"/>
              </a:rPr>
              <a:t>:</a:t>
            </a:r>
            <a:r>
              <a:rPr sz="5450" spc="-300" dirty="0">
                <a:solidFill>
                  <a:srgbClr val="181818"/>
                </a:solidFill>
                <a:latin typeface="Cambria"/>
                <a:cs typeface="Cambria"/>
              </a:rPr>
              <a:t> </a:t>
            </a:r>
            <a:r>
              <a:rPr sz="5450" dirty="0">
                <a:solidFill>
                  <a:srgbClr val="1A1A1A"/>
                </a:solidFill>
                <a:latin typeface="Cambria"/>
                <a:cs typeface="Cambria"/>
              </a:rPr>
              <a:t>Les</a:t>
            </a:r>
            <a:r>
              <a:rPr sz="5450" spc="-280" dirty="0">
                <a:solidFill>
                  <a:srgbClr val="1A1A1A"/>
                </a:solidFill>
                <a:latin typeface="Cambria"/>
                <a:cs typeface="Cambria"/>
              </a:rPr>
              <a:t> </a:t>
            </a:r>
            <a:r>
              <a:rPr sz="5450" spc="-50" dirty="0">
                <a:solidFill>
                  <a:srgbClr val="151515"/>
                </a:solidFill>
                <a:latin typeface="Cambria"/>
                <a:cs typeface="Cambria"/>
              </a:rPr>
              <a:t>Garanties</a:t>
            </a:r>
            <a:r>
              <a:rPr sz="5450" spc="60" dirty="0">
                <a:solidFill>
                  <a:srgbClr val="151515"/>
                </a:solidFill>
                <a:latin typeface="Cambria"/>
                <a:cs typeface="Cambria"/>
              </a:rPr>
              <a:t> </a:t>
            </a:r>
            <a:r>
              <a:rPr sz="5450" dirty="0">
                <a:solidFill>
                  <a:srgbClr val="1A1A1A"/>
                </a:solidFill>
                <a:latin typeface="Cambria"/>
                <a:cs typeface="Cambria"/>
              </a:rPr>
              <a:t>de</a:t>
            </a:r>
            <a:r>
              <a:rPr sz="5450" spc="-160" dirty="0">
                <a:solidFill>
                  <a:srgbClr val="1A1A1A"/>
                </a:solidFill>
                <a:latin typeface="Cambria"/>
                <a:cs typeface="Cambria"/>
              </a:rPr>
              <a:t> </a:t>
            </a:r>
            <a:r>
              <a:rPr sz="5450" dirty="0">
                <a:solidFill>
                  <a:srgbClr val="131313"/>
                </a:solidFill>
                <a:latin typeface="Cambria"/>
                <a:cs typeface="Cambria"/>
              </a:rPr>
              <a:t>la</a:t>
            </a:r>
            <a:r>
              <a:rPr sz="5450" spc="-28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5450" spc="-75" dirty="0">
                <a:solidFill>
                  <a:srgbClr val="111111"/>
                </a:solidFill>
                <a:latin typeface="Cambria"/>
                <a:cs typeface="Cambria"/>
              </a:rPr>
              <a:t>Théorie </a:t>
            </a:r>
            <a:r>
              <a:rPr sz="5450" spc="-10" dirty="0">
                <a:solidFill>
                  <a:srgbClr val="0C0C0C"/>
                </a:solidFill>
                <a:latin typeface="Cambria"/>
                <a:cs typeface="Cambria"/>
              </a:rPr>
              <a:t>Mathématique</a:t>
            </a:r>
            <a:r>
              <a:rPr sz="5450" dirty="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sz="5450" spc="-20" dirty="0">
                <a:solidFill>
                  <a:srgbClr val="0A0A0A"/>
                </a:solidFill>
                <a:latin typeface="Cambria"/>
                <a:cs typeface="Cambria"/>
              </a:rPr>
              <a:t>Cosmique</a:t>
            </a:r>
            <a:endParaRPr sz="54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8359" y="1987550"/>
            <a:ext cx="15727044" cy="72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25"/>
              </a:lnSpc>
              <a:spcBef>
                <a:spcPts val="100"/>
              </a:spcBef>
            </a:pPr>
            <a:r>
              <a:rPr sz="2500" spc="-310" dirty="0">
                <a:latin typeface="Arial"/>
                <a:cs typeface="Arial"/>
              </a:rPr>
              <a:t>La</a:t>
            </a:r>
            <a:r>
              <a:rPr sz="2500" spc="15" dirty="0">
                <a:latin typeface="Arial"/>
                <a:cs typeface="Arial"/>
              </a:rPr>
              <a:t> </a:t>
            </a:r>
            <a:r>
              <a:rPr sz="2500" spc="-135" dirty="0">
                <a:latin typeface="Arial"/>
                <a:cs typeface="Arial"/>
              </a:rPr>
              <a:t>complexité</a:t>
            </a:r>
            <a:r>
              <a:rPr sz="2500" spc="-40" dirty="0">
                <a:latin typeface="Arial"/>
                <a:cs typeface="Arial"/>
              </a:rPr>
              <a:t> </a:t>
            </a:r>
            <a:r>
              <a:rPr sz="2500" spc="-190" dirty="0">
                <a:latin typeface="Arial"/>
                <a:cs typeface="Arial"/>
              </a:rPr>
              <a:t>de</a:t>
            </a:r>
            <a:r>
              <a:rPr sz="2500" spc="-95" dirty="0">
                <a:latin typeface="Arial"/>
                <a:cs typeface="Arial"/>
              </a:rPr>
              <a:t> </a:t>
            </a:r>
            <a:r>
              <a:rPr sz="2500" spc="-210" dirty="0">
                <a:latin typeface="Arial"/>
                <a:cs typeface="Arial"/>
              </a:rPr>
              <a:t>l'UHCF-</a:t>
            </a:r>
            <a:r>
              <a:rPr sz="2500" spc="-325" dirty="0">
                <a:latin typeface="Arial"/>
                <a:cs typeface="Arial"/>
              </a:rPr>
              <a:t>OM</a:t>
            </a:r>
            <a:r>
              <a:rPr sz="2500" spc="114" dirty="0">
                <a:latin typeface="Arial"/>
                <a:cs typeface="Arial"/>
              </a:rPr>
              <a:t> </a:t>
            </a:r>
            <a:r>
              <a:rPr sz="2500" spc="-110" dirty="0">
                <a:latin typeface="Arial"/>
                <a:cs typeface="Arial"/>
              </a:rPr>
              <a:t>n'est</a:t>
            </a:r>
            <a:r>
              <a:rPr sz="2500" spc="-25" dirty="0">
                <a:latin typeface="Arial"/>
                <a:cs typeface="Arial"/>
              </a:rPr>
              <a:t> </a:t>
            </a:r>
            <a:r>
              <a:rPr sz="2500" spc="-195" dirty="0">
                <a:latin typeface="Arial"/>
                <a:cs typeface="Arial"/>
              </a:rPr>
              <a:t>pas</a:t>
            </a:r>
            <a:r>
              <a:rPr sz="2500" spc="-90" dirty="0">
                <a:latin typeface="Arial"/>
                <a:cs typeface="Arial"/>
              </a:rPr>
              <a:t> </a:t>
            </a:r>
            <a:r>
              <a:rPr sz="2500" spc="-130" dirty="0">
                <a:latin typeface="Arial"/>
                <a:cs typeface="Arial"/>
              </a:rPr>
              <a:t>arbitraire.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spc="-295" dirty="0">
                <a:latin typeface="Arial"/>
                <a:cs typeface="Arial"/>
              </a:rPr>
              <a:t>EIIe</a:t>
            </a:r>
            <a:r>
              <a:rPr sz="2500" spc="-25" dirty="0">
                <a:latin typeface="Arial"/>
                <a:cs typeface="Arial"/>
              </a:rPr>
              <a:t> </a:t>
            </a:r>
            <a:r>
              <a:rPr sz="2500" spc="-150" dirty="0">
                <a:latin typeface="Arial"/>
                <a:cs typeface="Arial"/>
              </a:rPr>
              <a:t>est</a:t>
            </a:r>
            <a:r>
              <a:rPr sz="2500" spc="-25" dirty="0">
                <a:latin typeface="Arial"/>
                <a:cs typeface="Arial"/>
              </a:rPr>
              <a:t> </a:t>
            </a:r>
            <a:r>
              <a:rPr sz="2500" spc="-180" dirty="0">
                <a:latin typeface="Arial"/>
                <a:cs typeface="Arial"/>
              </a:rPr>
              <a:t>soutenue</a:t>
            </a:r>
            <a:r>
              <a:rPr sz="2500" spc="35" dirty="0">
                <a:latin typeface="Arial"/>
                <a:cs typeface="Arial"/>
              </a:rPr>
              <a:t> </a:t>
            </a:r>
            <a:r>
              <a:rPr sz="2500" spc="-165" dirty="0">
                <a:latin typeface="Arial"/>
                <a:cs typeface="Arial"/>
              </a:rPr>
              <a:t>par</a:t>
            </a:r>
            <a:r>
              <a:rPr sz="2500" spc="-60" dirty="0">
                <a:latin typeface="Arial"/>
                <a:cs typeface="Arial"/>
              </a:rPr>
              <a:t> </a:t>
            </a:r>
            <a:r>
              <a:rPr sz="2500" spc="-175" dirty="0">
                <a:latin typeface="Arial"/>
                <a:cs typeface="Arial"/>
              </a:rPr>
              <a:t>des</a:t>
            </a:r>
            <a:r>
              <a:rPr sz="2500" spc="20" dirty="0">
                <a:latin typeface="Arial"/>
                <a:cs typeface="Arial"/>
              </a:rPr>
              <a:t> </a:t>
            </a:r>
            <a:r>
              <a:rPr sz="2500" spc="-190" dirty="0">
                <a:latin typeface="Arial"/>
                <a:cs typeface="Arial"/>
              </a:rPr>
              <a:t>preuves</a:t>
            </a:r>
            <a:r>
              <a:rPr sz="2500" spc="15" dirty="0">
                <a:latin typeface="Arial"/>
                <a:cs typeface="Arial"/>
              </a:rPr>
              <a:t> </a:t>
            </a:r>
            <a:r>
              <a:rPr sz="2500" spc="-155" dirty="0">
                <a:latin typeface="Arial"/>
                <a:cs typeface="Arial"/>
              </a:rPr>
              <a:t>mathématiques</a:t>
            </a:r>
            <a:r>
              <a:rPr sz="2500" spc="155" dirty="0">
                <a:latin typeface="Arial"/>
                <a:cs typeface="Arial"/>
              </a:rPr>
              <a:t> </a:t>
            </a:r>
            <a:r>
              <a:rPr sz="2500" spc="-155" dirty="0">
                <a:latin typeface="Arial"/>
                <a:cs typeface="Arial"/>
              </a:rPr>
              <a:t>complètes</a:t>
            </a:r>
            <a:r>
              <a:rPr sz="2500" spc="65" dirty="0">
                <a:latin typeface="Arial"/>
                <a:cs typeface="Arial"/>
              </a:rPr>
              <a:t> </a:t>
            </a:r>
            <a:r>
              <a:rPr sz="2500" spc="-130" dirty="0">
                <a:latin typeface="Arial"/>
                <a:cs typeface="Arial"/>
              </a:rPr>
              <a:t>qui</a:t>
            </a:r>
            <a:r>
              <a:rPr sz="2500" spc="-55" dirty="0">
                <a:latin typeface="Arial"/>
                <a:cs typeface="Arial"/>
              </a:rPr>
              <a:t> </a:t>
            </a:r>
            <a:r>
              <a:rPr sz="2500" spc="-120" dirty="0">
                <a:latin typeface="Arial"/>
                <a:cs typeface="Arial"/>
              </a:rPr>
              <a:t>garantissent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ts val="2645"/>
              </a:lnSpc>
            </a:pPr>
            <a:r>
              <a:rPr sz="2350" spc="-110" dirty="0">
                <a:latin typeface="Arial"/>
                <a:cs typeface="Arial"/>
              </a:rPr>
              <a:t>que</a:t>
            </a:r>
            <a:r>
              <a:rPr sz="2350" spc="-55" dirty="0">
                <a:latin typeface="Arial"/>
                <a:cs typeface="Arial"/>
              </a:rPr>
              <a:t> </a:t>
            </a:r>
            <a:r>
              <a:rPr sz="2350" spc="-50" dirty="0">
                <a:latin typeface="Arial"/>
                <a:cs typeface="Arial"/>
              </a:rPr>
              <a:t>le</a:t>
            </a:r>
            <a:r>
              <a:rPr sz="2350" spc="-110" dirty="0">
                <a:latin typeface="Arial"/>
                <a:cs typeface="Arial"/>
              </a:rPr>
              <a:t> </a:t>
            </a:r>
            <a:r>
              <a:rPr sz="2350" spc="-80" dirty="0">
                <a:latin typeface="Arial"/>
                <a:cs typeface="Arial"/>
              </a:rPr>
              <a:t>modèle </a:t>
            </a:r>
            <a:r>
              <a:rPr sz="2350" spc="-60" dirty="0">
                <a:latin typeface="Arial"/>
                <a:cs typeface="Arial"/>
              </a:rPr>
              <a:t>est</a:t>
            </a:r>
            <a:r>
              <a:rPr sz="2350" spc="-65" dirty="0">
                <a:latin typeface="Arial"/>
                <a:cs typeface="Arial"/>
              </a:rPr>
              <a:t> </a:t>
            </a:r>
            <a:r>
              <a:rPr sz="2350" spc="-60" dirty="0">
                <a:latin typeface="Arial"/>
                <a:cs typeface="Arial"/>
              </a:rPr>
              <a:t>bien</a:t>
            </a:r>
            <a:r>
              <a:rPr sz="2350" spc="-70" dirty="0">
                <a:latin typeface="Arial"/>
                <a:cs typeface="Arial"/>
              </a:rPr>
              <a:t> </a:t>
            </a:r>
            <a:r>
              <a:rPr sz="2350" spc="-80" dirty="0">
                <a:latin typeface="Arial"/>
                <a:cs typeface="Arial"/>
              </a:rPr>
              <a:t>posé, </a:t>
            </a:r>
            <a:r>
              <a:rPr sz="2350" spc="-70" dirty="0">
                <a:latin typeface="Arial"/>
                <a:cs typeface="Arial"/>
              </a:rPr>
              <a:t>stable</a:t>
            </a:r>
            <a:r>
              <a:rPr sz="2350" spc="-9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et</a:t>
            </a:r>
            <a:r>
              <a:rPr sz="2350" spc="-125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contròlable.</a:t>
            </a:r>
            <a:endParaRPr sz="23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0147" y="3589513"/>
            <a:ext cx="5328285" cy="3848735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90805" marR="901700" indent="-28575">
              <a:lnSpc>
                <a:spcPct val="76300"/>
              </a:lnSpc>
              <a:spcBef>
                <a:spcPts val="975"/>
              </a:spcBef>
            </a:pPr>
            <a:r>
              <a:rPr sz="2950" spc="-170" dirty="0">
                <a:latin typeface="Arial"/>
                <a:cs typeface="Arial"/>
              </a:rPr>
              <a:t>1.</a:t>
            </a:r>
            <a:r>
              <a:rPr sz="2950" spc="-235" dirty="0">
                <a:latin typeface="Arial"/>
                <a:cs typeface="Arial"/>
              </a:rPr>
              <a:t> </a:t>
            </a:r>
            <a:r>
              <a:rPr sz="2950" spc="-65" dirty="0">
                <a:latin typeface="Arial"/>
                <a:cs typeface="Arial"/>
              </a:rPr>
              <a:t>Théorème</a:t>
            </a:r>
            <a:r>
              <a:rPr sz="2950" spc="-60" dirty="0">
                <a:latin typeface="Arial"/>
                <a:cs typeface="Arial"/>
              </a:rPr>
              <a:t> </a:t>
            </a:r>
            <a:r>
              <a:rPr sz="2950" spc="-45" dirty="0">
                <a:latin typeface="Arial"/>
                <a:cs typeface="Arial"/>
              </a:rPr>
              <a:t>d'Existence</a:t>
            </a:r>
            <a:r>
              <a:rPr sz="2950" spc="-160" dirty="0">
                <a:latin typeface="Arial"/>
                <a:cs typeface="Arial"/>
              </a:rPr>
              <a:t> </a:t>
            </a:r>
            <a:r>
              <a:rPr sz="2950" spc="30" dirty="0">
                <a:latin typeface="Arial"/>
                <a:cs typeface="Arial"/>
              </a:rPr>
              <a:t>et </a:t>
            </a:r>
            <a:r>
              <a:rPr sz="2950" spc="-10" dirty="0">
                <a:latin typeface="Arial"/>
                <a:cs typeface="Arial"/>
              </a:rPr>
              <a:t>d'Unicité</a:t>
            </a:r>
            <a:endParaRPr sz="2950">
              <a:latin typeface="Arial"/>
              <a:cs typeface="Arial"/>
            </a:endParaRPr>
          </a:p>
          <a:p>
            <a:pPr marL="86995" marR="137160" indent="16510">
              <a:lnSpc>
                <a:spcPct val="78900"/>
              </a:lnSpc>
              <a:spcBef>
                <a:spcPts val="2240"/>
              </a:spcBef>
            </a:pPr>
            <a:r>
              <a:rPr sz="2500" spc="-155" dirty="0">
                <a:latin typeface="Arial"/>
                <a:cs typeface="Arial"/>
              </a:rPr>
              <a:t>Affirmation:</a:t>
            </a:r>
            <a:r>
              <a:rPr sz="2500" spc="20" dirty="0">
                <a:latin typeface="Arial"/>
                <a:cs typeface="Arial"/>
              </a:rPr>
              <a:t> </a:t>
            </a:r>
            <a:r>
              <a:rPr sz="2500" spc="-385" dirty="0">
                <a:latin typeface="Arial"/>
                <a:cs typeface="Arial"/>
              </a:rPr>
              <a:t>Sous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spc="-300" dirty="0">
                <a:latin typeface="Arial"/>
                <a:cs typeface="Arial"/>
              </a:rPr>
              <a:t>des</a:t>
            </a:r>
            <a:r>
              <a:rPr sz="2500" spc="-45" dirty="0">
                <a:latin typeface="Arial"/>
                <a:cs typeface="Arial"/>
              </a:rPr>
              <a:t> </a:t>
            </a:r>
            <a:r>
              <a:rPr sz="2500" spc="-135" dirty="0">
                <a:latin typeface="Arial"/>
                <a:cs typeface="Arial"/>
              </a:rPr>
              <a:t>conditions </a:t>
            </a:r>
            <a:r>
              <a:rPr sz="2500" spc="-305" dirty="0">
                <a:latin typeface="Arial"/>
                <a:cs typeface="Arial"/>
              </a:rPr>
              <a:t>physiquement</a:t>
            </a:r>
            <a:r>
              <a:rPr sz="2500" spc="254" dirty="0">
                <a:latin typeface="Arial"/>
                <a:cs typeface="Arial"/>
              </a:rPr>
              <a:t> </a:t>
            </a:r>
            <a:r>
              <a:rPr sz="2500" spc="-229" dirty="0">
                <a:latin typeface="Arial"/>
                <a:cs typeface="Arial"/>
              </a:rPr>
              <a:t>réalistes</a:t>
            </a:r>
            <a:r>
              <a:rPr sz="2500" spc="70" dirty="0">
                <a:latin typeface="Arial"/>
                <a:cs typeface="Arial"/>
              </a:rPr>
              <a:t> </a:t>
            </a:r>
            <a:r>
              <a:rPr sz="2500" spc="-335" dirty="0">
                <a:latin typeface="Arial"/>
                <a:cs typeface="Arial"/>
              </a:rPr>
              <a:t>(H1-</a:t>
            </a:r>
            <a:r>
              <a:rPr sz="2500" spc="-370" dirty="0">
                <a:latin typeface="Arial"/>
                <a:cs typeface="Arial"/>
              </a:rPr>
              <a:t>H7)</a:t>
            </a:r>
            <a:r>
              <a:rPr sz="2500" spc="204" dirty="0">
                <a:latin typeface="Arial"/>
                <a:cs typeface="Arial"/>
              </a:rPr>
              <a:t> </a:t>
            </a:r>
            <a:r>
              <a:rPr sz="2500" spc="-315" dirty="0">
                <a:latin typeface="Arial"/>
                <a:cs typeface="Arial"/>
              </a:rPr>
              <a:t>sur</a:t>
            </a:r>
            <a:r>
              <a:rPr sz="2500" spc="-35" dirty="0">
                <a:latin typeface="Arial"/>
                <a:cs typeface="Arial"/>
              </a:rPr>
              <a:t> </a:t>
            </a:r>
            <a:r>
              <a:rPr sz="2500" spc="-280" dirty="0">
                <a:latin typeface="Arial"/>
                <a:cs typeface="Arial"/>
              </a:rPr>
              <a:t>les </a:t>
            </a:r>
            <a:r>
              <a:rPr sz="2500" spc="-285" dirty="0">
                <a:latin typeface="Arial"/>
                <a:cs typeface="Arial"/>
              </a:rPr>
              <a:t>paramètres,</a:t>
            </a:r>
            <a:r>
              <a:rPr sz="2500" spc="-60" dirty="0">
                <a:latin typeface="Arial"/>
                <a:cs typeface="Arial"/>
              </a:rPr>
              <a:t> </a:t>
            </a:r>
            <a:r>
              <a:rPr sz="2500" spc="-70" dirty="0">
                <a:latin typeface="Arial"/>
                <a:cs typeface="Arial"/>
              </a:rPr>
              <a:t>il</a:t>
            </a:r>
            <a:r>
              <a:rPr sz="2500" spc="-195" dirty="0">
                <a:latin typeface="Arial"/>
                <a:cs typeface="Arial"/>
              </a:rPr>
              <a:t> </a:t>
            </a:r>
            <a:r>
              <a:rPr sz="2500" spc="-240" dirty="0">
                <a:latin typeface="Arial"/>
                <a:cs typeface="Arial"/>
              </a:rPr>
              <a:t>existe</a:t>
            </a:r>
            <a:r>
              <a:rPr sz="2500" spc="-95" dirty="0">
                <a:latin typeface="Arial"/>
                <a:cs typeface="Arial"/>
              </a:rPr>
              <a:t> </a:t>
            </a:r>
            <a:r>
              <a:rPr sz="2500" spc="-325" dirty="0">
                <a:latin typeface="Arial"/>
                <a:cs typeface="Arial"/>
              </a:rPr>
              <a:t>une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spc="-250" dirty="0">
                <a:latin typeface="Arial"/>
                <a:cs typeface="Arial"/>
              </a:rPr>
              <a:t>solution</a:t>
            </a:r>
            <a:r>
              <a:rPr sz="2500" spc="70" dirty="0">
                <a:latin typeface="Arial"/>
                <a:cs typeface="Arial"/>
              </a:rPr>
              <a:t> </a:t>
            </a:r>
            <a:r>
              <a:rPr sz="2500" spc="-195" dirty="0">
                <a:latin typeface="Arial"/>
                <a:cs typeface="Arial"/>
              </a:rPr>
              <a:t>forte</a:t>
            </a:r>
            <a:r>
              <a:rPr sz="2500" spc="-110" dirty="0">
                <a:latin typeface="Arial"/>
                <a:cs typeface="Arial"/>
              </a:rPr>
              <a:t> </a:t>
            </a:r>
            <a:r>
              <a:rPr sz="2500" spc="-290" dirty="0">
                <a:solidFill>
                  <a:srgbClr val="212121"/>
                </a:solidFill>
                <a:latin typeface="Arial"/>
                <a:cs typeface="Arial"/>
              </a:rPr>
              <a:t>unique </a:t>
            </a:r>
            <a:r>
              <a:rPr sz="3750" i="1" spc="-735" baseline="1111" dirty="0">
                <a:solidFill>
                  <a:srgbClr val="242424"/>
                </a:solidFill>
                <a:latin typeface="Arial"/>
                <a:cs typeface="Arial"/>
              </a:rPr>
              <a:t>C</a:t>
            </a:r>
            <a:r>
              <a:rPr sz="3750" i="1" spc="195" baseline="1111" dirty="0">
                <a:solidFill>
                  <a:srgbClr val="242424"/>
                </a:solidFill>
                <a:latin typeface="Arial"/>
                <a:cs typeface="Arial"/>
              </a:rPr>
              <a:t> </a:t>
            </a:r>
            <a:r>
              <a:rPr sz="3750" i="1" spc="-892" baseline="1111" dirty="0">
                <a:solidFill>
                  <a:srgbClr val="262626"/>
                </a:solidFill>
                <a:latin typeface="Arial"/>
                <a:cs typeface="Arial"/>
              </a:rPr>
              <a:t>C</a:t>
            </a:r>
            <a:r>
              <a:rPr sz="3750" i="1" spc="547" baseline="1111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3750" i="1" spc="-322" baseline="1111" dirty="0">
                <a:solidFill>
                  <a:srgbClr val="232323"/>
                </a:solidFill>
                <a:latin typeface="Arial"/>
                <a:cs typeface="Arial"/>
              </a:rPr>
              <a:t>Xpq</a:t>
            </a:r>
            <a:r>
              <a:rPr sz="3750" i="1" spc="-322" baseline="-8888" dirty="0">
                <a:solidFill>
                  <a:srgbClr val="232323"/>
                </a:solidFill>
                <a:latin typeface="Arial"/>
                <a:cs typeface="Arial"/>
              </a:rPr>
              <a:t>C</a:t>
            </a:r>
            <a:r>
              <a:rPr sz="3750" i="1" spc="-322" baseline="1111" dirty="0">
                <a:solidFill>
                  <a:srgbClr val="232323"/>
                </a:solidFill>
                <a:latin typeface="Arial"/>
                <a:cs typeface="Arial"/>
              </a:rPr>
              <a:t>y</a:t>
            </a:r>
            <a:r>
              <a:rPr sz="3750" spc="-322" baseline="1111" dirty="0">
                <a:latin typeface="Arial"/>
                <a:cs typeface="Arial"/>
              </a:rPr>
              <a:t>p</a:t>
            </a:r>
            <a:r>
              <a:rPr sz="2500" spc="-215" dirty="0">
                <a:latin typeface="Arial"/>
                <a:cs typeface="Arial"/>
              </a:rPr>
              <a:t>o</a:t>
            </a:r>
            <a:r>
              <a:rPr sz="3750" spc="-322" baseline="1111" dirty="0">
                <a:latin typeface="Arial"/>
                <a:cs typeface="Arial"/>
              </a:rPr>
              <a:t>url'équation</a:t>
            </a:r>
            <a:r>
              <a:rPr sz="3750" spc="7" baseline="1111" dirty="0">
                <a:latin typeface="Arial"/>
                <a:cs typeface="Arial"/>
              </a:rPr>
              <a:t> </a:t>
            </a:r>
            <a:r>
              <a:rPr sz="3750" spc="-465" baseline="1111" dirty="0">
                <a:latin typeface="Arial"/>
                <a:cs typeface="Arial"/>
              </a:rPr>
              <a:t>cosmique.</a:t>
            </a:r>
            <a:endParaRPr sz="3750" baseline="1111">
              <a:latin typeface="Arial"/>
              <a:cs typeface="Arial"/>
            </a:endParaRPr>
          </a:p>
          <a:p>
            <a:pPr marL="92710" marR="43180" indent="-1905">
              <a:lnSpc>
                <a:spcPct val="78300"/>
              </a:lnSpc>
              <a:spcBef>
                <a:spcPts val="2355"/>
              </a:spcBef>
            </a:pPr>
            <a:r>
              <a:rPr sz="2500" spc="-315" dirty="0">
                <a:latin typeface="Arial"/>
                <a:cs typeface="Arial"/>
              </a:rPr>
              <a:t>Espaces</a:t>
            </a:r>
            <a:r>
              <a:rPr sz="2500" spc="-175" dirty="0">
                <a:latin typeface="Arial"/>
                <a:cs typeface="Arial"/>
              </a:rPr>
              <a:t> </a:t>
            </a:r>
            <a:r>
              <a:rPr sz="2500" spc="-254" dirty="0">
                <a:latin typeface="Arial"/>
                <a:cs typeface="Arial"/>
              </a:rPr>
              <a:t>Fonctionnels</a:t>
            </a:r>
            <a:r>
              <a:rPr sz="2500" spc="10" dirty="0">
                <a:latin typeface="Arial"/>
                <a:cs typeface="Arial"/>
              </a:rPr>
              <a:t> </a:t>
            </a:r>
            <a:r>
              <a:rPr sz="2500" spc="-160" dirty="0">
                <a:latin typeface="Arial"/>
                <a:cs typeface="Arial"/>
              </a:rPr>
              <a:t>:</a:t>
            </a:r>
            <a:r>
              <a:rPr sz="2500" spc="-85" dirty="0">
                <a:latin typeface="Arial"/>
                <a:cs typeface="Arial"/>
              </a:rPr>
              <a:t> </a:t>
            </a:r>
            <a:r>
              <a:rPr sz="2500" spc="-420" dirty="0">
                <a:latin typeface="Arial"/>
                <a:cs typeface="Arial"/>
              </a:rPr>
              <a:t>La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spc="-245" dirty="0">
                <a:latin typeface="Arial"/>
                <a:cs typeface="Arial"/>
              </a:rPr>
              <a:t>solution</a:t>
            </a:r>
            <a:r>
              <a:rPr sz="2500" spc="95" dirty="0">
                <a:latin typeface="Arial"/>
                <a:cs typeface="Arial"/>
              </a:rPr>
              <a:t> </a:t>
            </a:r>
            <a:r>
              <a:rPr sz="2500" spc="-254" dirty="0">
                <a:latin typeface="Arial"/>
                <a:cs typeface="Arial"/>
              </a:rPr>
              <a:t>existe</a:t>
            </a:r>
            <a:r>
              <a:rPr sz="2500" spc="10" dirty="0">
                <a:latin typeface="Arial"/>
                <a:cs typeface="Arial"/>
              </a:rPr>
              <a:t> </a:t>
            </a:r>
            <a:r>
              <a:rPr sz="2500" spc="-345" dirty="0">
                <a:latin typeface="Arial"/>
                <a:cs typeface="Arial"/>
              </a:rPr>
              <a:t>dans </a:t>
            </a:r>
            <a:r>
              <a:rPr sz="2500" spc="-300" dirty="0">
                <a:latin typeface="Arial"/>
                <a:cs typeface="Arial"/>
              </a:rPr>
              <a:t>des</a:t>
            </a:r>
            <a:r>
              <a:rPr sz="2500" spc="-125" dirty="0">
                <a:latin typeface="Arial"/>
                <a:cs typeface="Arial"/>
              </a:rPr>
              <a:t> </a:t>
            </a:r>
            <a:r>
              <a:rPr sz="2500" spc="-310" dirty="0">
                <a:latin typeface="Arial"/>
                <a:cs typeface="Arial"/>
              </a:rPr>
              <a:t>espaces</a:t>
            </a:r>
            <a:r>
              <a:rPr sz="2500" spc="85" dirty="0">
                <a:latin typeface="Arial"/>
                <a:cs typeface="Arial"/>
              </a:rPr>
              <a:t> </a:t>
            </a:r>
            <a:r>
              <a:rPr sz="2500" spc="-295" dirty="0">
                <a:latin typeface="Arial"/>
                <a:cs typeface="Arial"/>
              </a:rPr>
              <a:t>de</a:t>
            </a:r>
            <a:r>
              <a:rPr sz="2500" spc="-200" dirty="0">
                <a:latin typeface="Arial"/>
                <a:cs typeface="Arial"/>
              </a:rPr>
              <a:t> </a:t>
            </a:r>
            <a:r>
              <a:rPr sz="2500" spc="-300" dirty="0">
                <a:latin typeface="Arial"/>
                <a:cs typeface="Arial"/>
              </a:rPr>
              <a:t>Sobolev</a:t>
            </a:r>
            <a:r>
              <a:rPr sz="2500" spc="75" dirty="0">
                <a:latin typeface="Arial"/>
                <a:cs typeface="Arial"/>
              </a:rPr>
              <a:t> </a:t>
            </a:r>
            <a:r>
              <a:rPr sz="2500" spc="-220" dirty="0">
                <a:latin typeface="Arial"/>
                <a:cs typeface="Arial"/>
              </a:rPr>
              <a:t>fractionnaires</a:t>
            </a:r>
            <a:r>
              <a:rPr sz="2500" spc="-150" dirty="0">
                <a:latin typeface="Arial"/>
                <a:cs typeface="Arial"/>
              </a:rPr>
              <a:t> </a:t>
            </a:r>
            <a:r>
              <a:rPr sz="2500" spc="-25" dirty="0">
                <a:latin typeface="Arial"/>
                <a:cs typeface="Arial"/>
              </a:rPr>
              <a:t>et </a:t>
            </a:r>
            <a:r>
              <a:rPr sz="2500" spc="-250" dirty="0">
                <a:latin typeface="Arial"/>
                <a:cs typeface="Arial"/>
              </a:rPr>
              <a:t>stochastiques</a:t>
            </a:r>
            <a:r>
              <a:rPr sz="2500" spc="165" dirty="0">
                <a:latin typeface="Arial"/>
                <a:cs typeface="Arial"/>
              </a:rPr>
              <a:t> </a:t>
            </a:r>
            <a:r>
              <a:rPr sz="2500" spc="-315" dirty="0">
                <a:latin typeface="Arial"/>
                <a:cs typeface="Arial"/>
              </a:rPr>
              <a:t>sur</a:t>
            </a:r>
            <a:r>
              <a:rPr sz="2500" spc="-40" dirty="0">
                <a:latin typeface="Arial"/>
                <a:cs typeface="Arial"/>
              </a:rPr>
              <a:t> </a:t>
            </a:r>
            <a:r>
              <a:rPr sz="2500" spc="-300" dirty="0">
                <a:latin typeface="Arial"/>
                <a:cs typeface="Arial"/>
              </a:rPr>
              <a:t>des</a:t>
            </a:r>
            <a:r>
              <a:rPr sz="2500" spc="-60" dirty="0">
                <a:latin typeface="Arial"/>
                <a:cs typeface="Arial"/>
              </a:rPr>
              <a:t> </a:t>
            </a:r>
            <a:r>
              <a:rPr sz="2500" spc="-250" dirty="0">
                <a:latin typeface="Arial"/>
                <a:cs typeface="Arial"/>
              </a:rPr>
              <a:t>variétés</a:t>
            </a:r>
            <a:r>
              <a:rPr sz="2500" spc="50" dirty="0">
                <a:latin typeface="Arial"/>
                <a:cs typeface="Arial"/>
              </a:rPr>
              <a:t> </a:t>
            </a:r>
            <a:r>
              <a:rPr sz="2500" spc="-150" dirty="0">
                <a:latin typeface="Arial"/>
                <a:cs typeface="Arial"/>
              </a:rPr>
              <a:t>évolutives</a:t>
            </a:r>
            <a:endParaRPr sz="25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50"/>
              </a:spcBef>
            </a:pPr>
            <a:r>
              <a:rPr sz="2050" spc="-260" dirty="0">
                <a:latin typeface="Courier New"/>
                <a:cs typeface="Courier New"/>
              </a:rPr>
              <a:t>(</a:t>
            </a:r>
            <a:r>
              <a:rPr sz="2050" spc="470" dirty="0">
                <a:latin typeface="Courier New"/>
                <a:cs typeface="Courier New"/>
              </a:rPr>
              <a:t> </a:t>
            </a:r>
            <a:r>
              <a:rPr sz="2050" spc="-385" dirty="0">
                <a:latin typeface="Courier New"/>
                <a:cs typeface="Courier New"/>
              </a:rPr>
              <a:t>V/fCF)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8410" y="7593189"/>
            <a:ext cx="5004435" cy="6921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585"/>
              </a:lnSpc>
              <a:spcBef>
                <a:spcPts val="110"/>
              </a:spcBef>
            </a:pPr>
            <a:r>
              <a:rPr sz="2350" spc="-185" dirty="0">
                <a:latin typeface="Arial"/>
                <a:cs typeface="Arial"/>
              </a:rPr>
              <a:t>Méthodes</a:t>
            </a:r>
            <a:r>
              <a:rPr sz="2350" spc="65" dirty="0">
                <a:latin typeface="Arial"/>
                <a:cs typeface="Arial"/>
              </a:rPr>
              <a:t> </a:t>
            </a:r>
            <a:r>
              <a:rPr sz="2350" spc="-220" dirty="0">
                <a:latin typeface="Arial"/>
                <a:cs typeface="Arial"/>
              </a:rPr>
              <a:t>de</a:t>
            </a:r>
            <a:r>
              <a:rPr sz="2350" spc="-250" dirty="0">
                <a:latin typeface="Arial"/>
                <a:cs typeface="Arial"/>
              </a:rPr>
              <a:t> </a:t>
            </a:r>
            <a:r>
              <a:rPr sz="2350" spc="-210" dirty="0">
                <a:latin typeface="Arial"/>
                <a:cs typeface="Arial"/>
              </a:rPr>
              <a:t>Preuve</a:t>
            </a:r>
            <a:r>
              <a:rPr sz="2350" spc="-140" dirty="0">
                <a:latin typeface="Arial"/>
                <a:cs typeface="Arial"/>
              </a:rPr>
              <a:t> </a:t>
            </a:r>
            <a:r>
              <a:rPr sz="2350" spc="-50" dirty="0">
                <a:latin typeface="Arial"/>
                <a:cs typeface="Arial"/>
              </a:rPr>
              <a:t>:</a:t>
            </a:r>
            <a:endParaRPr sz="2350">
              <a:latin typeface="Arial"/>
              <a:cs typeface="Arial"/>
            </a:endParaRPr>
          </a:p>
          <a:p>
            <a:pPr marL="365760" indent="-347345">
              <a:lnSpc>
                <a:spcPts val="2645"/>
              </a:lnSpc>
              <a:buChar char="•"/>
              <a:tabLst>
                <a:tab pos="365760" algn="l"/>
              </a:tabLst>
            </a:pPr>
            <a:r>
              <a:rPr sz="2400" spc="-245" dirty="0">
                <a:latin typeface="Arial"/>
                <a:cs typeface="Arial"/>
              </a:rPr>
              <a:t>Approximations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260" dirty="0">
                <a:latin typeface="Arial"/>
                <a:cs typeface="Arial"/>
              </a:rPr>
              <a:t>de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265" dirty="0">
                <a:latin typeface="Arial"/>
                <a:cs typeface="Arial"/>
              </a:rPr>
              <a:t>Galerkin</a:t>
            </a:r>
            <a:r>
              <a:rPr sz="2400" spc="114" dirty="0">
                <a:latin typeface="Arial"/>
                <a:cs typeface="Arial"/>
              </a:rPr>
              <a:t> </a:t>
            </a:r>
            <a:r>
              <a:rPr sz="2400" spc="-185" dirty="0">
                <a:latin typeface="Arial"/>
                <a:cs typeface="Arial"/>
              </a:rPr>
              <a:t>multi-</a:t>
            </a:r>
            <a:r>
              <a:rPr sz="2400" spc="-145" dirty="0">
                <a:latin typeface="Arial"/>
                <a:cs typeface="Arial"/>
              </a:rPr>
              <a:t>échelles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4072" y="8172450"/>
            <a:ext cx="4823460" cy="1008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265" indent="-329565">
              <a:lnSpc>
                <a:spcPts val="2750"/>
              </a:lnSpc>
              <a:spcBef>
                <a:spcPts val="100"/>
              </a:spcBef>
              <a:buChar char="•"/>
              <a:tabLst>
                <a:tab pos="342265" algn="l"/>
              </a:tabLst>
            </a:pPr>
            <a:r>
              <a:rPr sz="2500" spc="-260" dirty="0">
                <a:latin typeface="Arial"/>
                <a:cs typeface="Arial"/>
              </a:rPr>
              <a:t>Inégalités</a:t>
            </a:r>
            <a:r>
              <a:rPr sz="2500" spc="40" dirty="0">
                <a:latin typeface="Arial"/>
                <a:cs typeface="Arial"/>
              </a:rPr>
              <a:t> </a:t>
            </a:r>
            <a:r>
              <a:rPr sz="2500" spc="-295" dirty="0">
                <a:latin typeface="Arial"/>
                <a:cs typeface="Arial"/>
              </a:rPr>
              <a:t>de</a:t>
            </a:r>
            <a:r>
              <a:rPr sz="2500" spc="-229" dirty="0">
                <a:latin typeface="Arial"/>
                <a:cs typeface="Arial"/>
              </a:rPr>
              <a:t> </a:t>
            </a:r>
            <a:r>
              <a:rPr sz="2500" spc="-315" dirty="0">
                <a:latin typeface="Arial"/>
                <a:cs typeface="Arial"/>
              </a:rPr>
              <a:t>Gronwall</a:t>
            </a:r>
            <a:r>
              <a:rPr sz="2500" spc="135" dirty="0">
                <a:latin typeface="Arial"/>
                <a:cs typeface="Arial"/>
              </a:rPr>
              <a:t> </a:t>
            </a:r>
            <a:r>
              <a:rPr sz="2500" spc="-160" dirty="0">
                <a:latin typeface="Arial"/>
                <a:cs typeface="Arial"/>
              </a:rPr>
              <a:t>fractionnaires</a:t>
            </a:r>
            <a:endParaRPr sz="2500">
              <a:latin typeface="Arial"/>
              <a:cs typeface="Arial"/>
            </a:endParaRPr>
          </a:p>
          <a:p>
            <a:pPr marL="345440" marR="5080" indent="-332740">
              <a:lnSpc>
                <a:spcPts val="2350"/>
              </a:lnSpc>
              <a:spcBef>
                <a:spcPts val="270"/>
              </a:spcBef>
              <a:buChar char="•"/>
              <a:tabLst>
                <a:tab pos="345440" algn="l"/>
                <a:tab pos="352425" algn="l"/>
              </a:tabLst>
            </a:pPr>
            <a:r>
              <a:rPr sz="2400" dirty="0">
                <a:latin typeface="Arial"/>
                <a:cs typeface="Arial"/>
              </a:rPr>
              <a:t>	</a:t>
            </a:r>
            <a:r>
              <a:rPr sz="2400" spc="-315" dirty="0">
                <a:latin typeface="Arial"/>
                <a:cs typeface="Arial"/>
              </a:rPr>
              <a:t>Théorèmes</a:t>
            </a:r>
            <a:r>
              <a:rPr sz="2400" spc="185" dirty="0">
                <a:latin typeface="Arial"/>
                <a:cs typeface="Arial"/>
              </a:rPr>
              <a:t> </a:t>
            </a:r>
            <a:r>
              <a:rPr sz="2400" spc="-315" dirty="0">
                <a:latin typeface="Arial"/>
                <a:cs typeface="Arial"/>
              </a:rPr>
              <a:t>de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0" dirty="0">
                <a:latin typeface="Arial"/>
                <a:cs typeface="Arial"/>
              </a:rPr>
              <a:t>compacité</a:t>
            </a:r>
            <a:r>
              <a:rPr sz="2400" spc="135" dirty="0">
                <a:latin typeface="Arial"/>
                <a:cs typeface="Arial"/>
              </a:rPr>
              <a:t> </a:t>
            </a:r>
            <a:r>
              <a:rPr sz="2400" spc="-215" dirty="0">
                <a:latin typeface="Arial"/>
                <a:cs typeface="Arial"/>
              </a:rPr>
              <a:t>d'Aubin-</a:t>
            </a:r>
            <a:r>
              <a:rPr sz="2400" spc="-150" dirty="0">
                <a:latin typeface="Arial"/>
                <a:cs typeface="Arial"/>
              </a:rPr>
              <a:t>Lions- </a:t>
            </a:r>
            <a:r>
              <a:rPr sz="2400" spc="-320" dirty="0">
                <a:latin typeface="Arial"/>
                <a:cs typeface="Arial"/>
              </a:rPr>
              <a:t>Simon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modifiés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78101" y="2811718"/>
            <a:ext cx="4424680" cy="1253490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287020">
              <a:lnSpc>
                <a:spcPct val="100000"/>
              </a:lnSpc>
              <a:spcBef>
                <a:spcPts val="1560"/>
              </a:spcBef>
            </a:pPr>
            <a:r>
              <a:rPr sz="2950" dirty="0">
                <a:latin typeface="Arial"/>
                <a:cs typeface="Arial"/>
              </a:rPr>
              <a:t>Les</a:t>
            </a:r>
            <a:r>
              <a:rPr sz="2950" spc="-140" dirty="0">
                <a:latin typeface="Arial"/>
                <a:cs typeface="Arial"/>
              </a:rPr>
              <a:t> </a:t>
            </a:r>
            <a:r>
              <a:rPr sz="2950" spc="65" dirty="0">
                <a:latin typeface="Arial"/>
                <a:cs typeface="Arial"/>
              </a:rPr>
              <a:t>Piliers</a:t>
            </a:r>
            <a:r>
              <a:rPr sz="2950" spc="55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de</a:t>
            </a:r>
            <a:r>
              <a:rPr sz="2950" spc="-110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la</a:t>
            </a:r>
            <a:r>
              <a:rPr sz="2950" spc="-25" dirty="0">
                <a:latin typeface="Arial"/>
                <a:cs typeface="Arial"/>
              </a:rPr>
              <a:t> </a:t>
            </a:r>
            <a:r>
              <a:rPr sz="2950" spc="55" dirty="0">
                <a:latin typeface="Arial"/>
                <a:cs typeface="Arial"/>
              </a:rPr>
              <a:t>Théorie</a:t>
            </a:r>
            <a:endParaRPr sz="2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2750" dirty="0">
                <a:latin typeface="Arial"/>
                <a:cs typeface="Arial"/>
              </a:rPr>
              <a:t>2.</a:t>
            </a:r>
            <a:r>
              <a:rPr sz="2750" spc="-13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Théorème</a:t>
            </a:r>
            <a:r>
              <a:rPr sz="2750" spc="29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de</a:t>
            </a:r>
            <a:r>
              <a:rPr sz="2750" spc="-40" dirty="0">
                <a:latin typeface="Arial"/>
                <a:cs typeface="Arial"/>
              </a:rPr>
              <a:t> </a:t>
            </a:r>
            <a:r>
              <a:rPr sz="2750" spc="60" dirty="0">
                <a:latin typeface="Arial"/>
                <a:cs typeface="Arial"/>
              </a:rPr>
              <a:t>Stabilité</a:t>
            </a:r>
            <a:endParaRPr sz="27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74711" y="4465108"/>
            <a:ext cx="4450715" cy="1028700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290"/>
              </a:spcBef>
            </a:pPr>
            <a:r>
              <a:rPr sz="2300" spc="-90" dirty="0">
                <a:latin typeface="Arial"/>
                <a:cs typeface="Arial"/>
              </a:rPr>
              <a:t>Affirmation</a:t>
            </a:r>
            <a:r>
              <a:rPr sz="2300" spc="25" dirty="0">
                <a:latin typeface="Arial"/>
                <a:cs typeface="Arial"/>
              </a:rPr>
              <a:t> </a:t>
            </a:r>
            <a:r>
              <a:rPr sz="2300" spc="-50" dirty="0">
                <a:latin typeface="Arial"/>
                <a:cs typeface="Arial"/>
              </a:rPr>
              <a:t>: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2457450" algn="l"/>
                <a:tab pos="3606165" algn="l"/>
                <a:tab pos="3973829" algn="l"/>
              </a:tabLst>
            </a:pPr>
            <a:r>
              <a:rPr sz="2300" spc="-254" dirty="0">
                <a:latin typeface="Arial"/>
                <a:cs typeface="Arial"/>
              </a:rPr>
              <a:t>Si</a:t>
            </a:r>
            <a:r>
              <a:rPr sz="2300" spc="-50" dirty="0">
                <a:latin typeface="Arial"/>
                <a:cs typeface="Arial"/>
              </a:rPr>
              <a:t> </a:t>
            </a:r>
            <a:r>
              <a:rPr sz="2300" spc="-215" dirty="0">
                <a:latin typeface="Arial"/>
                <a:cs typeface="Arial"/>
              </a:rPr>
              <a:t>une</a:t>
            </a:r>
            <a:r>
              <a:rPr sz="2300" spc="-135" dirty="0">
                <a:latin typeface="Arial"/>
                <a:cs typeface="Arial"/>
              </a:rPr>
              <a:t> </a:t>
            </a:r>
            <a:r>
              <a:rPr sz="2300" spc="-120" dirty="0">
                <a:latin typeface="Arial"/>
                <a:cs typeface="Arial"/>
              </a:rPr>
              <a:t>condition</a:t>
            </a:r>
            <a:r>
              <a:rPr sz="2300" spc="55" dirty="0"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9A855D"/>
                </a:solidFill>
                <a:latin typeface="Arial"/>
                <a:cs typeface="Arial"/>
              </a:rPr>
              <a:t>‹t'es</a:t>
            </a:r>
            <a:r>
              <a:rPr sz="2300" dirty="0">
                <a:solidFill>
                  <a:srgbClr val="9A855D"/>
                </a:solidFill>
                <a:latin typeface="Arial"/>
                <a:cs typeface="Arial"/>
              </a:rPr>
              <a:t>	</a:t>
            </a:r>
            <a:r>
              <a:rPr sz="2300" spc="-170" dirty="0">
                <a:solidFill>
                  <a:srgbClr val="9A855D"/>
                </a:solidFill>
                <a:latin typeface="Arial"/>
                <a:cs typeface="Arial"/>
              </a:rPr>
              <a:t>i”Ii</a:t>
            </a:r>
            <a:r>
              <a:rPr sz="2300" spc="10" dirty="0">
                <a:solidFill>
                  <a:srgbClr val="9A855D"/>
                </a:solidFill>
                <a:latin typeface="Arial"/>
                <a:cs typeface="Arial"/>
              </a:rPr>
              <a:t> </a:t>
            </a:r>
            <a:r>
              <a:rPr sz="2300" spc="-110" dirty="0">
                <a:solidFill>
                  <a:srgbClr val="9A855D"/>
                </a:solidFill>
                <a:latin typeface="Arial"/>
                <a:cs typeface="Arial"/>
              </a:rPr>
              <a:t>›r‹'</a:t>
            </a:r>
            <a:r>
              <a:rPr sz="2300" spc="-20" dirty="0">
                <a:solidFill>
                  <a:srgbClr val="9A855D"/>
                </a:solidFill>
                <a:latin typeface="Arial"/>
                <a:cs typeface="Arial"/>
              </a:rPr>
              <a:t> </a:t>
            </a:r>
            <a:r>
              <a:rPr sz="2300" spc="-35" dirty="0">
                <a:solidFill>
                  <a:srgbClr val="9A835D"/>
                </a:solidFill>
                <a:latin typeface="Arial"/>
                <a:cs typeface="Arial"/>
              </a:rPr>
              <a:t>›p</a:t>
            </a:r>
            <a:r>
              <a:rPr sz="2300" dirty="0">
                <a:solidFill>
                  <a:srgbClr val="9A835D"/>
                </a:solidFill>
                <a:latin typeface="Arial"/>
                <a:cs typeface="Arial"/>
              </a:rPr>
              <a:t>	</a:t>
            </a:r>
            <a:r>
              <a:rPr sz="2300" spc="-25" dirty="0">
                <a:solidFill>
                  <a:srgbClr val="938060"/>
                </a:solidFill>
                <a:latin typeface="Arial"/>
                <a:cs typeface="Arial"/>
              </a:rPr>
              <a:t>.i</a:t>
            </a:r>
            <a:r>
              <a:rPr sz="2300" dirty="0">
                <a:solidFill>
                  <a:srgbClr val="938060"/>
                </a:solidFill>
                <a:latin typeface="Arial"/>
                <a:cs typeface="Arial"/>
              </a:rPr>
              <a:t>	</a:t>
            </a:r>
            <a:r>
              <a:rPr sz="2300" spc="-355" dirty="0">
                <a:solidFill>
                  <a:srgbClr val="A38C64"/>
                </a:solidFill>
                <a:latin typeface="Arial"/>
                <a:cs typeface="Arial"/>
              </a:rPr>
              <a:t>I</a:t>
            </a:r>
            <a:r>
              <a:rPr sz="2300" spc="95" dirty="0">
                <a:solidFill>
                  <a:srgbClr val="A38C64"/>
                </a:solidFill>
                <a:latin typeface="Arial"/>
                <a:cs typeface="Arial"/>
              </a:rPr>
              <a:t> </a:t>
            </a:r>
            <a:r>
              <a:rPr sz="2300" spc="-135" dirty="0">
                <a:latin typeface="Arial"/>
                <a:cs typeface="Arial"/>
              </a:rPr>
              <a:t>est</a:t>
            </a:r>
            <a:endParaRPr sz="23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79078" y="5423958"/>
            <a:ext cx="3329304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00" spc="-125" dirty="0">
                <a:latin typeface="Arial"/>
                <a:cs typeface="Arial"/>
              </a:rPr>
              <a:t>satisfaite,</a:t>
            </a:r>
            <a:r>
              <a:rPr sz="2300" spc="80" dirty="0">
                <a:latin typeface="Arial"/>
                <a:cs typeface="Arial"/>
              </a:rPr>
              <a:t> </a:t>
            </a:r>
            <a:r>
              <a:rPr sz="2300" spc="-215" dirty="0">
                <a:latin typeface="Arial"/>
                <a:cs typeface="Arial"/>
              </a:rPr>
              <a:t>la</a:t>
            </a:r>
            <a:r>
              <a:rPr sz="2300" spc="80" dirty="0">
                <a:latin typeface="Arial"/>
                <a:cs typeface="Arial"/>
              </a:rPr>
              <a:t> </a:t>
            </a:r>
            <a:r>
              <a:rPr sz="2300" spc="-150" dirty="0">
                <a:latin typeface="Arial"/>
                <a:cs typeface="Arial"/>
              </a:rPr>
              <a:t>solution</a:t>
            </a:r>
            <a:r>
              <a:rPr sz="2300" spc="-90" dirty="0">
                <a:latin typeface="Arial"/>
                <a:cs typeface="Arial"/>
              </a:rPr>
              <a:t> </a:t>
            </a:r>
            <a:r>
              <a:rPr sz="2300" spc="-160" dirty="0">
                <a:latin typeface="Arial"/>
                <a:cs typeface="Arial"/>
              </a:rPr>
              <a:t>nulle</a:t>
            </a:r>
            <a:r>
              <a:rPr sz="2300" spc="15" dirty="0">
                <a:latin typeface="Arial"/>
                <a:cs typeface="Arial"/>
              </a:rPr>
              <a:t> </a:t>
            </a:r>
            <a:r>
              <a:rPr sz="2300" spc="-35" dirty="0">
                <a:latin typeface="Arial"/>
                <a:cs typeface="Arial"/>
              </a:rPr>
              <a:t>est</a:t>
            </a:r>
            <a:endParaRPr sz="2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75797" y="5740047"/>
            <a:ext cx="430720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69365" algn="l"/>
                <a:tab pos="2298065" algn="l"/>
                <a:tab pos="2534920" algn="l"/>
                <a:tab pos="2922905" algn="l"/>
              </a:tabLst>
            </a:pPr>
            <a:r>
              <a:rPr sz="2150" spc="-25" dirty="0">
                <a:solidFill>
                  <a:srgbClr val="9A835E"/>
                </a:solidFill>
                <a:latin typeface="Arial"/>
                <a:cs typeface="Arial"/>
              </a:rPr>
              <a:t>‹:</a:t>
            </a:r>
            <a:r>
              <a:rPr sz="2150" dirty="0">
                <a:solidFill>
                  <a:srgbClr val="9A835E"/>
                </a:solidFill>
                <a:latin typeface="Arial"/>
                <a:cs typeface="Arial"/>
              </a:rPr>
              <a:t>	</a:t>
            </a:r>
            <a:r>
              <a:rPr sz="2150" spc="-120" dirty="0">
                <a:solidFill>
                  <a:srgbClr val="9C8C6E"/>
                </a:solidFill>
                <a:latin typeface="Arial"/>
                <a:cs typeface="Arial"/>
              </a:rPr>
              <a:t>I’‹›«</a:t>
            </a:r>
            <a:r>
              <a:rPr sz="2150" spc="-145" dirty="0">
                <a:solidFill>
                  <a:srgbClr val="9C8C6E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99825D"/>
                </a:solidFill>
                <a:latin typeface="Arial"/>
                <a:cs typeface="Arial"/>
              </a:rPr>
              <a:t>...</a:t>
            </a:r>
            <a:r>
              <a:rPr sz="2150" spc="-105" dirty="0">
                <a:solidFill>
                  <a:srgbClr val="99825D"/>
                </a:solidFill>
                <a:latin typeface="Arial"/>
                <a:cs typeface="Arial"/>
              </a:rPr>
              <a:t> </a:t>
            </a:r>
            <a:r>
              <a:rPr sz="2150" spc="-50" dirty="0">
                <a:solidFill>
                  <a:srgbClr val="A0895B"/>
                </a:solidFill>
                <a:latin typeface="Arial"/>
                <a:cs typeface="Arial"/>
              </a:rPr>
              <a:t>‘</a:t>
            </a:r>
            <a:r>
              <a:rPr sz="2150" dirty="0">
                <a:solidFill>
                  <a:srgbClr val="A0895B"/>
                </a:solidFill>
                <a:latin typeface="Arial"/>
                <a:cs typeface="Arial"/>
              </a:rPr>
              <a:t>	</a:t>
            </a:r>
            <a:r>
              <a:rPr sz="2150" spc="-50" dirty="0">
                <a:solidFill>
                  <a:srgbClr val="9A896D"/>
                </a:solidFill>
                <a:latin typeface="Arial"/>
                <a:cs typeface="Arial"/>
              </a:rPr>
              <a:t>I</a:t>
            </a:r>
            <a:r>
              <a:rPr sz="2150" dirty="0">
                <a:solidFill>
                  <a:srgbClr val="9A896D"/>
                </a:solidFill>
                <a:latin typeface="Arial"/>
                <a:cs typeface="Arial"/>
              </a:rPr>
              <a:t>	</a:t>
            </a:r>
            <a:r>
              <a:rPr sz="2150" spc="-290" dirty="0">
                <a:solidFill>
                  <a:srgbClr val="A58C64"/>
                </a:solidFill>
                <a:latin typeface="Arial"/>
                <a:cs typeface="Arial"/>
              </a:rPr>
              <a:t>t</a:t>
            </a:r>
            <a:r>
              <a:rPr sz="2150" spc="114" dirty="0">
                <a:solidFill>
                  <a:srgbClr val="A58C64"/>
                </a:solidFill>
                <a:latin typeface="Arial"/>
                <a:cs typeface="Arial"/>
              </a:rPr>
              <a:t> </a:t>
            </a:r>
            <a:r>
              <a:rPr sz="2150" spc="-25" dirty="0">
                <a:solidFill>
                  <a:srgbClr val="9C8967"/>
                </a:solidFill>
                <a:latin typeface="Arial"/>
                <a:cs typeface="Arial"/>
              </a:rPr>
              <a:t>I‹</a:t>
            </a:r>
            <a:r>
              <a:rPr sz="2150" dirty="0">
                <a:solidFill>
                  <a:srgbClr val="9C8967"/>
                </a:solidFill>
                <a:latin typeface="Arial"/>
                <a:cs typeface="Arial"/>
              </a:rPr>
              <a:t>	</a:t>
            </a:r>
            <a:r>
              <a:rPr sz="2150" spc="-140" dirty="0">
                <a:latin typeface="Arial"/>
                <a:cs typeface="Arial"/>
              </a:rPr>
              <a:t>en</a:t>
            </a:r>
            <a:r>
              <a:rPr sz="2150" spc="-5" dirty="0">
                <a:latin typeface="Arial"/>
                <a:cs typeface="Arial"/>
              </a:rPr>
              <a:t> </a:t>
            </a:r>
            <a:r>
              <a:rPr sz="2150" spc="-110" dirty="0">
                <a:latin typeface="Arial"/>
                <a:cs typeface="Arial"/>
              </a:rPr>
              <a:t>moyenne</a:t>
            </a:r>
            <a:endParaRPr sz="21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77772" y="6027208"/>
            <a:ext cx="1414780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00" spc="-155" dirty="0">
                <a:latin typeface="Arial"/>
                <a:cs typeface="Arial"/>
              </a:rPr>
              <a:t>quadratique.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64710" y="6762567"/>
            <a:ext cx="4358640" cy="149034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2350" spc="75" dirty="0">
                <a:latin typeface="Arial Narrow"/>
                <a:cs typeface="Arial Narrow"/>
              </a:rPr>
              <a:t>Implication</a:t>
            </a:r>
            <a:r>
              <a:rPr sz="2350" spc="30" dirty="0">
                <a:latin typeface="Arial Narrow"/>
                <a:cs typeface="Arial Narrow"/>
              </a:rPr>
              <a:t> </a:t>
            </a:r>
            <a:r>
              <a:rPr sz="2350" dirty="0">
                <a:latin typeface="Arial Narrow"/>
                <a:cs typeface="Arial Narrow"/>
              </a:rPr>
              <a:t>:</a:t>
            </a:r>
            <a:endParaRPr sz="2350">
              <a:latin typeface="Arial Narrow"/>
              <a:cs typeface="Arial Narrow"/>
            </a:endParaRPr>
          </a:p>
          <a:p>
            <a:pPr marL="17780" marR="5080" indent="13335">
              <a:lnSpc>
                <a:spcPct val="91100"/>
              </a:lnSpc>
              <a:spcBef>
                <a:spcPts val="910"/>
              </a:spcBef>
            </a:pPr>
            <a:r>
              <a:rPr sz="2150" spc="-130" dirty="0">
                <a:latin typeface="Arial"/>
                <a:cs typeface="Arial"/>
              </a:rPr>
              <a:t>t.e</a:t>
            </a:r>
            <a:r>
              <a:rPr sz="2150" spc="-65" dirty="0">
                <a:latin typeface="Arial"/>
                <a:cs typeface="Arial"/>
              </a:rPr>
              <a:t> </a:t>
            </a:r>
            <a:r>
              <a:rPr sz="2150" spc="-105" dirty="0">
                <a:latin typeface="Arial"/>
                <a:cs typeface="Arial"/>
              </a:rPr>
              <a:t>modèle</a:t>
            </a:r>
            <a:r>
              <a:rPr sz="2150" spc="-45" dirty="0">
                <a:latin typeface="Arial"/>
                <a:cs typeface="Arial"/>
              </a:rPr>
              <a:t> </a:t>
            </a:r>
            <a:r>
              <a:rPr sz="2150" spc="-130" dirty="0">
                <a:latin typeface="Arial"/>
                <a:cs typeface="Arial"/>
              </a:rPr>
              <a:t>ne</a:t>
            </a:r>
            <a:r>
              <a:rPr sz="2150" spc="-35" dirty="0">
                <a:latin typeface="Arial"/>
                <a:cs typeface="Arial"/>
              </a:rPr>
              <a:t> </a:t>
            </a:r>
            <a:r>
              <a:rPr sz="2150" spc="-70" dirty="0">
                <a:latin typeface="Arial"/>
                <a:cs typeface="Arial"/>
              </a:rPr>
              <a:t>'diverge'</a:t>
            </a:r>
            <a:r>
              <a:rPr sz="2150" dirty="0">
                <a:latin typeface="Arial"/>
                <a:cs typeface="Arial"/>
              </a:rPr>
              <a:t> </a:t>
            </a:r>
            <a:r>
              <a:rPr sz="2150" spc="-100" dirty="0">
                <a:latin typeface="Arial"/>
                <a:cs typeface="Arial"/>
              </a:rPr>
              <a:t>pas</a:t>
            </a:r>
            <a:r>
              <a:rPr sz="2150" spc="25" dirty="0">
                <a:latin typeface="Arial"/>
                <a:cs typeface="Arial"/>
              </a:rPr>
              <a:t> </a:t>
            </a:r>
            <a:r>
              <a:rPr sz="2150" spc="-114" dirty="0">
                <a:latin typeface="Arial"/>
                <a:cs typeface="Arial"/>
              </a:rPr>
              <a:t>de</a:t>
            </a:r>
            <a:r>
              <a:rPr sz="2150" spc="-75" dirty="0">
                <a:latin typeface="Arial"/>
                <a:cs typeface="Arial"/>
              </a:rPr>
              <a:t> </a:t>
            </a:r>
            <a:r>
              <a:rPr sz="2150" spc="-70" dirty="0">
                <a:latin typeface="Arial"/>
                <a:cs typeface="Arial"/>
              </a:rPr>
              <a:t>manière </a:t>
            </a:r>
            <a:r>
              <a:rPr sz="2150" spc="-100" dirty="0">
                <a:latin typeface="Arial"/>
                <a:cs typeface="Arial"/>
              </a:rPr>
              <a:t>non</a:t>
            </a:r>
            <a:r>
              <a:rPr sz="2150" spc="-50" dirty="0">
                <a:latin typeface="Arial"/>
                <a:cs typeface="Arial"/>
              </a:rPr>
              <a:t> </a:t>
            </a:r>
            <a:r>
              <a:rPr sz="2150" spc="-95" dirty="0">
                <a:latin typeface="Arial"/>
                <a:cs typeface="Arial"/>
              </a:rPr>
              <a:t>physique</a:t>
            </a:r>
            <a:r>
              <a:rPr sz="2150" spc="-25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et</a:t>
            </a:r>
            <a:r>
              <a:rPr sz="2150" spc="-65" dirty="0">
                <a:latin typeface="Arial"/>
                <a:cs typeface="Arial"/>
              </a:rPr>
              <a:t> </a:t>
            </a:r>
            <a:r>
              <a:rPr sz="2150" spc="-110" dirty="0">
                <a:latin typeface="Arial"/>
                <a:cs typeface="Arial"/>
              </a:rPr>
              <a:t>possède</a:t>
            </a:r>
            <a:r>
              <a:rPr sz="2150" spc="-35" dirty="0">
                <a:latin typeface="Arial"/>
                <a:cs typeface="Arial"/>
              </a:rPr>
              <a:t> </a:t>
            </a:r>
            <a:r>
              <a:rPr sz="2150" spc="-90" dirty="0">
                <a:latin typeface="Arial"/>
                <a:cs typeface="Arial"/>
              </a:rPr>
              <a:t>des</a:t>
            </a:r>
            <a:r>
              <a:rPr sz="2150" spc="-15" dirty="0">
                <a:latin typeface="Arial"/>
                <a:cs typeface="Arial"/>
              </a:rPr>
              <a:t> </a:t>
            </a:r>
            <a:r>
              <a:rPr sz="2150" spc="-10" dirty="0">
                <a:latin typeface="Arial"/>
                <a:cs typeface="Arial"/>
              </a:rPr>
              <a:t>états </a:t>
            </a:r>
            <a:r>
              <a:rPr sz="2150" spc="-70" dirty="0">
                <a:latin typeface="Arial"/>
                <a:cs typeface="Arial"/>
              </a:rPr>
              <a:t>d'équilibre</a:t>
            </a:r>
            <a:r>
              <a:rPr sz="2150" spc="-20" dirty="0">
                <a:latin typeface="Arial"/>
                <a:cs typeface="Arial"/>
              </a:rPr>
              <a:t> </a:t>
            </a:r>
            <a:r>
              <a:rPr sz="2150" spc="-10" dirty="0">
                <a:latin typeface="Arial"/>
                <a:cs typeface="Arial"/>
              </a:rPr>
              <a:t>stables.</a:t>
            </a:r>
            <a:endParaRPr sz="21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679344" y="3615972"/>
            <a:ext cx="4015104" cy="1372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604">
              <a:lnSpc>
                <a:spcPts val="2950"/>
              </a:lnSpc>
              <a:spcBef>
                <a:spcPts val="125"/>
              </a:spcBef>
            </a:pPr>
            <a:r>
              <a:rPr sz="2750" spc="120" dirty="0">
                <a:latin typeface="Arial"/>
                <a:cs typeface="Arial"/>
              </a:rPr>
              <a:t>3.</a:t>
            </a:r>
            <a:r>
              <a:rPr sz="2750" spc="-31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Théorème</a:t>
            </a:r>
            <a:r>
              <a:rPr sz="2750" spc="235" dirty="0">
                <a:latin typeface="Arial"/>
                <a:cs typeface="Arial"/>
              </a:rPr>
              <a:t> </a:t>
            </a:r>
            <a:r>
              <a:rPr sz="2750" spc="100" dirty="0">
                <a:latin typeface="Arial"/>
                <a:cs typeface="Arial"/>
              </a:rPr>
              <a:t>de</a:t>
            </a:r>
            <a:r>
              <a:rPr sz="2750" spc="-120" dirty="0">
                <a:latin typeface="Arial"/>
                <a:cs typeface="Arial"/>
              </a:rPr>
              <a:t> </a:t>
            </a:r>
            <a:r>
              <a:rPr sz="2750" spc="45" dirty="0">
                <a:latin typeface="Arial"/>
                <a:cs typeface="Arial"/>
              </a:rPr>
              <a:t>Contróle</a:t>
            </a:r>
            <a:endParaRPr sz="2750">
              <a:latin typeface="Arial"/>
              <a:cs typeface="Arial"/>
            </a:endParaRPr>
          </a:p>
          <a:p>
            <a:pPr marL="12700">
              <a:lnSpc>
                <a:spcPts val="3070"/>
              </a:lnSpc>
            </a:pPr>
            <a:r>
              <a:rPr sz="2850" spc="-10" dirty="0">
                <a:latin typeface="Arial"/>
                <a:cs typeface="Arial"/>
              </a:rPr>
              <a:t>Optimal</a:t>
            </a:r>
            <a:endParaRPr sz="285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1980"/>
              </a:spcBef>
            </a:pPr>
            <a:r>
              <a:rPr sz="2150" spc="-10" dirty="0">
                <a:latin typeface="Arial"/>
                <a:cs typeface="Arial"/>
              </a:rPr>
              <a:t>Affirmation</a:t>
            </a:r>
            <a:r>
              <a:rPr sz="2150" spc="-125" dirty="0">
                <a:latin typeface="Arial"/>
                <a:cs typeface="Arial"/>
              </a:rPr>
              <a:t> </a:t>
            </a:r>
            <a:r>
              <a:rPr sz="2150" spc="-50" dirty="0">
                <a:latin typeface="Arial"/>
                <a:cs typeface="Arial"/>
              </a:rPr>
              <a:t>:</a:t>
            </a:r>
            <a:endParaRPr sz="21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685410" y="5214408"/>
            <a:ext cx="5029835" cy="158305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22605" indent="635">
              <a:lnSpc>
                <a:spcPct val="87600"/>
              </a:lnSpc>
              <a:spcBef>
                <a:spcPts val="430"/>
              </a:spcBef>
            </a:pPr>
            <a:r>
              <a:rPr sz="2300" spc="-270" dirty="0">
                <a:latin typeface="Arial"/>
                <a:cs typeface="Arial"/>
              </a:rPr>
              <a:t>Un</a:t>
            </a:r>
            <a:r>
              <a:rPr sz="2300" spc="-45" dirty="0">
                <a:latin typeface="Arial"/>
                <a:cs typeface="Arial"/>
              </a:rPr>
              <a:t> </a:t>
            </a:r>
            <a:r>
              <a:rPr sz="2300" spc="-140" dirty="0">
                <a:solidFill>
                  <a:srgbClr val="232323"/>
                </a:solidFill>
                <a:latin typeface="Arial"/>
                <a:cs typeface="Arial"/>
              </a:rPr>
              <a:t>principe</a:t>
            </a:r>
            <a:r>
              <a:rPr sz="2300" spc="4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300" spc="-200" dirty="0">
                <a:solidFill>
                  <a:srgbClr val="282828"/>
                </a:solidFill>
                <a:latin typeface="Arial"/>
                <a:cs typeface="Arial"/>
              </a:rPr>
              <a:t>de</a:t>
            </a:r>
            <a:r>
              <a:rPr sz="2300" spc="-3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300" spc="-175" dirty="0">
                <a:solidFill>
                  <a:srgbClr val="131313"/>
                </a:solidFill>
                <a:latin typeface="Arial"/>
                <a:cs typeface="Arial"/>
              </a:rPr>
              <a:t>Pontryagin</a:t>
            </a:r>
            <a:r>
              <a:rPr sz="2300" spc="25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300" spc="-195" dirty="0">
                <a:solidFill>
                  <a:srgbClr val="232323"/>
                </a:solidFill>
                <a:latin typeface="Arial"/>
                <a:cs typeface="Arial"/>
              </a:rPr>
              <a:t>cosmique</a:t>
            </a:r>
            <a:r>
              <a:rPr sz="2300" spc="13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300" spc="-25" dirty="0">
                <a:latin typeface="Arial"/>
                <a:cs typeface="Arial"/>
              </a:rPr>
              <a:t>est </a:t>
            </a:r>
            <a:r>
              <a:rPr sz="2300" spc="-114" dirty="0">
                <a:latin typeface="Arial"/>
                <a:cs typeface="Arial"/>
              </a:rPr>
              <a:t>établi,</a:t>
            </a:r>
            <a:r>
              <a:rPr sz="2300" spc="-60" dirty="0">
                <a:latin typeface="Arial"/>
                <a:cs typeface="Arial"/>
              </a:rPr>
              <a:t> </a:t>
            </a:r>
            <a:r>
              <a:rPr sz="2300" spc="-155" dirty="0">
                <a:latin typeface="Arial"/>
                <a:cs typeface="Arial"/>
              </a:rPr>
              <a:t>garantissant</a:t>
            </a:r>
            <a:r>
              <a:rPr sz="2300" spc="105" dirty="0">
                <a:latin typeface="Arial"/>
                <a:cs typeface="Arial"/>
              </a:rPr>
              <a:t> </a:t>
            </a:r>
            <a:r>
              <a:rPr sz="2300" spc="-135" dirty="0">
                <a:latin typeface="Arial"/>
                <a:cs typeface="Arial"/>
              </a:rPr>
              <a:t>l'existence</a:t>
            </a:r>
            <a:r>
              <a:rPr sz="2300" spc="55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d'un </a:t>
            </a:r>
            <a:r>
              <a:rPr sz="2200" spc="-85" dirty="0">
                <a:latin typeface="Arial"/>
                <a:cs typeface="Arial"/>
              </a:rPr>
              <a:t>contrôle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spc="-95" dirty="0">
                <a:latin typeface="Arial"/>
                <a:cs typeface="Arial"/>
              </a:rPr>
              <a:t>thérapeutique</a:t>
            </a:r>
            <a:r>
              <a:rPr sz="2200" spc="130" dirty="0">
                <a:latin typeface="Arial"/>
                <a:cs typeface="Arial"/>
              </a:rPr>
              <a:t> </a:t>
            </a:r>
            <a:r>
              <a:rPr sz="2200" spc="-105" dirty="0">
                <a:latin typeface="Arial"/>
                <a:cs typeface="Arial"/>
              </a:rPr>
              <a:t>optimal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t‹”</a:t>
            </a:r>
            <a:r>
              <a:rPr sz="2200" spc="-25" dirty="0">
                <a:latin typeface="Arial"/>
                <a:cs typeface="Arial"/>
              </a:rPr>
              <a:t> qui</a:t>
            </a:r>
            <a:endParaRPr sz="2200">
              <a:latin typeface="Arial"/>
              <a:cs typeface="Arial"/>
            </a:endParaRPr>
          </a:p>
          <a:p>
            <a:pPr marL="17145">
              <a:lnSpc>
                <a:spcPts val="2165"/>
              </a:lnSpc>
            </a:pPr>
            <a:r>
              <a:rPr sz="2300" spc="-180" dirty="0">
                <a:latin typeface="Arial"/>
                <a:cs typeface="Arial"/>
              </a:rPr>
              <a:t>minimise</a:t>
            </a:r>
            <a:r>
              <a:rPr sz="2300" spc="-10" dirty="0">
                <a:latin typeface="Arial"/>
                <a:cs typeface="Arial"/>
              </a:rPr>
              <a:t> </a:t>
            </a:r>
            <a:r>
              <a:rPr sz="2300" spc="-215" dirty="0">
                <a:latin typeface="Arial"/>
                <a:cs typeface="Arial"/>
              </a:rPr>
              <a:t>une</a:t>
            </a:r>
            <a:r>
              <a:rPr sz="2300" spc="-65" dirty="0">
                <a:latin typeface="Arial"/>
                <a:cs typeface="Arial"/>
              </a:rPr>
              <a:t> </a:t>
            </a:r>
            <a:r>
              <a:rPr sz="2300" spc="-114" dirty="0">
                <a:latin typeface="Arial"/>
                <a:cs typeface="Arial"/>
              </a:rPr>
              <a:t>fonction</a:t>
            </a:r>
            <a:r>
              <a:rPr sz="2300" spc="-45" dirty="0">
                <a:latin typeface="Arial"/>
                <a:cs typeface="Arial"/>
              </a:rPr>
              <a:t> </a:t>
            </a:r>
            <a:r>
              <a:rPr sz="2300" spc="-195" dirty="0">
                <a:latin typeface="Arial"/>
                <a:cs typeface="Arial"/>
              </a:rPr>
              <a:t>de</a:t>
            </a:r>
            <a:r>
              <a:rPr sz="2300" spc="-150" dirty="0">
                <a:latin typeface="Arial"/>
                <a:cs typeface="Arial"/>
              </a:rPr>
              <a:t> </a:t>
            </a:r>
            <a:r>
              <a:rPr sz="2300" spc="-114" dirty="0">
                <a:latin typeface="Arial"/>
                <a:cs typeface="Arial"/>
              </a:rPr>
              <a:t>coût</a:t>
            </a:r>
            <a:r>
              <a:rPr sz="2300" spc="-45" dirty="0">
                <a:latin typeface="Arial"/>
                <a:cs typeface="Arial"/>
              </a:rPr>
              <a:t> </a:t>
            </a:r>
            <a:r>
              <a:rPr sz="2300" spc="-95" dirty="0">
                <a:latin typeface="Arial"/>
                <a:cs typeface="Arial"/>
              </a:rPr>
              <a:t>(efficacité</a:t>
            </a:r>
            <a:r>
              <a:rPr sz="2300" spc="95" dirty="0">
                <a:latin typeface="Arial"/>
                <a:cs typeface="Arial"/>
              </a:rPr>
              <a:t> </a:t>
            </a:r>
            <a:r>
              <a:rPr sz="2300" spc="-25" dirty="0">
                <a:latin typeface="Arial"/>
                <a:cs typeface="Arial"/>
              </a:rPr>
              <a:t>vs.</a:t>
            </a:r>
            <a:endParaRPr sz="2300">
              <a:latin typeface="Arial"/>
              <a:cs typeface="Arial"/>
            </a:endParaRPr>
          </a:p>
          <a:p>
            <a:pPr marL="19050">
              <a:lnSpc>
                <a:spcPts val="2615"/>
              </a:lnSpc>
            </a:pPr>
            <a:r>
              <a:rPr sz="2350" spc="-30" dirty="0">
                <a:latin typeface="Arial"/>
                <a:cs typeface="Arial"/>
              </a:rPr>
              <a:t>toxicité).</a:t>
            </a:r>
            <a:endParaRPr sz="23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683973" y="7207816"/>
            <a:ext cx="4805045" cy="145034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150" spc="-20" dirty="0">
                <a:latin typeface="Arial"/>
                <a:cs typeface="Arial"/>
              </a:rPr>
              <a:t>Implication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-50" dirty="0">
                <a:latin typeface="Arial"/>
                <a:cs typeface="Arial"/>
              </a:rPr>
              <a:t>:</a:t>
            </a:r>
            <a:endParaRPr sz="2150">
              <a:latin typeface="Arial"/>
              <a:cs typeface="Arial"/>
            </a:endParaRPr>
          </a:p>
          <a:p>
            <a:pPr marL="17780" marR="5080" indent="-3175">
              <a:lnSpc>
                <a:spcPct val="85300"/>
              </a:lnSpc>
              <a:spcBef>
                <a:spcPts val="975"/>
              </a:spcBef>
            </a:pPr>
            <a:r>
              <a:rPr sz="2300" dirty="0">
                <a:latin typeface="Arial Narrow"/>
                <a:cs typeface="Arial Narrow"/>
              </a:rPr>
              <a:t>Il</a:t>
            </a:r>
            <a:r>
              <a:rPr sz="2300" spc="30" dirty="0">
                <a:latin typeface="Arial Narrow"/>
                <a:cs typeface="Arial Narrow"/>
              </a:rPr>
              <a:t> </a:t>
            </a:r>
            <a:r>
              <a:rPr sz="2300" dirty="0">
                <a:latin typeface="Arial Narrow"/>
                <a:cs typeface="Arial Narrow"/>
              </a:rPr>
              <a:t>est</a:t>
            </a:r>
            <a:r>
              <a:rPr sz="2300" spc="280" dirty="0">
                <a:latin typeface="Arial Narrow"/>
                <a:cs typeface="Arial Narrow"/>
              </a:rPr>
              <a:t> </a:t>
            </a:r>
            <a:r>
              <a:rPr sz="2300" spc="50" dirty="0">
                <a:latin typeface="Arial Narrow"/>
                <a:cs typeface="Arial Narrow"/>
              </a:rPr>
              <a:t>théoriquement</a:t>
            </a:r>
            <a:r>
              <a:rPr sz="2300" spc="355" dirty="0">
                <a:latin typeface="Arial Narrow"/>
                <a:cs typeface="Arial Narrow"/>
              </a:rPr>
              <a:t> </a:t>
            </a:r>
            <a:r>
              <a:rPr sz="2300" dirty="0">
                <a:latin typeface="Arial Narrow"/>
                <a:cs typeface="Arial Narrow"/>
              </a:rPr>
              <a:t>possible</a:t>
            </a:r>
            <a:r>
              <a:rPr sz="2300" spc="114" dirty="0">
                <a:latin typeface="Arial Narrow"/>
                <a:cs typeface="Arial Narrow"/>
              </a:rPr>
              <a:t> </a:t>
            </a:r>
            <a:r>
              <a:rPr sz="2300" spc="50" dirty="0">
                <a:latin typeface="Arial Narrow"/>
                <a:cs typeface="Arial Narrow"/>
              </a:rPr>
              <a:t>de</a:t>
            </a:r>
            <a:r>
              <a:rPr sz="2300" spc="135" dirty="0">
                <a:latin typeface="Arial Narrow"/>
                <a:cs typeface="Arial Narrow"/>
              </a:rPr>
              <a:t> </a:t>
            </a:r>
            <a:r>
              <a:rPr sz="2300" spc="-10" dirty="0">
                <a:latin typeface="Arial Narrow"/>
                <a:cs typeface="Arial Narrow"/>
              </a:rPr>
              <a:t>concevoir </a:t>
            </a:r>
            <a:r>
              <a:rPr sz="2300" spc="-180" dirty="0">
                <a:latin typeface="Arial"/>
                <a:cs typeface="Arial"/>
              </a:rPr>
              <a:t>la</a:t>
            </a:r>
            <a:r>
              <a:rPr sz="2300" spc="-10" dirty="0">
                <a:latin typeface="Arial"/>
                <a:cs typeface="Arial"/>
              </a:rPr>
              <a:t> </a:t>
            </a:r>
            <a:r>
              <a:rPr sz="2300" spc="-170" dirty="0">
                <a:latin typeface="Arial"/>
                <a:cs typeface="Arial"/>
              </a:rPr>
              <a:t>meilleure</a:t>
            </a:r>
            <a:r>
              <a:rPr sz="2300" spc="90" dirty="0">
                <a:latin typeface="Arial"/>
                <a:cs typeface="Arial"/>
              </a:rPr>
              <a:t> </a:t>
            </a:r>
            <a:r>
              <a:rPr sz="2300" spc="-125" dirty="0">
                <a:latin typeface="Arial"/>
                <a:cs typeface="Arial"/>
              </a:rPr>
              <a:t>stratégie</a:t>
            </a:r>
            <a:r>
              <a:rPr sz="2300" spc="-35" dirty="0">
                <a:latin typeface="Arial"/>
                <a:cs typeface="Arial"/>
              </a:rPr>
              <a:t> </a:t>
            </a:r>
            <a:r>
              <a:rPr sz="2300" spc="-65" dirty="0">
                <a:latin typeface="Arial"/>
                <a:cs typeface="Arial"/>
              </a:rPr>
              <a:t>thérapeutique </a:t>
            </a:r>
            <a:r>
              <a:rPr sz="2350" spc="-110" dirty="0">
                <a:latin typeface="Arial"/>
                <a:cs typeface="Arial"/>
              </a:rPr>
              <a:t>personnalisée.</a:t>
            </a:r>
            <a:endParaRPr sz="23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663950" y="9422341"/>
            <a:ext cx="12192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85" dirty="0">
                <a:latin typeface="Cambria"/>
                <a:cs typeface="Cambria"/>
              </a:rPr>
              <a:t>G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347020" y="9422341"/>
            <a:ext cx="979169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95" dirty="0">
                <a:latin typeface="Cambria"/>
                <a:cs typeface="Cambria"/>
              </a:rPr>
              <a:t>NotebookLtVi</a:t>
            </a:r>
            <a:endParaRPr sz="14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" y="6527800"/>
            <a:ext cx="16052800" cy="254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900" y="5295900"/>
            <a:ext cx="16052800" cy="12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3900" y="4889500"/>
            <a:ext cx="16052800" cy="12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900" y="4470400"/>
            <a:ext cx="16052800" cy="254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3900" y="4064000"/>
            <a:ext cx="16052800" cy="1270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719666" y="6127750"/>
            <a:ext cx="16052800" cy="0"/>
          </a:xfrm>
          <a:custGeom>
            <a:avLst/>
            <a:gdLst/>
            <a:ahLst/>
            <a:cxnLst/>
            <a:rect l="l" t="t" r="r" b="b"/>
            <a:pathLst>
              <a:path w="16052800">
                <a:moveTo>
                  <a:pt x="0" y="0"/>
                </a:moveTo>
                <a:lnTo>
                  <a:pt x="16052800" y="0"/>
                </a:lnTo>
              </a:path>
            </a:pathLst>
          </a:custGeom>
          <a:ln w="12700">
            <a:solidFill>
              <a:srgbClr val="46566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19666" y="5721350"/>
            <a:ext cx="16052800" cy="0"/>
          </a:xfrm>
          <a:custGeom>
            <a:avLst/>
            <a:gdLst/>
            <a:ahLst/>
            <a:cxnLst/>
            <a:rect l="l" t="t" r="r" b="b"/>
            <a:pathLst>
              <a:path w="16052800">
                <a:moveTo>
                  <a:pt x="0" y="0"/>
                </a:moveTo>
                <a:lnTo>
                  <a:pt x="16052800" y="0"/>
                </a:lnTo>
              </a:path>
            </a:pathLst>
          </a:custGeom>
          <a:ln w="12700">
            <a:solidFill>
              <a:srgbClr val="606E6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11200" y="3187700"/>
            <a:ext cx="16103600" cy="482600"/>
          </a:xfrm>
          <a:custGeom>
            <a:avLst/>
            <a:gdLst/>
            <a:ahLst/>
            <a:cxnLst/>
            <a:rect l="l" t="t" r="r" b="b"/>
            <a:pathLst>
              <a:path w="16103600" h="482600">
                <a:moveTo>
                  <a:pt x="16103600" y="482600"/>
                </a:moveTo>
                <a:lnTo>
                  <a:pt x="0" y="482600"/>
                </a:lnTo>
                <a:lnTo>
                  <a:pt x="0" y="0"/>
                </a:lnTo>
                <a:lnTo>
                  <a:pt x="16103600" y="0"/>
                </a:lnTo>
                <a:lnTo>
                  <a:pt x="16103600" y="482600"/>
                </a:lnTo>
                <a:close/>
              </a:path>
            </a:pathLst>
          </a:custGeom>
          <a:solidFill>
            <a:srgbClr val="6672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97842" y="379941"/>
            <a:ext cx="14337030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200" dirty="0">
                <a:latin typeface="Cambria"/>
                <a:cs typeface="Cambria"/>
              </a:rPr>
              <a:t>De</a:t>
            </a:r>
            <a:r>
              <a:rPr sz="5200" spc="-280" dirty="0">
                <a:latin typeface="Cambria"/>
                <a:cs typeface="Cambria"/>
              </a:rPr>
              <a:t> </a:t>
            </a:r>
            <a:r>
              <a:rPr sz="5200" spc="-30" dirty="0">
                <a:latin typeface="Cambria"/>
                <a:cs typeface="Cambria"/>
              </a:rPr>
              <a:t>la</a:t>
            </a:r>
            <a:r>
              <a:rPr sz="5200" spc="-145" dirty="0">
                <a:latin typeface="Cambria"/>
                <a:cs typeface="Cambria"/>
              </a:rPr>
              <a:t> </a:t>
            </a:r>
            <a:r>
              <a:rPr sz="5200" spc="-125" dirty="0">
                <a:latin typeface="Cambria"/>
                <a:cs typeface="Cambria"/>
              </a:rPr>
              <a:t>Théorie</a:t>
            </a:r>
            <a:r>
              <a:rPr sz="5200" spc="25" dirty="0">
                <a:latin typeface="Cambria"/>
                <a:cs typeface="Cambria"/>
              </a:rPr>
              <a:t> </a:t>
            </a:r>
            <a:r>
              <a:rPr sz="5200" dirty="0">
                <a:latin typeface="Cambria"/>
                <a:cs typeface="Cambria"/>
              </a:rPr>
              <a:t>à</a:t>
            </a:r>
            <a:r>
              <a:rPr sz="5200" spc="-260" dirty="0">
                <a:latin typeface="Cambria"/>
                <a:cs typeface="Cambria"/>
              </a:rPr>
              <a:t> </a:t>
            </a:r>
            <a:r>
              <a:rPr sz="5200" dirty="0">
                <a:latin typeface="Cambria"/>
                <a:cs typeface="Cambria"/>
              </a:rPr>
              <a:t>la</a:t>
            </a:r>
            <a:r>
              <a:rPr sz="5200" spc="-195" dirty="0">
                <a:latin typeface="Cambria"/>
                <a:cs typeface="Cambria"/>
              </a:rPr>
              <a:t> </a:t>
            </a:r>
            <a:r>
              <a:rPr sz="5200" spc="-150" dirty="0">
                <a:latin typeface="Cambria"/>
                <a:cs typeface="Cambria"/>
              </a:rPr>
              <a:t>Pratique</a:t>
            </a:r>
            <a:r>
              <a:rPr sz="5200" spc="30" dirty="0">
                <a:latin typeface="Cambria"/>
                <a:cs typeface="Cambria"/>
              </a:rPr>
              <a:t> </a:t>
            </a:r>
            <a:r>
              <a:rPr sz="5200" dirty="0">
                <a:latin typeface="Cambria"/>
                <a:cs typeface="Cambria"/>
              </a:rPr>
              <a:t>:</a:t>
            </a:r>
            <a:r>
              <a:rPr sz="5200" spc="-250" dirty="0">
                <a:latin typeface="Cambria"/>
                <a:cs typeface="Cambria"/>
              </a:rPr>
              <a:t> </a:t>
            </a:r>
            <a:r>
              <a:rPr sz="5200" spc="-155" dirty="0">
                <a:latin typeface="Cambria"/>
                <a:cs typeface="Cambria"/>
              </a:rPr>
              <a:t>Paramétrisation</a:t>
            </a:r>
            <a:r>
              <a:rPr sz="5200" spc="-150" dirty="0">
                <a:latin typeface="Cambria"/>
                <a:cs typeface="Cambria"/>
              </a:rPr>
              <a:t> </a:t>
            </a:r>
            <a:r>
              <a:rPr sz="5200" spc="-120" dirty="0">
                <a:latin typeface="Cambria"/>
                <a:cs typeface="Cambria"/>
              </a:rPr>
              <a:t>pour</a:t>
            </a:r>
            <a:r>
              <a:rPr sz="5200" spc="-70" dirty="0">
                <a:latin typeface="Cambria"/>
                <a:cs typeface="Cambria"/>
              </a:rPr>
              <a:t> </a:t>
            </a:r>
            <a:r>
              <a:rPr sz="5200" spc="-30" dirty="0">
                <a:latin typeface="Cambria"/>
                <a:cs typeface="Cambria"/>
              </a:rPr>
              <a:t>des</a:t>
            </a:r>
            <a:endParaRPr sz="52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9188" y="1089730"/>
            <a:ext cx="15951200" cy="25044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50" dirty="0">
                <a:latin typeface="Cambria"/>
                <a:cs typeface="Cambria"/>
              </a:rPr>
              <a:t>Cancers</a:t>
            </a:r>
            <a:r>
              <a:rPr sz="5050" spc="145" dirty="0">
                <a:latin typeface="Cambria"/>
                <a:cs typeface="Cambria"/>
              </a:rPr>
              <a:t> </a:t>
            </a:r>
            <a:r>
              <a:rPr sz="5050" spc="-10" dirty="0">
                <a:latin typeface="Cambria"/>
                <a:cs typeface="Cambria"/>
              </a:rPr>
              <a:t>Spécifiques</a:t>
            </a:r>
            <a:endParaRPr sz="5050">
              <a:latin typeface="Cambria"/>
              <a:cs typeface="Cambria"/>
            </a:endParaRPr>
          </a:p>
          <a:p>
            <a:pPr marL="26670" marR="5080">
              <a:lnSpc>
                <a:spcPct val="78100"/>
              </a:lnSpc>
              <a:spcBef>
                <a:spcPts val="2920"/>
              </a:spcBef>
            </a:pPr>
            <a:r>
              <a:rPr sz="2400" spc="-325" dirty="0">
                <a:latin typeface="Arial"/>
                <a:cs typeface="Arial"/>
              </a:rPr>
              <a:t>Le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245" dirty="0">
                <a:latin typeface="Arial"/>
                <a:cs typeface="Arial"/>
              </a:rPr>
              <a:t>cadre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360" dirty="0">
                <a:latin typeface="Arial"/>
                <a:cs typeface="Arial"/>
              </a:rPr>
              <a:t>UHCF-</a:t>
            </a:r>
            <a:r>
              <a:rPr sz="2400" spc="-465" dirty="0">
                <a:latin typeface="Arial"/>
                <a:cs typeface="Arial"/>
              </a:rPr>
              <a:t>OM</a:t>
            </a:r>
            <a:r>
              <a:rPr sz="2400" spc="150" dirty="0">
                <a:latin typeface="Arial"/>
                <a:cs typeface="Arial"/>
              </a:rPr>
              <a:t> </a:t>
            </a:r>
            <a:r>
              <a:rPr sz="2400" spc="-210" dirty="0">
                <a:latin typeface="Arial"/>
                <a:cs typeface="Arial"/>
              </a:rPr>
              <a:t>n'est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260" dirty="0">
                <a:latin typeface="Arial"/>
                <a:cs typeface="Arial"/>
              </a:rPr>
              <a:t>pas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300" dirty="0">
                <a:latin typeface="Arial"/>
                <a:cs typeface="Arial"/>
              </a:rPr>
              <a:t>un</a:t>
            </a:r>
            <a:r>
              <a:rPr sz="2400" spc="-170" dirty="0">
                <a:latin typeface="Arial"/>
                <a:cs typeface="Arial"/>
              </a:rPr>
              <a:t> </a:t>
            </a:r>
            <a:r>
              <a:rPr sz="2400" spc="-225" dirty="0">
                <a:latin typeface="Arial"/>
                <a:cs typeface="Arial"/>
              </a:rPr>
              <a:t>monolithe.</a:t>
            </a:r>
            <a:r>
              <a:rPr sz="2400" spc="135" dirty="0">
                <a:latin typeface="Arial"/>
                <a:cs typeface="Arial"/>
              </a:rPr>
              <a:t> </a:t>
            </a:r>
            <a:r>
              <a:rPr sz="2400" spc="-375" dirty="0">
                <a:latin typeface="Arial"/>
                <a:cs typeface="Arial"/>
              </a:rPr>
              <a:t>Ses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60" dirty="0">
                <a:latin typeface="Arial"/>
                <a:cs typeface="Arial"/>
              </a:rPr>
              <a:t>paramètres</a:t>
            </a:r>
            <a:r>
              <a:rPr sz="2400" spc="130" dirty="0">
                <a:latin typeface="Arial"/>
                <a:cs typeface="Arial"/>
              </a:rPr>
              <a:t> </a:t>
            </a:r>
            <a:r>
              <a:rPr sz="2400" spc="-250" dirty="0">
                <a:latin typeface="Arial"/>
                <a:cs typeface="Arial"/>
              </a:rPr>
              <a:t>peuvent</a:t>
            </a:r>
            <a:r>
              <a:rPr sz="2400" spc="100" dirty="0">
                <a:latin typeface="Arial"/>
                <a:cs typeface="Arial"/>
              </a:rPr>
              <a:t> </a:t>
            </a:r>
            <a:r>
              <a:rPr sz="2400" spc="-204" dirty="0">
                <a:latin typeface="Arial"/>
                <a:cs typeface="Arial"/>
              </a:rPr>
              <a:t>être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225" dirty="0">
                <a:latin typeface="Arial"/>
                <a:cs typeface="Arial"/>
              </a:rPr>
              <a:t>ajustés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265" dirty="0">
                <a:latin typeface="Arial"/>
                <a:cs typeface="Arial"/>
              </a:rPr>
              <a:t>pour</a:t>
            </a:r>
            <a:r>
              <a:rPr sz="2400" spc="50" dirty="0">
                <a:latin typeface="Arial"/>
                <a:cs typeface="Arial"/>
              </a:rPr>
              <a:t> </a:t>
            </a:r>
            <a:r>
              <a:rPr sz="2400" spc="-225" dirty="0">
                <a:latin typeface="Arial"/>
                <a:cs typeface="Arial"/>
              </a:rPr>
              <a:t>représenter</a:t>
            </a:r>
            <a:r>
              <a:rPr sz="2400" spc="245" dirty="0">
                <a:latin typeface="Arial"/>
                <a:cs typeface="Arial"/>
              </a:rPr>
              <a:t> </a:t>
            </a:r>
            <a:r>
              <a:rPr sz="2400" spc="-300" dirty="0">
                <a:latin typeface="Arial"/>
                <a:cs typeface="Arial"/>
              </a:rPr>
              <a:t>tes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85" dirty="0">
                <a:latin typeface="Arial"/>
                <a:cs typeface="Arial"/>
              </a:rPr>
              <a:t>caractéristiques</a:t>
            </a:r>
            <a:r>
              <a:rPr sz="2400" spc="-250" dirty="0">
                <a:latin typeface="Arial"/>
                <a:cs typeface="Arial"/>
              </a:rPr>
              <a:t> </a:t>
            </a:r>
            <a:r>
              <a:rPr sz="2400" spc="-225" dirty="0">
                <a:latin typeface="Arial"/>
                <a:cs typeface="Arial"/>
              </a:rPr>
              <a:t>biologiques</a:t>
            </a:r>
            <a:r>
              <a:rPr sz="2400" spc="80" dirty="0">
                <a:latin typeface="Arial"/>
                <a:cs typeface="Arial"/>
              </a:rPr>
              <a:t> </a:t>
            </a:r>
            <a:r>
              <a:rPr sz="2400" spc="-175" dirty="0">
                <a:latin typeface="Arial"/>
                <a:cs typeface="Arial"/>
              </a:rPr>
              <a:t>distinctes</a:t>
            </a:r>
            <a:r>
              <a:rPr sz="2400" spc="135" dirty="0">
                <a:latin typeface="Arial"/>
                <a:cs typeface="Arial"/>
              </a:rPr>
              <a:t> </a:t>
            </a:r>
            <a:r>
              <a:rPr sz="2400" spc="-340" dirty="0">
                <a:latin typeface="Arial"/>
                <a:cs typeface="Arial"/>
              </a:rPr>
              <a:t>de</a:t>
            </a:r>
            <a:r>
              <a:rPr sz="2400" spc="600" dirty="0">
                <a:latin typeface="Arial"/>
                <a:cs typeface="Arial"/>
              </a:rPr>
              <a:t> </a:t>
            </a:r>
            <a:r>
              <a:rPr sz="2400" spc="-175" dirty="0">
                <a:latin typeface="Arial"/>
                <a:cs typeface="Arial"/>
              </a:rPr>
              <a:t>différents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190" dirty="0">
                <a:latin typeface="Arial"/>
                <a:cs typeface="Arial"/>
              </a:rPr>
              <a:t>types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315" dirty="0">
                <a:latin typeface="Arial"/>
                <a:cs typeface="Arial"/>
              </a:rPr>
              <a:t>de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4" dirty="0">
                <a:latin typeface="Arial"/>
                <a:cs typeface="Arial"/>
              </a:rPr>
              <a:t>cancer,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15" dirty="0">
                <a:latin typeface="Arial"/>
                <a:cs typeface="Arial"/>
              </a:rPr>
              <a:t>le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229" dirty="0">
                <a:latin typeface="Arial"/>
                <a:cs typeface="Arial"/>
              </a:rPr>
              <a:t>rendant</a:t>
            </a:r>
            <a:r>
              <a:rPr sz="2400" spc="145" dirty="0">
                <a:latin typeface="Arial"/>
                <a:cs typeface="Arial"/>
              </a:rPr>
              <a:t> </a:t>
            </a:r>
            <a:r>
              <a:rPr sz="2400" spc="-229" dirty="0">
                <a:latin typeface="Arial"/>
                <a:cs typeface="Arial"/>
              </a:rPr>
              <a:t>ainsi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29" dirty="0">
                <a:latin typeface="Arial"/>
                <a:cs typeface="Arial"/>
              </a:rPr>
              <a:t>applicable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270" dirty="0">
                <a:latin typeface="Arial"/>
                <a:cs typeface="Arial"/>
              </a:rPr>
              <a:t>en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clinique.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2400">
              <a:latin typeface="Arial"/>
              <a:cs typeface="Arial"/>
            </a:endParaRPr>
          </a:p>
          <a:p>
            <a:pPr marL="144780" algn="ctr">
              <a:lnSpc>
                <a:spcPct val="100000"/>
              </a:lnSpc>
            </a:pPr>
            <a:r>
              <a:rPr sz="2500" spc="-165" dirty="0">
                <a:solidFill>
                  <a:srgbClr val="FFFFFF"/>
                </a:solidFill>
                <a:latin typeface="Arial"/>
                <a:cs typeface="Arial"/>
              </a:rPr>
              <a:t>Tableau</a:t>
            </a:r>
            <a:r>
              <a:rPr sz="25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spc="-19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5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spc="-160" dirty="0">
                <a:solidFill>
                  <a:srgbClr val="FFFFFF"/>
                </a:solidFill>
                <a:latin typeface="Arial"/>
                <a:cs typeface="Arial"/>
              </a:rPr>
              <a:t>Paramètres</a:t>
            </a:r>
            <a:r>
              <a:rPr sz="25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Arial"/>
                <a:cs typeface="Arial"/>
              </a:rPr>
              <a:t>Caraetéristiques</a:t>
            </a:r>
            <a:endParaRPr sz="2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5789" y="3652308"/>
            <a:ext cx="1193800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00" spc="-170" dirty="0">
                <a:latin typeface="Arial"/>
                <a:cs typeface="Arial"/>
              </a:rPr>
              <a:t>Paramètre</a:t>
            </a:r>
            <a:endParaRPr sz="23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9047" y="4017080"/>
            <a:ext cx="3021965" cy="1656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351790" indent="359410">
              <a:lnSpc>
                <a:spcPct val="124000"/>
              </a:lnSpc>
              <a:spcBef>
                <a:spcPts val="100"/>
              </a:spcBef>
              <a:buChar char="•"/>
              <a:tabLst>
                <a:tab pos="410209" algn="l"/>
              </a:tabLst>
            </a:pPr>
            <a:r>
              <a:rPr sz="2150" spc="-140" dirty="0">
                <a:latin typeface="Arial"/>
                <a:cs typeface="Arial"/>
              </a:rPr>
              <a:t>(Ordre</a:t>
            </a:r>
            <a:r>
              <a:rPr sz="2150" spc="15" dirty="0">
                <a:latin typeface="Arial"/>
                <a:cs typeface="Arial"/>
              </a:rPr>
              <a:t> </a:t>
            </a:r>
            <a:r>
              <a:rPr sz="2150" spc="-70" dirty="0">
                <a:latin typeface="Arial"/>
                <a:cs typeface="Arial"/>
              </a:rPr>
              <a:t>fractionnaire) </a:t>
            </a:r>
            <a:r>
              <a:rPr sz="3225" spc="-89" baseline="5167" dirty="0">
                <a:latin typeface="Arial"/>
                <a:cs typeface="Arial"/>
              </a:rPr>
              <a:t>D</a:t>
            </a:r>
            <a:r>
              <a:rPr sz="3225" spc="-89" baseline="-5167" dirty="0">
                <a:latin typeface="Arial"/>
                <a:cs typeface="Arial"/>
              </a:rPr>
              <a:t>e</a:t>
            </a:r>
            <a:r>
              <a:rPr sz="2150" spc="-60" dirty="0">
                <a:latin typeface="Arial"/>
                <a:cs typeface="Arial"/>
              </a:rPr>
              <a:t>(Diffusion)</a:t>
            </a:r>
            <a:r>
              <a:rPr sz="2150" spc="-25" dirty="0">
                <a:latin typeface="Arial"/>
                <a:cs typeface="Arial"/>
              </a:rPr>
              <a:t> </a:t>
            </a:r>
            <a:r>
              <a:rPr sz="2150" spc="-45" dirty="0">
                <a:latin typeface="Arial"/>
                <a:cs typeface="Arial"/>
              </a:rPr>
              <a:t>mm</a:t>
            </a:r>
            <a:r>
              <a:rPr sz="1875" spc="-67" baseline="33333" dirty="0">
                <a:latin typeface="Arial"/>
                <a:cs typeface="Arial"/>
              </a:rPr>
              <a:t>2</a:t>
            </a:r>
            <a:r>
              <a:rPr sz="2150" spc="-45" dirty="0">
                <a:latin typeface="Arial"/>
                <a:cs typeface="Arial"/>
              </a:rPr>
              <a:t>/jour</a:t>
            </a:r>
            <a:endParaRPr sz="2150">
              <a:latin typeface="Arial"/>
              <a:cs typeface="Arial"/>
            </a:endParaRPr>
          </a:p>
          <a:p>
            <a:pPr marL="394335">
              <a:lnSpc>
                <a:spcPct val="100000"/>
              </a:lnSpc>
              <a:spcBef>
                <a:spcPts val="720"/>
              </a:spcBef>
            </a:pPr>
            <a:r>
              <a:rPr sz="2000" spc="-65" dirty="0">
                <a:latin typeface="Arial"/>
                <a:cs typeface="Arial"/>
              </a:rPr>
              <a:t>{Croissance)</a:t>
            </a:r>
            <a:r>
              <a:rPr sz="2000" spc="14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jour-</a:t>
            </a:r>
            <a:r>
              <a:rPr sz="2000" spc="-50" dirty="0">
                <a:latin typeface="Arial"/>
                <a:cs typeface="Arial"/>
              </a:rPr>
              <a:t>*</a:t>
            </a:r>
            <a:endParaRPr sz="2000">
              <a:latin typeface="Arial"/>
              <a:cs typeface="Arial"/>
            </a:endParaRPr>
          </a:p>
          <a:p>
            <a:pPr marL="59690">
              <a:lnSpc>
                <a:spcPct val="100000"/>
              </a:lnSpc>
              <a:spcBef>
                <a:spcPts val="850"/>
              </a:spcBef>
              <a:tabLst>
                <a:tab pos="347345" algn="l"/>
              </a:tabLst>
            </a:pPr>
            <a:r>
              <a:rPr sz="2050" i="1" spc="-50" dirty="0">
                <a:latin typeface="Arial"/>
                <a:cs typeface="Arial"/>
              </a:rPr>
              <a:t>K</a:t>
            </a:r>
            <a:r>
              <a:rPr sz="2050" i="1" dirty="0">
                <a:latin typeface="Arial"/>
                <a:cs typeface="Arial"/>
              </a:rPr>
              <a:t>	</a:t>
            </a:r>
            <a:r>
              <a:rPr sz="2050" spc="-75" dirty="0">
                <a:latin typeface="Arial"/>
                <a:cs typeface="Arial"/>
              </a:rPr>
              <a:t>(Capacité)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spc="-10" dirty="0">
                <a:latin typeface="Arial"/>
                <a:cs typeface="Arial"/>
              </a:rPr>
              <a:t>cellules/mm</a:t>
            </a:r>
            <a:r>
              <a:rPr sz="2250" spc="-15" baseline="22222" dirty="0">
                <a:latin typeface="Arial"/>
                <a:cs typeface="Arial"/>
              </a:rPr>
              <a:t>3</a:t>
            </a:r>
            <a:endParaRPr sz="2250" baseline="22222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9124" y="5744986"/>
            <a:ext cx="1805305" cy="332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100" dirty="0">
                <a:latin typeface="Arial"/>
                <a:cs typeface="Arial"/>
              </a:rPr>
              <a:t>q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75" dirty="0">
                <a:latin typeface="Arial"/>
                <a:cs typeface="Arial"/>
              </a:rPr>
              <a:t>(Non—</a:t>
            </a:r>
            <a:r>
              <a:rPr sz="2000" spc="-90" dirty="0">
                <a:latin typeface="Arial"/>
                <a:cs typeface="Arial"/>
              </a:rPr>
              <a:t>îinéarité)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1206" y="6151386"/>
            <a:ext cx="2432050" cy="332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25" dirty="0">
                <a:latin typeface="Arial"/>
                <a:cs typeface="Arial"/>
              </a:rPr>
              <a:t>Poids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Systémiques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w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01611" y="3572694"/>
            <a:ext cx="2056130" cy="209550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15"/>
              </a:spcBef>
            </a:pPr>
            <a:r>
              <a:rPr sz="2300" spc="-200" dirty="0">
                <a:latin typeface="Arial"/>
                <a:cs typeface="Arial"/>
              </a:rPr>
              <a:t>Sein</a:t>
            </a:r>
            <a:r>
              <a:rPr sz="2300" spc="-35" dirty="0">
                <a:latin typeface="Arial"/>
                <a:cs typeface="Arial"/>
              </a:rPr>
              <a:t> </a:t>
            </a:r>
            <a:r>
              <a:rPr sz="2300" spc="-254" dirty="0">
                <a:latin typeface="Arial"/>
                <a:cs typeface="Arial"/>
              </a:rPr>
              <a:t>(HR+/HER2-</a:t>
            </a:r>
            <a:r>
              <a:rPr sz="2300" spc="-50" dirty="0">
                <a:latin typeface="Arial"/>
                <a:cs typeface="Arial"/>
              </a:rPr>
              <a:t>)</a:t>
            </a:r>
            <a:endParaRPr sz="2300">
              <a:latin typeface="Arial"/>
              <a:cs typeface="Arial"/>
            </a:endParaRPr>
          </a:p>
          <a:p>
            <a:pPr marL="420370">
              <a:lnSpc>
                <a:spcPct val="100000"/>
              </a:lnSpc>
              <a:spcBef>
                <a:spcPts val="590"/>
              </a:spcBef>
            </a:pPr>
            <a:r>
              <a:rPr sz="2150" spc="-125" dirty="0">
                <a:latin typeface="Arial"/>
                <a:cs typeface="Arial"/>
              </a:rPr>
              <a:t>0.85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-440" dirty="0">
                <a:latin typeface="Arial"/>
                <a:cs typeface="Arial"/>
              </a:rPr>
              <a:t>1-</a:t>
            </a:r>
            <a:r>
              <a:rPr sz="2150" spc="125" dirty="0">
                <a:latin typeface="Arial"/>
                <a:cs typeface="Arial"/>
              </a:rPr>
              <a:t> </a:t>
            </a:r>
            <a:r>
              <a:rPr sz="2150" spc="-20" dirty="0">
                <a:latin typeface="Arial"/>
                <a:cs typeface="Arial"/>
              </a:rPr>
              <a:t>0.05</a:t>
            </a:r>
            <a:endParaRPr sz="2150">
              <a:latin typeface="Arial"/>
              <a:cs typeface="Arial"/>
            </a:endParaRPr>
          </a:p>
          <a:p>
            <a:pPr marL="445134">
              <a:lnSpc>
                <a:spcPct val="100000"/>
              </a:lnSpc>
              <a:spcBef>
                <a:spcPts val="520"/>
              </a:spcBef>
            </a:pPr>
            <a:r>
              <a:rPr sz="2350" spc="-315" dirty="0">
                <a:latin typeface="Arial"/>
                <a:cs typeface="Arial"/>
              </a:rPr>
              <a:t>0.15</a:t>
            </a:r>
            <a:r>
              <a:rPr sz="2350" spc="30" dirty="0">
                <a:latin typeface="Arial"/>
                <a:cs typeface="Arial"/>
              </a:rPr>
              <a:t> </a:t>
            </a:r>
            <a:r>
              <a:rPr sz="2350" spc="-290" dirty="0">
                <a:latin typeface="Arial"/>
                <a:cs typeface="Arial"/>
              </a:rPr>
              <a:t>2</a:t>
            </a:r>
            <a:r>
              <a:rPr sz="2350" spc="-110" dirty="0">
                <a:latin typeface="Arial"/>
                <a:cs typeface="Arial"/>
              </a:rPr>
              <a:t> </a:t>
            </a:r>
            <a:r>
              <a:rPr sz="2350" spc="-20" dirty="0">
                <a:latin typeface="Arial"/>
                <a:cs typeface="Arial"/>
              </a:rPr>
              <a:t>0.03</a:t>
            </a:r>
            <a:endParaRPr sz="2350">
              <a:latin typeface="Arial"/>
              <a:cs typeface="Arial"/>
            </a:endParaRPr>
          </a:p>
          <a:p>
            <a:pPr marL="419734">
              <a:lnSpc>
                <a:spcPct val="100000"/>
              </a:lnSpc>
              <a:spcBef>
                <a:spcPts val="380"/>
              </a:spcBef>
            </a:pPr>
            <a:r>
              <a:rPr sz="2350" spc="-220" dirty="0">
                <a:latin typeface="Arial"/>
                <a:cs typeface="Arial"/>
              </a:rPr>
              <a:t>0.30</a:t>
            </a:r>
            <a:r>
              <a:rPr sz="2350" spc="55" dirty="0">
                <a:latin typeface="Arial"/>
                <a:cs typeface="Arial"/>
              </a:rPr>
              <a:t> </a:t>
            </a:r>
            <a:r>
              <a:rPr sz="2350" spc="-229" dirty="0">
                <a:latin typeface="Arial"/>
                <a:cs typeface="Arial"/>
              </a:rPr>
              <a:t>z</a:t>
            </a:r>
            <a:r>
              <a:rPr sz="2350" spc="-45" dirty="0">
                <a:latin typeface="Arial"/>
                <a:cs typeface="Arial"/>
              </a:rPr>
              <a:t> </a:t>
            </a:r>
            <a:r>
              <a:rPr sz="2350" spc="-20" dirty="0">
                <a:latin typeface="Arial"/>
                <a:cs typeface="Arial"/>
              </a:rPr>
              <a:t>0.06</a:t>
            </a:r>
            <a:endParaRPr sz="2350">
              <a:latin typeface="Arial"/>
              <a:cs typeface="Arial"/>
            </a:endParaRPr>
          </a:p>
          <a:p>
            <a:pPr marL="364490">
              <a:lnSpc>
                <a:spcPct val="100000"/>
              </a:lnSpc>
              <a:spcBef>
                <a:spcPts val="630"/>
              </a:spcBef>
            </a:pPr>
            <a:r>
              <a:rPr sz="2150" dirty="0">
                <a:latin typeface="Arial"/>
                <a:cs typeface="Arial"/>
              </a:rPr>
              <a:t>(8</a:t>
            </a:r>
            <a:r>
              <a:rPr sz="2150" spc="-150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z</a:t>
            </a:r>
            <a:r>
              <a:rPr sz="2150" spc="-95" dirty="0">
                <a:latin typeface="Arial"/>
                <a:cs typeface="Arial"/>
              </a:rPr>
              <a:t> </a:t>
            </a:r>
            <a:r>
              <a:rPr sz="2150" spc="-85" dirty="0">
                <a:latin typeface="Arial"/>
                <a:cs typeface="Arial"/>
              </a:rPr>
              <a:t>2)</a:t>
            </a:r>
            <a:r>
              <a:rPr sz="2150" spc="105" dirty="0">
                <a:latin typeface="Arial"/>
                <a:cs typeface="Arial"/>
              </a:rPr>
              <a:t> </a:t>
            </a:r>
            <a:r>
              <a:rPr sz="2150" spc="-270" dirty="0">
                <a:latin typeface="Arial"/>
                <a:cs typeface="Arial"/>
              </a:rPr>
              <a:t>x</a:t>
            </a:r>
            <a:r>
              <a:rPr sz="2150" spc="-25" dirty="0">
                <a:latin typeface="Arial"/>
                <a:cs typeface="Arial"/>
              </a:rPr>
              <a:t> 10</a:t>
            </a:r>
            <a:r>
              <a:rPr sz="2250" spc="-37" baseline="20370" dirty="0">
                <a:latin typeface="Arial"/>
                <a:cs typeface="Arial"/>
              </a:rPr>
              <a:t>6</a:t>
            </a:r>
            <a:endParaRPr sz="2250" baseline="2037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54115" y="5700888"/>
            <a:ext cx="962660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-300" dirty="0">
                <a:latin typeface="Arial"/>
                <a:cs typeface="Arial"/>
              </a:rPr>
              <a:t>1.5</a:t>
            </a:r>
            <a:r>
              <a:rPr sz="2350" spc="55" dirty="0">
                <a:latin typeface="Arial"/>
                <a:cs typeface="Arial"/>
              </a:rPr>
              <a:t> </a:t>
            </a:r>
            <a:r>
              <a:rPr sz="2350" spc="-229" dirty="0">
                <a:latin typeface="Arial"/>
                <a:cs typeface="Arial"/>
              </a:rPr>
              <a:t>z</a:t>
            </a:r>
            <a:r>
              <a:rPr sz="2350" spc="-55" dirty="0">
                <a:latin typeface="Arial"/>
                <a:cs typeface="Arial"/>
              </a:rPr>
              <a:t> </a:t>
            </a:r>
            <a:r>
              <a:rPr sz="2350" spc="-165" dirty="0">
                <a:latin typeface="Arial"/>
                <a:cs typeface="Arial"/>
              </a:rPr>
              <a:t>0.3</a:t>
            </a:r>
            <a:endParaRPr sz="23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74609" y="6116108"/>
            <a:ext cx="1534160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00" spc="-155" dirty="0">
                <a:latin typeface="Arial"/>
                <a:cs typeface="Arial"/>
              </a:rPr>
              <a:t>[0.30,</a:t>
            </a:r>
            <a:r>
              <a:rPr sz="2300" spc="-85" dirty="0">
                <a:latin typeface="Arial"/>
                <a:cs typeface="Arial"/>
              </a:rPr>
              <a:t> </a:t>
            </a:r>
            <a:r>
              <a:rPr sz="2300" spc="-270" dirty="0">
                <a:latin typeface="Arial"/>
                <a:cs typeface="Arial"/>
              </a:rPr>
              <a:t>0.15,</a:t>
            </a:r>
            <a:r>
              <a:rPr sz="2300" spc="-45" dirty="0">
                <a:latin typeface="Arial"/>
                <a:cs typeface="Arial"/>
              </a:rPr>
              <a:t> </a:t>
            </a:r>
            <a:r>
              <a:rPr sz="2300" spc="-90" dirty="0">
                <a:latin typeface="Arial"/>
                <a:cs typeface="Arial"/>
              </a:rPr>
              <a:t>...]</a:t>
            </a:r>
            <a:endParaRPr sz="23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6095" y="6738397"/>
            <a:ext cx="9472295" cy="90995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2950" spc="-60" dirty="0">
                <a:latin typeface="Cambria"/>
                <a:cs typeface="Cambria"/>
              </a:rPr>
              <a:t>Indicateurs</a:t>
            </a:r>
            <a:r>
              <a:rPr sz="2950" spc="35" dirty="0">
                <a:latin typeface="Cambria"/>
                <a:cs typeface="Cambria"/>
              </a:rPr>
              <a:t> </a:t>
            </a:r>
            <a:r>
              <a:rPr sz="2950" spc="-40" dirty="0">
                <a:latin typeface="Cambria"/>
                <a:cs typeface="Cambria"/>
              </a:rPr>
              <a:t>Quantitatifs</a:t>
            </a:r>
            <a:r>
              <a:rPr sz="2950" spc="-15" dirty="0">
                <a:latin typeface="Cambria"/>
                <a:cs typeface="Cambria"/>
              </a:rPr>
              <a:t> </a:t>
            </a:r>
            <a:r>
              <a:rPr sz="2950" spc="-55" dirty="0">
                <a:latin typeface="Cambria"/>
                <a:cs typeface="Cambria"/>
              </a:rPr>
              <a:t>Dérivés</a:t>
            </a:r>
            <a:r>
              <a:rPr sz="2950" spc="-110" dirty="0">
                <a:latin typeface="Cambria"/>
                <a:cs typeface="Cambria"/>
              </a:rPr>
              <a:t> </a:t>
            </a:r>
            <a:r>
              <a:rPr sz="2950" dirty="0">
                <a:latin typeface="Cambria"/>
                <a:cs typeface="Cambria"/>
              </a:rPr>
              <a:t>du</a:t>
            </a:r>
            <a:r>
              <a:rPr sz="2950" spc="-165" dirty="0">
                <a:latin typeface="Cambria"/>
                <a:cs typeface="Cambria"/>
              </a:rPr>
              <a:t> </a:t>
            </a:r>
            <a:r>
              <a:rPr sz="2950" spc="-10" dirty="0">
                <a:latin typeface="Cambria"/>
                <a:cs typeface="Cambria"/>
              </a:rPr>
              <a:t>Modèle</a:t>
            </a:r>
            <a:endParaRPr sz="29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2350" spc="-280" dirty="0">
                <a:latin typeface="Arial"/>
                <a:cs typeface="Arial"/>
              </a:rPr>
              <a:t>Le</a:t>
            </a:r>
            <a:r>
              <a:rPr sz="2350" spc="-110" dirty="0">
                <a:latin typeface="Arial"/>
                <a:cs typeface="Arial"/>
              </a:rPr>
              <a:t> </a:t>
            </a:r>
            <a:r>
              <a:rPr sz="2350" spc="-275" dirty="0">
                <a:latin typeface="Arial"/>
                <a:cs typeface="Arial"/>
              </a:rPr>
              <a:t>modèle</a:t>
            </a:r>
            <a:r>
              <a:rPr sz="2350" spc="55" dirty="0">
                <a:latin typeface="Arial"/>
                <a:cs typeface="Arial"/>
              </a:rPr>
              <a:t> </a:t>
            </a:r>
            <a:r>
              <a:rPr sz="2350" spc="-240" dirty="0">
                <a:latin typeface="Arial"/>
                <a:cs typeface="Arial"/>
              </a:rPr>
              <a:t>permet</a:t>
            </a:r>
            <a:r>
              <a:rPr sz="2350" spc="175" dirty="0">
                <a:latin typeface="Arial"/>
                <a:cs typeface="Arial"/>
              </a:rPr>
              <a:t> </a:t>
            </a:r>
            <a:r>
              <a:rPr sz="2350" spc="-265" dirty="0">
                <a:latin typeface="Arial"/>
                <a:cs typeface="Arial"/>
              </a:rPr>
              <a:t>de</a:t>
            </a:r>
            <a:r>
              <a:rPr sz="2350" spc="-60" dirty="0">
                <a:latin typeface="Arial"/>
                <a:cs typeface="Arial"/>
              </a:rPr>
              <a:t> </a:t>
            </a:r>
            <a:r>
              <a:rPr sz="2350" spc="-204" dirty="0">
                <a:latin typeface="Arial"/>
                <a:cs typeface="Arial"/>
              </a:rPr>
              <a:t>calculer</a:t>
            </a:r>
            <a:r>
              <a:rPr sz="2350" spc="80" dirty="0">
                <a:latin typeface="Arial"/>
                <a:cs typeface="Arial"/>
              </a:rPr>
              <a:t> </a:t>
            </a:r>
            <a:r>
              <a:rPr sz="2350" spc="-280" dirty="0">
                <a:latin typeface="Arial"/>
                <a:cs typeface="Arial"/>
              </a:rPr>
              <a:t>des</a:t>
            </a:r>
            <a:r>
              <a:rPr sz="2350" spc="-85" dirty="0">
                <a:latin typeface="Arial"/>
                <a:cs typeface="Arial"/>
              </a:rPr>
              <a:t> </a:t>
            </a:r>
            <a:r>
              <a:rPr sz="2350" spc="-245" dirty="0">
                <a:latin typeface="Arial"/>
                <a:cs typeface="Arial"/>
              </a:rPr>
              <a:t>biomarqueurs</a:t>
            </a:r>
            <a:r>
              <a:rPr sz="2350" spc="120" dirty="0">
                <a:latin typeface="Arial"/>
                <a:cs typeface="Arial"/>
              </a:rPr>
              <a:t> </a:t>
            </a:r>
            <a:r>
              <a:rPr sz="2350" spc="-220" dirty="0">
                <a:latin typeface="Arial"/>
                <a:cs typeface="Arial"/>
              </a:rPr>
              <a:t>pronostiques</a:t>
            </a:r>
            <a:r>
              <a:rPr sz="2350" spc="80" dirty="0">
                <a:latin typeface="Arial"/>
                <a:cs typeface="Arial"/>
              </a:rPr>
              <a:t> </a:t>
            </a:r>
            <a:r>
              <a:rPr sz="2350" spc="-165" dirty="0">
                <a:latin typeface="Arial"/>
                <a:cs typeface="Arial"/>
              </a:rPr>
              <a:t>et</a:t>
            </a:r>
            <a:r>
              <a:rPr sz="2350" spc="-55" dirty="0">
                <a:latin typeface="Arial"/>
                <a:cs typeface="Arial"/>
              </a:rPr>
              <a:t> </a:t>
            </a:r>
            <a:r>
              <a:rPr sz="2350" spc="-160" dirty="0">
                <a:latin typeface="Arial"/>
                <a:cs typeface="Arial"/>
              </a:rPr>
              <a:t>prédictifs</a:t>
            </a:r>
            <a:r>
              <a:rPr sz="2350" spc="-10" dirty="0">
                <a:latin typeface="Arial"/>
                <a:cs typeface="Arial"/>
              </a:rPr>
              <a:t> </a:t>
            </a:r>
            <a:r>
              <a:rPr sz="2350" spc="-265" dirty="0">
                <a:latin typeface="Arial"/>
                <a:cs typeface="Arial"/>
              </a:rPr>
              <a:t>complexes</a:t>
            </a:r>
            <a:r>
              <a:rPr sz="2350" spc="30" dirty="0">
                <a:latin typeface="Arial"/>
                <a:cs typeface="Arial"/>
              </a:rPr>
              <a:t> </a:t>
            </a:r>
            <a:r>
              <a:rPr sz="2350" spc="-50" dirty="0">
                <a:latin typeface="Arial"/>
                <a:cs typeface="Arial"/>
              </a:rPr>
              <a:t>:</a:t>
            </a:r>
            <a:endParaRPr sz="23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784705" y="3588102"/>
            <a:ext cx="1927860" cy="289560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2000" spc="-25" dirty="0">
                <a:latin typeface="Arial"/>
                <a:cs typeface="Arial"/>
              </a:rPr>
              <a:t>Poumon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(5CFR+)</a:t>
            </a:r>
            <a:endParaRPr sz="2000">
              <a:latin typeface="Arial"/>
              <a:cs typeface="Arial"/>
            </a:endParaRPr>
          </a:p>
          <a:p>
            <a:pPr marL="364490">
              <a:lnSpc>
                <a:spcPct val="100000"/>
              </a:lnSpc>
              <a:spcBef>
                <a:spcPts val="800"/>
              </a:spcBef>
            </a:pPr>
            <a:r>
              <a:rPr sz="2000" spc="-10" dirty="0">
                <a:latin typeface="Arial"/>
                <a:cs typeface="Arial"/>
              </a:rPr>
              <a:t>0.75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z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0.07</a:t>
            </a:r>
            <a:endParaRPr sz="2000">
              <a:latin typeface="Arial"/>
              <a:cs typeface="Arial"/>
            </a:endParaRPr>
          </a:p>
          <a:p>
            <a:pPr marL="351790">
              <a:lnSpc>
                <a:spcPct val="100000"/>
              </a:lnSpc>
              <a:spcBef>
                <a:spcPts val="900"/>
              </a:spcBef>
            </a:pPr>
            <a:r>
              <a:rPr sz="2000" dirty="0">
                <a:latin typeface="Arial"/>
                <a:cs typeface="Arial"/>
              </a:rPr>
              <a:t>0.25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2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0.05</a:t>
            </a:r>
            <a:endParaRPr sz="2000">
              <a:latin typeface="Arial"/>
              <a:cs typeface="Arial"/>
            </a:endParaRPr>
          </a:p>
          <a:p>
            <a:pPr marL="351790">
              <a:lnSpc>
                <a:spcPct val="100000"/>
              </a:lnSpc>
              <a:spcBef>
                <a:spcPts val="800"/>
              </a:spcBef>
            </a:pPr>
            <a:r>
              <a:rPr sz="2000" dirty="0">
                <a:latin typeface="Arial"/>
                <a:cs typeface="Arial"/>
              </a:rPr>
              <a:t>0.42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z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0.08</a:t>
            </a:r>
            <a:endParaRPr sz="2000">
              <a:latin typeface="Arial"/>
              <a:cs typeface="Arial"/>
            </a:endParaRPr>
          </a:p>
          <a:p>
            <a:pPr marL="219710">
              <a:lnSpc>
                <a:spcPct val="100000"/>
              </a:lnSpc>
              <a:spcBef>
                <a:spcPts val="850"/>
              </a:spcBef>
              <a:tabLst>
                <a:tab pos="1363345" algn="l"/>
              </a:tabLst>
            </a:pPr>
            <a:r>
              <a:rPr sz="2000" dirty="0">
                <a:latin typeface="Arial"/>
                <a:cs typeface="Arial"/>
              </a:rPr>
              <a:t>(5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z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1.5)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10*</a:t>
            </a:r>
            <a:endParaRPr sz="2000">
              <a:latin typeface="Arial"/>
              <a:cs typeface="Arial"/>
            </a:endParaRPr>
          </a:p>
          <a:p>
            <a:pPr marL="499745">
              <a:lnSpc>
                <a:spcPct val="100000"/>
              </a:lnSpc>
              <a:spcBef>
                <a:spcPts val="850"/>
              </a:spcBef>
              <a:tabLst>
                <a:tab pos="1101090" algn="l"/>
              </a:tabLst>
            </a:pPr>
            <a:r>
              <a:rPr sz="2000" spc="-25" dirty="0">
                <a:latin typeface="Arial"/>
                <a:cs typeface="Arial"/>
              </a:rPr>
              <a:t>1.2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0.2</a:t>
            </a:r>
            <a:endParaRPr sz="2000">
              <a:latin typeface="Arial"/>
              <a:cs typeface="Arial"/>
            </a:endParaRPr>
          </a:p>
          <a:p>
            <a:pPr marL="205104">
              <a:lnSpc>
                <a:spcPct val="100000"/>
              </a:lnSpc>
              <a:spcBef>
                <a:spcPts val="800"/>
              </a:spcBef>
            </a:pPr>
            <a:r>
              <a:rPr sz="2000" dirty="0">
                <a:latin typeface="Arial"/>
                <a:cs typeface="Arial"/>
              </a:rPr>
              <a:t>[0.40,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0.10,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...]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4713" y="7842967"/>
            <a:ext cx="3795395" cy="139700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795"/>
              </a:spcBef>
            </a:pPr>
            <a:r>
              <a:rPr sz="2400" spc="-55" dirty="0">
                <a:solidFill>
                  <a:srgbClr val="333333"/>
                </a:solidFill>
                <a:latin typeface="Arial"/>
                <a:cs typeface="Arial"/>
              </a:rPr>
              <a:t>Bloc</a:t>
            </a:r>
            <a:r>
              <a:rPr sz="2400" spc="-2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400" spc="55" dirty="0">
                <a:solidFill>
                  <a:srgbClr val="3B3B3B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 marL="12700" marR="5080" indent="10795">
              <a:lnSpc>
                <a:spcPct val="88500"/>
              </a:lnSpc>
              <a:spcBef>
                <a:spcPts val="844"/>
              </a:spcBef>
            </a:pPr>
            <a:r>
              <a:rPr sz="2000" spc="-105" dirty="0">
                <a:latin typeface="Arial"/>
                <a:cs typeface="Arial"/>
              </a:rPr>
              <a:t>Charge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Tumorale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Dynamique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(CT): </a:t>
            </a:r>
            <a:r>
              <a:rPr sz="2000" spc="-60" dirty="0">
                <a:latin typeface="Arial"/>
                <a:cs typeface="Arial"/>
              </a:rPr>
              <a:t>Intègre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le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volume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et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le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gradient invasif.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14878" y="7825012"/>
            <a:ext cx="3329940" cy="168148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2550" spc="-130" dirty="0">
                <a:solidFill>
                  <a:srgbClr val="343434"/>
                </a:solidFill>
                <a:latin typeface="Arial"/>
                <a:cs typeface="Arial"/>
              </a:rPr>
              <a:t>Bloc</a:t>
            </a:r>
            <a:r>
              <a:rPr sz="2550" spc="-70" dirty="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sz="2550" spc="-50" dirty="0">
                <a:solidFill>
                  <a:srgbClr val="2D425B"/>
                </a:solidFill>
                <a:latin typeface="Arial"/>
                <a:cs typeface="Arial"/>
              </a:rPr>
              <a:t>2</a:t>
            </a:r>
            <a:endParaRPr sz="2550">
              <a:latin typeface="Arial"/>
              <a:cs typeface="Arial"/>
            </a:endParaRPr>
          </a:p>
          <a:p>
            <a:pPr marL="19685" marR="5080" indent="-3810">
              <a:lnSpc>
                <a:spcPct val="88200"/>
              </a:lnSpc>
              <a:spcBef>
                <a:spcPts val="819"/>
              </a:spcBef>
            </a:pPr>
            <a:r>
              <a:rPr sz="2000" spc="-45" dirty="0">
                <a:latin typeface="Arial"/>
                <a:cs typeface="Arial"/>
              </a:rPr>
              <a:t>Potentiel</a:t>
            </a:r>
            <a:r>
              <a:rPr sz="2000" spc="-14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Métastatique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Intégré </a:t>
            </a:r>
            <a:r>
              <a:rPr sz="2000" dirty="0">
                <a:latin typeface="Arial"/>
                <a:cs typeface="Arial"/>
              </a:rPr>
              <a:t>(PM):</a:t>
            </a:r>
            <a:r>
              <a:rPr sz="2000" spc="-155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Combine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l'invasivité</a:t>
            </a:r>
            <a:r>
              <a:rPr sz="2000" spc="17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avec </a:t>
            </a:r>
            <a:r>
              <a:rPr sz="2000" spc="-80" dirty="0">
                <a:latin typeface="Arial"/>
                <a:cs typeface="Arial"/>
              </a:rPr>
              <a:t>l'expression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du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système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ité </a:t>
            </a:r>
            <a:r>
              <a:rPr sz="2000" spc="-20" dirty="0">
                <a:latin typeface="Arial"/>
                <a:cs typeface="Arial"/>
              </a:rPr>
              <a:t>(Métastases).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955078" y="7830878"/>
            <a:ext cx="3772535" cy="167767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550" spc="-155" dirty="0">
                <a:solidFill>
                  <a:srgbClr val="313131"/>
                </a:solidFill>
                <a:latin typeface="Arial"/>
                <a:cs typeface="Arial"/>
              </a:rPr>
              <a:t>Bloc</a:t>
            </a:r>
            <a:r>
              <a:rPr sz="2550" spc="-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2550" spc="-50" dirty="0">
                <a:solidFill>
                  <a:srgbClr val="2F4154"/>
                </a:solidFill>
                <a:latin typeface="Arial"/>
                <a:cs typeface="Arial"/>
              </a:rPr>
              <a:t>3</a:t>
            </a:r>
            <a:endParaRPr sz="2550">
              <a:latin typeface="Arial"/>
              <a:cs typeface="Arial"/>
            </a:endParaRPr>
          </a:p>
          <a:p>
            <a:pPr marL="13970" marR="5080" indent="1270">
              <a:lnSpc>
                <a:spcPts val="2100"/>
              </a:lnSpc>
              <a:spcBef>
                <a:spcPts val="910"/>
              </a:spcBef>
            </a:pPr>
            <a:r>
              <a:rPr sz="2050" spc="-105" dirty="0">
                <a:latin typeface="Arial"/>
                <a:cs typeface="Arial"/>
              </a:rPr>
              <a:t>Résistance</a:t>
            </a:r>
            <a:r>
              <a:rPr sz="2050" spc="-55" dirty="0">
                <a:latin typeface="Arial"/>
                <a:cs typeface="Arial"/>
              </a:rPr>
              <a:t> </a:t>
            </a:r>
            <a:r>
              <a:rPr sz="2050" spc="-125" dirty="0">
                <a:latin typeface="Arial"/>
                <a:cs typeface="Arial"/>
              </a:rPr>
              <a:t>au</a:t>
            </a:r>
            <a:r>
              <a:rPr sz="2050" spc="-95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Traitement</a:t>
            </a:r>
            <a:r>
              <a:rPr sz="2050" spc="114" dirty="0">
                <a:latin typeface="Arial"/>
                <a:cs typeface="Arial"/>
              </a:rPr>
              <a:t> </a:t>
            </a:r>
            <a:r>
              <a:rPr sz="2050" spc="-10" dirty="0">
                <a:latin typeface="Arial"/>
                <a:cs typeface="Arial"/>
              </a:rPr>
              <a:t>(RT): </a:t>
            </a:r>
            <a:r>
              <a:rPr sz="2050" spc="-114" dirty="0">
                <a:latin typeface="Arial"/>
                <a:cs typeface="Arial"/>
              </a:rPr>
              <a:t>Modélise</a:t>
            </a:r>
            <a:r>
              <a:rPr sz="2050" spc="-40" dirty="0">
                <a:latin typeface="Arial"/>
                <a:cs typeface="Arial"/>
              </a:rPr>
              <a:t> </a:t>
            </a:r>
            <a:r>
              <a:rPr sz="2050" spc="-80" dirty="0">
                <a:latin typeface="Arial"/>
                <a:cs typeface="Arial"/>
              </a:rPr>
              <a:t>l'évolution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de</a:t>
            </a:r>
            <a:r>
              <a:rPr sz="2050" spc="-150" dirty="0">
                <a:latin typeface="Arial"/>
                <a:cs typeface="Arial"/>
              </a:rPr>
              <a:t> </a:t>
            </a:r>
            <a:r>
              <a:rPr sz="2050" spc="-130" dirty="0">
                <a:latin typeface="Arial"/>
                <a:cs typeface="Arial"/>
              </a:rPr>
              <a:t>la</a:t>
            </a:r>
            <a:r>
              <a:rPr sz="2050" spc="-3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résistance </a:t>
            </a:r>
            <a:r>
              <a:rPr sz="2050" spc="-125" dirty="0">
                <a:latin typeface="Arial"/>
                <a:cs typeface="Arial"/>
              </a:rPr>
              <a:t>en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spc="-70" dirty="0">
                <a:latin typeface="Arial"/>
                <a:cs typeface="Arial"/>
              </a:rPr>
              <a:t>fonction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125" dirty="0">
                <a:latin typeface="Arial"/>
                <a:cs typeface="Arial"/>
              </a:rPr>
              <a:t>du</a:t>
            </a:r>
            <a:r>
              <a:rPr sz="2050" spc="-130" dirty="0">
                <a:latin typeface="Arial"/>
                <a:cs typeface="Arial"/>
              </a:rPr>
              <a:t> </a:t>
            </a:r>
            <a:r>
              <a:rPr sz="2050" spc="-125" dirty="0">
                <a:latin typeface="Arial"/>
                <a:cs typeface="Arial"/>
              </a:rPr>
              <a:t>système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i="1" spc="-25" dirty="0">
                <a:latin typeface="Arial"/>
                <a:cs typeface="Arial"/>
              </a:rPr>
              <a:t>lii </a:t>
            </a:r>
            <a:r>
              <a:rPr sz="2050" spc="-75" dirty="0">
                <a:latin typeface="Arial"/>
                <a:cs typeface="Arial"/>
              </a:rPr>
              <a:t>(Pharmacodynamique).</a:t>
            </a:r>
            <a:endParaRPr sz="20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098895" y="7833929"/>
            <a:ext cx="4238625" cy="183642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765"/>
              </a:spcBef>
            </a:pPr>
            <a:r>
              <a:rPr sz="2500" spc="105" dirty="0">
                <a:solidFill>
                  <a:srgbClr val="313131"/>
                </a:solidFill>
                <a:latin typeface="Arial Narrow"/>
                <a:cs typeface="Arial Narrow"/>
              </a:rPr>
              <a:t>Bloc</a:t>
            </a:r>
            <a:r>
              <a:rPr sz="2500" spc="130" dirty="0">
                <a:solidFill>
                  <a:srgbClr val="313131"/>
                </a:solidFill>
                <a:latin typeface="Arial Narrow"/>
                <a:cs typeface="Arial Narrow"/>
              </a:rPr>
              <a:t> </a:t>
            </a:r>
            <a:r>
              <a:rPr sz="2500" spc="75" dirty="0">
                <a:solidFill>
                  <a:srgbClr val="2A3F56"/>
                </a:solidFill>
                <a:latin typeface="Arial Narrow"/>
                <a:cs typeface="Arial Narrow"/>
              </a:rPr>
              <a:t>4</a:t>
            </a:r>
            <a:endParaRPr sz="2500">
              <a:latin typeface="Arial Narrow"/>
              <a:cs typeface="Arial Narrow"/>
            </a:endParaRPr>
          </a:p>
          <a:p>
            <a:pPr marL="15875" marR="675005" indent="-3810">
              <a:lnSpc>
                <a:spcPct val="88200"/>
              </a:lnSpc>
              <a:spcBef>
                <a:spcPts val="830"/>
              </a:spcBef>
            </a:pPr>
            <a:r>
              <a:rPr sz="2000" spc="-105" dirty="0">
                <a:latin typeface="Arial"/>
                <a:cs typeface="Arial"/>
              </a:rPr>
              <a:t>Réponse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Thérapeutique</a:t>
            </a:r>
            <a:r>
              <a:rPr sz="2000" spc="-10" dirty="0">
                <a:latin typeface="Arial"/>
                <a:cs typeface="Arial"/>
              </a:rPr>
              <a:t> Prédite </a:t>
            </a:r>
            <a:r>
              <a:rPr sz="2000" spc="-55" dirty="0">
                <a:latin typeface="Arial"/>
                <a:cs typeface="Arial"/>
              </a:rPr>
              <a:t>(RTP):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Prëdit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l'efficacité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du </a:t>
            </a:r>
            <a:r>
              <a:rPr sz="2000" spc="-65" dirty="0">
                <a:latin typeface="Arial"/>
                <a:cs typeface="Arial"/>
              </a:rPr>
              <a:t>traitement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en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tenant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compte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de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la </a:t>
            </a:r>
            <a:r>
              <a:rPr sz="2000" spc="-85" dirty="0">
                <a:latin typeface="Arial"/>
                <a:cs typeface="Arial"/>
              </a:rPr>
              <a:t>résistance</a:t>
            </a:r>
            <a:r>
              <a:rPr sz="2000" spc="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et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de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75" dirty="0">
                <a:latin typeface="Arial"/>
                <a:cs typeface="Arial"/>
              </a:rPr>
              <a:t>la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toxicité.</a:t>
            </a:r>
            <a:endParaRPr sz="2000">
              <a:latin typeface="Arial"/>
              <a:cs typeface="Arial"/>
            </a:endParaRPr>
          </a:p>
          <a:p>
            <a:pPr marR="5080" algn="r">
              <a:lnSpc>
                <a:spcPts val="1290"/>
              </a:lnSpc>
            </a:pPr>
            <a:r>
              <a:rPr sz="1450" dirty="0">
                <a:latin typeface="Arial"/>
                <a:cs typeface="Arial"/>
              </a:rPr>
              <a:t>G</a:t>
            </a:r>
            <a:r>
              <a:rPr sz="1450" spc="420" dirty="0">
                <a:latin typeface="Arial"/>
                <a:cs typeface="Arial"/>
              </a:rPr>
              <a:t> </a:t>
            </a:r>
            <a:r>
              <a:rPr sz="1450" spc="-10" dirty="0">
                <a:latin typeface="Arial"/>
                <a:cs typeface="Arial"/>
              </a:rPr>
              <a:t>NotebookLM</a:t>
            </a:r>
            <a:endParaRPr sz="14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956334" y="3591630"/>
            <a:ext cx="1607185" cy="83820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150" spc="-100" dirty="0">
                <a:latin typeface="Arial"/>
                <a:cs typeface="Arial"/>
              </a:rPr>
              <a:t>Côlon</a:t>
            </a:r>
            <a:r>
              <a:rPr sz="2150" spc="-105" dirty="0">
                <a:latin typeface="Arial"/>
                <a:cs typeface="Arial"/>
              </a:rPr>
              <a:t> </a:t>
            </a:r>
            <a:r>
              <a:rPr sz="2150" spc="-114" dirty="0">
                <a:latin typeface="Arial"/>
                <a:cs typeface="Arial"/>
              </a:rPr>
              <a:t>(MSI-</a:t>
            </a:r>
            <a:r>
              <a:rPr sz="2150" spc="-40" dirty="0">
                <a:latin typeface="Arial"/>
                <a:cs typeface="Arial"/>
              </a:rPr>
              <a:t>H)</a:t>
            </a:r>
            <a:endParaRPr sz="2150">
              <a:latin typeface="Arial"/>
              <a:cs typeface="Arial"/>
            </a:endParaRPr>
          </a:p>
          <a:p>
            <a:pPr marL="192405">
              <a:lnSpc>
                <a:spcPct val="100000"/>
              </a:lnSpc>
              <a:spcBef>
                <a:spcPts val="620"/>
              </a:spcBef>
            </a:pPr>
            <a:r>
              <a:rPr sz="2150" spc="-114" dirty="0">
                <a:latin typeface="Arial"/>
                <a:cs typeface="Arial"/>
              </a:rPr>
              <a:t>0.90</a:t>
            </a:r>
            <a:r>
              <a:rPr sz="2150" spc="-150" dirty="0">
                <a:latin typeface="Arial"/>
                <a:cs typeface="Arial"/>
              </a:rPr>
              <a:t> </a:t>
            </a:r>
            <a:r>
              <a:rPr sz="2150" spc="-440" dirty="0">
                <a:latin typeface="Arial"/>
                <a:cs typeface="Arial"/>
              </a:rPr>
              <a:t>1-</a:t>
            </a:r>
            <a:r>
              <a:rPr sz="2150" spc="130" dirty="0">
                <a:latin typeface="Arial"/>
                <a:cs typeface="Arial"/>
              </a:rPr>
              <a:t> </a:t>
            </a:r>
            <a:r>
              <a:rPr sz="2150" spc="-20" dirty="0">
                <a:latin typeface="Arial"/>
                <a:cs typeface="Arial"/>
              </a:rPr>
              <a:t>0.04</a:t>
            </a:r>
            <a:endParaRPr sz="21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967091" y="4425444"/>
            <a:ext cx="1631950" cy="123952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800"/>
              </a:spcBef>
              <a:tabLst>
                <a:tab pos="931544" algn="l"/>
              </a:tabLst>
            </a:pPr>
            <a:r>
              <a:rPr sz="2000" spc="-20" dirty="0">
                <a:latin typeface="Arial"/>
                <a:cs typeface="Arial"/>
              </a:rPr>
              <a:t>0.10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20" dirty="0">
                <a:latin typeface="Arial"/>
                <a:cs typeface="Arial"/>
              </a:rPr>
              <a:t>0.02</a:t>
            </a:r>
            <a:endParaRPr sz="2000">
              <a:latin typeface="Arial"/>
              <a:cs typeface="Arial"/>
            </a:endParaRPr>
          </a:p>
          <a:p>
            <a:pPr marL="182245">
              <a:lnSpc>
                <a:spcPct val="100000"/>
              </a:lnSpc>
              <a:spcBef>
                <a:spcPts val="750"/>
              </a:spcBef>
            </a:pPr>
            <a:r>
              <a:rPr sz="2050" spc="-10" dirty="0">
                <a:latin typeface="Arial"/>
                <a:cs typeface="Arial"/>
              </a:rPr>
              <a:t>0.24</a:t>
            </a:r>
            <a:r>
              <a:rPr sz="2050" spc="-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z</a:t>
            </a:r>
            <a:r>
              <a:rPr sz="2050" spc="-95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0.05</a:t>
            </a:r>
            <a:endParaRPr sz="20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840"/>
              </a:spcBef>
            </a:pPr>
            <a:r>
              <a:rPr sz="2000" dirty="0">
                <a:latin typeface="Arial"/>
                <a:cs typeface="Arial"/>
              </a:rPr>
              <a:t>(7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z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1.5)</a:t>
            </a:r>
            <a:r>
              <a:rPr sz="2000" spc="150" dirty="0">
                <a:latin typeface="Arial"/>
                <a:cs typeface="Arial"/>
              </a:rPr>
              <a:t> </a:t>
            </a:r>
            <a:r>
              <a:rPr sz="2000" spc="-200" dirty="0">
                <a:latin typeface="Arial"/>
                <a:cs typeface="Arial"/>
              </a:rPr>
              <a:t>x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10</a:t>
            </a:r>
            <a:r>
              <a:rPr sz="2250" spc="-37" baseline="20370" dirty="0">
                <a:latin typeface="Arial"/>
                <a:cs typeface="Arial"/>
              </a:rPr>
              <a:t>6</a:t>
            </a:r>
            <a:endParaRPr sz="2250" baseline="2037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283373" y="5727347"/>
            <a:ext cx="95821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200" dirty="0">
                <a:latin typeface="Arial"/>
                <a:cs typeface="Arial"/>
              </a:rPr>
              <a:t>1.8</a:t>
            </a:r>
            <a:r>
              <a:rPr sz="2150" spc="50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z</a:t>
            </a:r>
            <a:r>
              <a:rPr sz="2150" spc="-20" dirty="0">
                <a:latin typeface="Arial"/>
                <a:cs typeface="Arial"/>
              </a:rPr>
              <a:t> </a:t>
            </a:r>
            <a:r>
              <a:rPr sz="2150" spc="-110" dirty="0">
                <a:latin typeface="Arial"/>
                <a:cs typeface="Arial"/>
              </a:rPr>
              <a:t>0.3</a:t>
            </a:r>
            <a:endParaRPr sz="21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003413" y="6151386"/>
            <a:ext cx="1539240" cy="332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dirty="0">
                <a:latin typeface="Arial"/>
                <a:cs typeface="Arial"/>
              </a:rPr>
              <a:t>[0.20,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0.15,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...]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87800" y="4381500"/>
            <a:ext cx="11214100" cy="4737100"/>
            <a:chOff x="3987800" y="4381500"/>
            <a:chExt cx="11214100" cy="4737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87800" y="4381500"/>
              <a:ext cx="11214100" cy="47371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31600" y="7753350"/>
              <a:ext cx="2222500" cy="22225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4192" rIns="0" bIns="0" rtlCol="0">
            <a:spAutoFit/>
          </a:bodyPr>
          <a:lstStyle/>
          <a:p>
            <a:pPr marL="294005">
              <a:lnSpc>
                <a:spcPct val="100000"/>
              </a:lnSpc>
              <a:spcBef>
                <a:spcPts val="120"/>
              </a:spcBef>
            </a:pPr>
            <a:r>
              <a:rPr sz="3800" dirty="0">
                <a:latin typeface="Cambria"/>
                <a:cs typeface="Cambria"/>
              </a:rPr>
              <a:t>Le</a:t>
            </a:r>
            <a:r>
              <a:rPr sz="3800" spc="-210" dirty="0">
                <a:latin typeface="Cambria"/>
                <a:cs typeface="Cambria"/>
              </a:rPr>
              <a:t> </a:t>
            </a:r>
            <a:r>
              <a:rPr sz="3800" dirty="0">
                <a:latin typeface="Cambria"/>
                <a:cs typeface="Cambria"/>
              </a:rPr>
              <a:t>Cadre</a:t>
            </a:r>
            <a:r>
              <a:rPr sz="3800" spc="-5" dirty="0">
                <a:latin typeface="Cambria"/>
                <a:cs typeface="Cambria"/>
              </a:rPr>
              <a:t> </a:t>
            </a:r>
            <a:r>
              <a:rPr sz="3800" dirty="0">
                <a:latin typeface="Cambria"/>
                <a:cs typeface="Cambria"/>
              </a:rPr>
              <a:t>Intégré</a:t>
            </a:r>
            <a:r>
              <a:rPr sz="3800" spc="70" dirty="0">
                <a:latin typeface="Cambria"/>
                <a:cs typeface="Cambria"/>
              </a:rPr>
              <a:t> </a:t>
            </a:r>
            <a:r>
              <a:rPr sz="3800" dirty="0">
                <a:latin typeface="Cambria"/>
                <a:cs typeface="Cambria"/>
              </a:rPr>
              <a:t>Complet</a:t>
            </a:r>
            <a:r>
              <a:rPr sz="3800" spc="70" dirty="0">
                <a:latin typeface="Cambria"/>
                <a:cs typeface="Cambria"/>
              </a:rPr>
              <a:t> </a:t>
            </a:r>
            <a:r>
              <a:rPr sz="3800" spc="50" dirty="0">
                <a:latin typeface="Cambria"/>
                <a:cs typeface="Cambria"/>
              </a:rPr>
              <a:t>:</a:t>
            </a:r>
            <a:r>
              <a:rPr sz="3800" spc="-210" dirty="0">
                <a:latin typeface="Cambria"/>
                <a:cs typeface="Cambria"/>
              </a:rPr>
              <a:t> </a:t>
            </a:r>
            <a:r>
              <a:rPr sz="3800" spc="-10" dirty="0">
                <a:latin typeface="Cambria"/>
                <a:cs typeface="Cambria"/>
              </a:rPr>
              <a:t>Dompter</a:t>
            </a:r>
            <a:r>
              <a:rPr sz="3800" spc="110" dirty="0">
                <a:latin typeface="Cambria"/>
                <a:cs typeface="Cambria"/>
              </a:rPr>
              <a:t> </a:t>
            </a:r>
            <a:r>
              <a:rPr sz="3800" spc="-40" dirty="0">
                <a:latin typeface="Cambria"/>
                <a:cs typeface="Cambria"/>
              </a:rPr>
              <a:t>la</a:t>
            </a:r>
            <a:r>
              <a:rPr sz="3800" spc="-170" dirty="0">
                <a:latin typeface="Cambria"/>
                <a:cs typeface="Cambria"/>
              </a:rPr>
              <a:t> </a:t>
            </a:r>
            <a:r>
              <a:rPr sz="3800" dirty="0">
                <a:latin typeface="Cambria"/>
                <a:cs typeface="Cambria"/>
              </a:rPr>
              <a:t>Complexité,</a:t>
            </a:r>
            <a:r>
              <a:rPr sz="3800" spc="140" dirty="0">
                <a:latin typeface="Cambria"/>
                <a:cs typeface="Cambria"/>
              </a:rPr>
              <a:t> </a:t>
            </a:r>
            <a:r>
              <a:rPr sz="3800" dirty="0">
                <a:latin typeface="Cambria"/>
                <a:cs typeface="Cambria"/>
              </a:rPr>
              <a:t>de</a:t>
            </a:r>
            <a:r>
              <a:rPr sz="3800" spc="-90" dirty="0">
                <a:latin typeface="Cambria"/>
                <a:cs typeface="Cambria"/>
              </a:rPr>
              <a:t> </a:t>
            </a:r>
            <a:r>
              <a:rPr sz="3800" dirty="0">
                <a:latin typeface="Cambria"/>
                <a:cs typeface="Cambria"/>
              </a:rPr>
              <a:t>la</a:t>
            </a:r>
            <a:r>
              <a:rPr sz="3800" spc="-80" dirty="0">
                <a:latin typeface="Cambria"/>
                <a:cs typeface="Cambria"/>
              </a:rPr>
              <a:t> </a:t>
            </a:r>
            <a:r>
              <a:rPr sz="3800" spc="-55" dirty="0">
                <a:latin typeface="Cambria"/>
                <a:cs typeface="Cambria"/>
              </a:rPr>
              <a:t>Fondation</a:t>
            </a:r>
            <a:r>
              <a:rPr sz="3800" spc="150" dirty="0">
                <a:latin typeface="Cambria"/>
                <a:cs typeface="Cambria"/>
              </a:rPr>
              <a:t> </a:t>
            </a:r>
            <a:r>
              <a:rPr sz="3800" dirty="0">
                <a:latin typeface="Cambria"/>
                <a:cs typeface="Cambria"/>
              </a:rPr>
              <a:t>à</a:t>
            </a:r>
            <a:r>
              <a:rPr sz="3800" spc="-170" dirty="0">
                <a:latin typeface="Cambria"/>
                <a:cs typeface="Cambria"/>
              </a:rPr>
              <a:t> </a:t>
            </a:r>
            <a:r>
              <a:rPr sz="3800" dirty="0">
                <a:latin typeface="Cambria"/>
                <a:cs typeface="Cambria"/>
              </a:rPr>
              <a:t>la</a:t>
            </a:r>
            <a:r>
              <a:rPr sz="3800" spc="-185" dirty="0">
                <a:latin typeface="Cambria"/>
                <a:cs typeface="Cambria"/>
              </a:rPr>
              <a:t> </a:t>
            </a:r>
            <a:r>
              <a:rPr sz="3800" spc="-10" dirty="0">
                <a:latin typeface="Cambria"/>
                <a:cs typeface="Cambria"/>
              </a:rPr>
              <a:t>Vision</a:t>
            </a:r>
            <a:endParaRPr sz="38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1294" y="1652411"/>
            <a:ext cx="15616555" cy="714883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817244" indent="8890">
              <a:lnSpc>
                <a:spcPts val="2900"/>
              </a:lnSpc>
              <a:spcBef>
                <a:spcPts val="415"/>
              </a:spcBef>
            </a:pPr>
            <a:r>
              <a:rPr sz="2600" spc="-195" dirty="0">
                <a:latin typeface="Arial"/>
                <a:cs typeface="Arial"/>
              </a:rPr>
              <a:t>Chaque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spc="-80" dirty="0">
                <a:latin typeface="Arial"/>
                <a:cs typeface="Arial"/>
              </a:rPr>
              <a:t>composant</a:t>
            </a:r>
            <a:r>
              <a:rPr sz="2600" spc="-105" dirty="0">
                <a:latin typeface="Arial"/>
                <a:cs typeface="Arial"/>
              </a:rPr>
              <a:t> </a:t>
            </a:r>
            <a:r>
              <a:rPr sz="2600" spc="-155" dirty="0">
                <a:latin typeface="Arial"/>
                <a:cs typeface="Arial"/>
              </a:rPr>
              <a:t>de</a:t>
            </a:r>
            <a:r>
              <a:rPr sz="2600" spc="-125" dirty="0">
                <a:latin typeface="Arial"/>
                <a:cs typeface="Arial"/>
              </a:rPr>
              <a:t> </a:t>
            </a:r>
            <a:r>
              <a:rPr sz="2600" spc="-65" dirty="0">
                <a:latin typeface="Arial"/>
                <a:cs typeface="Arial"/>
              </a:rPr>
              <a:t>notre</a:t>
            </a:r>
            <a:r>
              <a:rPr sz="2600" spc="-114" dirty="0">
                <a:latin typeface="Arial"/>
                <a:cs typeface="Arial"/>
              </a:rPr>
              <a:t> </a:t>
            </a:r>
            <a:r>
              <a:rPr sz="2600" spc="-125" dirty="0">
                <a:latin typeface="Arial"/>
                <a:cs typeface="Arial"/>
              </a:rPr>
              <a:t>cadre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spc="-60" dirty="0">
                <a:latin typeface="Arial"/>
                <a:cs typeface="Arial"/>
              </a:rPr>
              <a:t>est</a:t>
            </a:r>
            <a:r>
              <a:rPr sz="2600" spc="-120" dirty="0">
                <a:latin typeface="Arial"/>
                <a:cs typeface="Arial"/>
              </a:rPr>
              <a:t> </a:t>
            </a:r>
            <a:r>
              <a:rPr sz="2600" spc="-140" dirty="0">
                <a:latin typeface="Arial"/>
                <a:cs typeface="Arial"/>
              </a:rPr>
              <a:t>une</a:t>
            </a:r>
            <a:r>
              <a:rPr sz="2600" spc="-100" dirty="0">
                <a:latin typeface="Arial"/>
                <a:cs typeface="Arial"/>
              </a:rPr>
              <a:t> </a:t>
            </a:r>
            <a:r>
              <a:rPr sz="2600" spc="-45" dirty="0">
                <a:latin typeface="Arial"/>
                <a:cs typeface="Arial"/>
              </a:rPr>
              <a:t>solution</a:t>
            </a:r>
            <a:r>
              <a:rPr sz="2600" spc="-85" dirty="0">
                <a:latin typeface="Arial"/>
                <a:cs typeface="Arial"/>
              </a:rPr>
              <a:t> </a:t>
            </a:r>
            <a:r>
              <a:rPr sz="2600" spc="-210" dirty="0">
                <a:latin typeface="Arial"/>
                <a:cs typeface="Arial"/>
              </a:rPr>
              <a:t>à</a:t>
            </a:r>
            <a:r>
              <a:rPr sz="2600" spc="-145" dirty="0">
                <a:latin typeface="Arial"/>
                <a:cs typeface="Arial"/>
              </a:rPr>
              <a:t> </a:t>
            </a:r>
            <a:r>
              <a:rPr sz="2600" spc="-80" dirty="0">
                <a:latin typeface="Arial"/>
                <a:cs typeface="Arial"/>
              </a:rPr>
              <a:t>un</a:t>
            </a:r>
            <a:r>
              <a:rPr sz="2600" spc="-8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défi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spc="-95" dirty="0">
                <a:latin typeface="Arial"/>
                <a:cs typeface="Arial"/>
              </a:rPr>
              <a:t>spécifique,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spc="-100" dirty="0">
                <a:latin typeface="Arial"/>
                <a:cs typeface="Arial"/>
              </a:rPr>
              <a:t>créant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spc="-114" dirty="0">
                <a:latin typeface="Arial"/>
                <a:cs typeface="Arial"/>
              </a:rPr>
              <a:t>une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spc="-60" dirty="0">
                <a:latin typeface="Arial"/>
                <a:cs typeface="Arial"/>
              </a:rPr>
              <a:t>structure</a:t>
            </a:r>
            <a:r>
              <a:rPr sz="2600" spc="30" dirty="0">
                <a:latin typeface="Arial"/>
                <a:cs typeface="Arial"/>
              </a:rPr>
              <a:t> </a:t>
            </a:r>
            <a:r>
              <a:rPr sz="2600" spc="-114" dirty="0">
                <a:latin typeface="Arial"/>
                <a:cs typeface="Arial"/>
              </a:rPr>
              <a:t>cohérente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105" dirty="0">
                <a:latin typeface="Arial"/>
                <a:cs typeface="Arial"/>
              </a:rPr>
              <a:t>où </a:t>
            </a:r>
            <a:r>
              <a:rPr sz="2600" spc="-25" dirty="0">
                <a:latin typeface="Arial"/>
                <a:cs typeface="Arial"/>
              </a:rPr>
              <a:t>la </a:t>
            </a:r>
            <a:r>
              <a:rPr sz="2600" spc="-60" dirty="0">
                <a:latin typeface="Arial"/>
                <a:cs typeface="Arial"/>
              </a:rPr>
              <a:t>complexité</a:t>
            </a:r>
            <a:r>
              <a:rPr sz="2600" spc="-125" dirty="0">
                <a:latin typeface="Arial"/>
                <a:cs typeface="Arial"/>
              </a:rPr>
              <a:t> </a:t>
            </a:r>
            <a:r>
              <a:rPr sz="2600" spc="-90" dirty="0">
                <a:latin typeface="Arial"/>
                <a:cs typeface="Arial"/>
              </a:rPr>
              <a:t>la </a:t>
            </a:r>
            <a:r>
              <a:rPr sz="2600" spc="-80" dirty="0">
                <a:latin typeface="Arial"/>
                <a:cs typeface="Arial"/>
              </a:rPr>
              <a:t>plus</a:t>
            </a:r>
            <a:r>
              <a:rPr sz="2600" spc="-100" dirty="0">
                <a:latin typeface="Arial"/>
                <a:cs typeface="Arial"/>
              </a:rPr>
              <a:t> </a:t>
            </a:r>
            <a:r>
              <a:rPr sz="2600" spc="-65" dirty="0">
                <a:latin typeface="Arial"/>
                <a:cs typeface="Arial"/>
              </a:rPr>
              <a:t>profonde</a:t>
            </a:r>
            <a:r>
              <a:rPr sz="2600" spc="-114" dirty="0">
                <a:latin typeface="Arial"/>
                <a:cs typeface="Arial"/>
              </a:rPr>
              <a:t> </a:t>
            </a:r>
            <a:r>
              <a:rPr sz="2600" spc="-65" dirty="0">
                <a:latin typeface="Arial"/>
                <a:cs typeface="Arial"/>
              </a:rPr>
              <a:t>soutient</a:t>
            </a:r>
            <a:r>
              <a:rPr sz="2600" spc="-60" dirty="0">
                <a:latin typeface="Arial"/>
                <a:cs typeface="Arial"/>
              </a:rPr>
              <a:t> l'application</a:t>
            </a:r>
            <a:r>
              <a:rPr sz="2600" spc="30" dirty="0">
                <a:latin typeface="Arial"/>
                <a:cs typeface="Arial"/>
              </a:rPr>
              <a:t> </a:t>
            </a:r>
            <a:r>
              <a:rPr sz="2600" spc="-90" dirty="0">
                <a:latin typeface="Arial"/>
                <a:cs typeface="Arial"/>
              </a:rPr>
              <a:t>la </a:t>
            </a:r>
            <a:r>
              <a:rPr sz="2600" spc="-50" dirty="0">
                <a:latin typeface="Arial"/>
                <a:cs typeface="Arial"/>
              </a:rPr>
              <a:t>plus</a:t>
            </a:r>
            <a:r>
              <a:rPr sz="2600" spc="-10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simple.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30"/>
              </a:spcBef>
            </a:pPr>
            <a:endParaRPr sz="2600">
              <a:latin typeface="Arial"/>
              <a:cs typeface="Arial"/>
            </a:endParaRPr>
          </a:p>
          <a:p>
            <a:pPr marL="8002270">
              <a:lnSpc>
                <a:spcPts val="2790"/>
              </a:lnSpc>
              <a:spcBef>
                <a:spcPts val="5"/>
              </a:spcBef>
            </a:pPr>
            <a:r>
              <a:rPr sz="2400" spc="-235" dirty="0">
                <a:latin typeface="Arial"/>
                <a:cs typeface="Arial"/>
              </a:rPr>
              <a:t>Réseau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Décisionnel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Adaptatif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(ACDN)</a:t>
            </a:r>
            <a:endParaRPr sz="2400">
              <a:latin typeface="Arial"/>
              <a:cs typeface="Arial"/>
            </a:endParaRPr>
          </a:p>
          <a:p>
            <a:pPr marL="8027034">
              <a:lnSpc>
                <a:spcPts val="2070"/>
              </a:lnSpc>
            </a:pPr>
            <a:r>
              <a:rPr sz="1800" spc="-200" dirty="0">
                <a:solidFill>
                  <a:srgbClr val="95856B"/>
                </a:solidFill>
                <a:latin typeface="Arial"/>
                <a:cs typeface="Arial"/>
              </a:rPr>
              <a:t>•fLa</a:t>
            </a:r>
            <a:r>
              <a:rPr sz="1800" spc="100" dirty="0">
                <a:solidFill>
                  <a:srgbClr val="95856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897454"/>
                </a:solidFill>
                <a:latin typeface="Arial"/>
                <a:cs typeface="Arial"/>
              </a:rPr>
              <a:t>D'‘cisiGn)</a:t>
            </a:r>
            <a:endParaRPr sz="1800">
              <a:latin typeface="Arial"/>
              <a:cs typeface="Arial"/>
            </a:endParaRPr>
          </a:p>
          <a:p>
            <a:pPr marL="8324850">
              <a:lnSpc>
                <a:spcPts val="2135"/>
              </a:lnSpc>
              <a:spcBef>
                <a:spcPts val="90"/>
              </a:spcBef>
            </a:pPr>
            <a:r>
              <a:rPr sz="1850" spc="-145" dirty="0">
                <a:latin typeface="Arial"/>
                <a:cs typeface="Arial"/>
              </a:rPr>
              <a:t>Function.</a:t>
            </a:r>
            <a:r>
              <a:rPr sz="1850" spc="70" dirty="0">
                <a:latin typeface="Arial"/>
                <a:cs typeface="Arial"/>
              </a:rPr>
              <a:t> </a:t>
            </a:r>
            <a:r>
              <a:rPr sz="1850" spc="-135" dirty="0">
                <a:latin typeface="Arial"/>
                <a:cs typeface="Arial"/>
              </a:rPr>
              <a:t>Recommandations</a:t>
            </a:r>
            <a:r>
              <a:rPr sz="1850" spc="25" dirty="0">
                <a:latin typeface="Arial"/>
                <a:cs typeface="Arial"/>
              </a:rPr>
              <a:t> </a:t>
            </a:r>
            <a:r>
              <a:rPr sz="1850" spc="-120" dirty="0">
                <a:latin typeface="Arial"/>
                <a:cs typeface="Arial"/>
              </a:rPr>
              <a:t>thérapeutiques</a:t>
            </a:r>
            <a:r>
              <a:rPr sz="1850" spc="-135" dirty="0">
                <a:latin typeface="Arial"/>
                <a:cs typeface="Arial"/>
              </a:rPr>
              <a:t> </a:t>
            </a:r>
            <a:r>
              <a:rPr sz="1850" spc="-120" dirty="0">
                <a:latin typeface="Arial"/>
                <a:cs typeface="Arial"/>
              </a:rPr>
              <a:t>personnalisées</a:t>
            </a:r>
            <a:r>
              <a:rPr sz="1850" spc="-55" dirty="0">
                <a:latin typeface="Arial"/>
                <a:cs typeface="Arial"/>
              </a:rPr>
              <a:t> </a:t>
            </a:r>
            <a:r>
              <a:rPr sz="1850" spc="-25" dirty="0">
                <a:latin typeface="Arial"/>
                <a:cs typeface="Arial"/>
              </a:rPr>
              <a:t>et</a:t>
            </a:r>
            <a:endParaRPr sz="1850">
              <a:latin typeface="Arial"/>
              <a:cs typeface="Arial"/>
            </a:endParaRPr>
          </a:p>
          <a:p>
            <a:pPr marL="8317230">
              <a:lnSpc>
                <a:spcPts val="1955"/>
              </a:lnSpc>
            </a:pPr>
            <a:r>
              <a:rPr sz="1700" spc="-10" dirty="0">
                <a:latin typeface="Arial"/>
                <a:cs typeface="Arial"/>
              </a:rPr>
              <a:t>interprétables.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 marL="8944610">
              <a:lnSpc>
                <a:spcPts val="2480"/>
              </a:lnSpc>
              <a:spcBef>
                <a:spcPts val="5"/>
              </a:spcBef>
            </a:pPr>
            <a:r>
              <a:rPr sz="2300" spc="-110" dirty="0">
                <a:latin typeface="Arial"/>
                <a:cs typeface="Arial"/>
              </a:rPr>
              <a:t>Noyaux</a:t>
            </a:r>
            <a:r>
              <a:rPr sz="2300" spc="-5" dirty="0">
                <a:latin typeface="Arial"/>
                <a:cs typeface="Arial"/>
              </a:rPr>
              <a:t> </a:t>
            </a:r>
            <a:r>
              <a:rPr sz="2300" spc="-85" dirty="0">
                <a:latin typeface="Arial"/>
                <a:cs typeface="Arial"/>
              </a:rPr>
              <a:t>de</a:t>
            </a:r>
            <a:r>
              <a:rPr sz="2300" spc="-140" dirty="0">
                <a:latin typeface="Arial"/>
                <a:cs typeface="Arial"/>
              </a:rPr>
              <a:t> </a:t>
            </a:r>
            <a:r>
              <a:rPr sz="2300" spc="-100" dirty="0">
                <a:latin typeface="Arial"/>
                <a:cs typeface="Arial"/>
              </a:rPr>
              <a:t>Triage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et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d'imputation</a:t>
            </a:r>
            <a:endParaRPr sz="2300">
              <a:latin typeface="Arial"/>
              <a:cs typeface="Arial"/>
            </a:endParaRPr>
          </a:p>
          <a:p>
            <a:pPr marL="10670540">
              <a:lnSpc>
                <a:spcPts val="2360"/>
              </a:lnSpc>
            </a:pPr>
            <a:r>
              <a:rPr sz="2200" spc="-25" dirty="0">
                <a:solidFill>
                  <a:srgbClr val="908266"/>
                </a:solidFill>
                <a:latin typeface="Arial"/>
                <a:cs typeface="Arial"/>
              </a:rPr>
              <a:t>et</a:t>
            </a:r>
            <a:endParaRPr sz="2200">
              <a:latin typeface="Arial"/>
              <a:cs typeface="Arial"/>
            </a:endParaRPr>
          </a:p>
          <a:p>
            <a:pPr marL="9239250">
              <a:lnSpc>
                <a:spcPts val="2060"/>
              </a:lnSpc>
              <a:spcBef>
                <a:spcPts val="10"/>
              </a:spcBef>
            </a:pPr>
            <a:r>
              <a:rPr sz="1850" spc="-140" dirty="0">
                <a:latin typeface="Arial"/>
                <a:cs typeface="Arial"/>
              </a:rPr>
              <a:t>Function:</a:t>
            </a:r>
            <a:r>
              <a:rPr sz="1850" spc="-15" dirty="0">
                <a:latin typeface="Arial"/>
                <a:cs typeface="Arial"/>
              </a:rPr>
              <a:t> </a:t>
            </a:r>
            <a:r>
              <a:rPr sz="1850" spc="-180" dirty="0">
                <a:latin typeface="Arial"/>
                <a:cs typeface="Arial"/>
              </a:rPr>
              <a:t>Organise</a:t>
            </a:r>
            <a:r>
              <a:rPr sz="1850" spc="90" dirty="0">
                <a:latin typeface="Arial"/>
                <a:cs typeface="Arial"/>
              </a:rPr>
              <a:t> </a:t>
            </a:r>
            <a:r>
              <a:rPr sz="1850" spc="-165" dirty="0">
                <a:latin typeface="Arial"/>
                <a:cs typeface="Arial"/>
              </a:rPr>
              <a:t>et</a:t>
            </a:r>
            <a:r>
              <a:rPr sz="1850" spc="-25" dirty="0">
                <a:latin typeface="Arial"/>
                <a:cs typeface="Arial"/>
              </a:rPr>
              <a:t> </a:t>
            </a:r>
            <a:r>
              <a:rPr sz="1850" spc="-145" dirty="0">
                <a:latin typeface="Arial"/>
                <a:cs typeface="Arial"/>
              </a:rPr>
              <a:t>complète</a:t>
            </a:r>
            <a:r>
              <a:rPr sz="1850" spc="15" dirty="0">
                <a:latin typeface="Arial"/>
                <a:cs typeface="Arial"/>
              </a:rPr>
              <a:t> </a:t>
            </a:r>
            <a:r>
              <a:rPr sz="1850" spc="-125" dirty="0">
                <a:latin typeface="Arial"/>
                <a:cs typeface="Arial"/>
              </a:rPr>
              <a:t>les</a:t>
            </a:r>
            <a:r>
              <a:rPr sz="1850" spc="-40" dirty="0">
                <a:latin typeface="Arial"/>
                <a:cs typeface="Arial"/>
              </a:rPr>
              <a:t> </a:t>
            </a:r>
            <a:r>
              <a:rPr sz="1850" spc="-180" dirty="0">
                <a:latin typeface="Arial"/>
                <a:cs typeface="Arial"/>
              </a:rPr>
              <a:t>données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114" dirty="0">
                <a:latin typeface="Arial"/>
                <a:cs typeface="Arial"/>
              </a:rPr>
              <a:t>cliniques</a:t>
            </a:r>
            <a:r>
              <a:rPr sz="1850" spc="35" dirty="0">
                <a:latin typeface="Arial"/>
                <a:cs typeface="Arial"/>
              </a:rPr>
              <a:t> </a:t>
            </a:r>
            <a:r>
              <a:rPr sz="1850" spc="-175" dirty="0">
                <a:latin typeface="Arial"/>
                <a:cs typeface="Arial"/>
              </a:rPr>
              <a:t>du</a:t>
            </a:r>
            <a:r>
              <a:rPr sz="1850" spc="-80" dirty="0">
                <a:latin typeface="Arial"/>
                <a:cs typeface="Arial"/>
              </a:rPr>
              <a:t> </a:t>
            </a:r>
            <a:r>
              <a:rPr sz="1850" spc="-10" dirty="0">
                <a:latin typeface="Arial"/>
                <a:cs typeface="Arial"/>
              </a:rPr>
              <a:t>monde</a:t>
            </a:r>
            <a:endParaRPr sz="1850">
              <a:latin typeface="Arial"/>
              <a:cs typeface="Arial"/>
            </a:endParaRPr>
          </a:p>
          <a:p>
            <a:pPr marL="9229725">
              <a:lnSpc>
                <a:spcPts val="2180"/>
              </a:lnSpc>
            </a:pPr>
            <a:r>
              <a:rPr sz="1950" spc="-165" dirty="0">
                <a:latin typeface="Arial"/>
                <a:cs typeface="Arial"/>
              </a:rPr>
              <a:t>réel</a:t>
            </a:r>
            <a:r>
              <a:rPr sz="1950" spc="-150" dirty="0">
                <a:latin typeface="Arial"/>
                <a:cs typeface="Arial"/>
              </a:rPr>
              <a:t> </a:t>
            </a:r>
            <a:r>
              <a:rPr sz="1950" spc="-235" dirty="0">
                <a:latin typeface="Arial"/>
                <a:cs typeface="Arial"/>
              </a:rPr>
              <a:t>en</a:t>
            </a:r>
            <a:r>
              <a:rPr sz="1950" spc="-125" dirty="0">
                <a:latin typeface="Arial"/>
                <a:cs typeface="Arial"/>
              </a:rPr>
              <a:t> </a:t>
            </a:r>
            <a:r>
              <a:rPr sz="1950" spc="-120" dirty="0">
                <a:latin typeface="Arial"/>
                <a:cs typeface="Arial"/>
              </a:rPr>
              <a:t>utilisant</a:t>
            </a:r>
            <a:r>
              <a:rPr sz="1950" spc="85" dirty="0">
                <a:latin typeface="Arial"/>
                <a:cs typeface="Arial"/>
              </a:rPr>
              <a:t> </a:t>
            </a:r>
            <a:r>
              <a:rPr sz="1950" spc="-250" dirty="0">
                <a:latin typeface="Arial"/>
                <a:cs typeface="Arial"/>
              </a:rPr>
              <a:t>des</a:t>
            </a:r>
            <a:r>
              <a:rPr sz="1950" spc="-55" dirty="0">
                <a:latin typeface="Arial"/>
                <a:cs typeface="Arial"/>
              </a:rPr>
              <a:t> </a:t>
            </a:r>
            <a:r>
              <a:rPr sz="1950" spc="-175" dirty="0">
                <a:latin typeface="Arial"/>
                <a:cs typeface="Arial"/>
              </a:rPr>
              <a:t>principes</a:t>
            </a:r>
            <a:r>
              <a:rPr sz="1950" spc="40" dirty="0">
                <a:latin typeface="Arial"/>
                <a:cs typeface="Arial"/>
              </a:rPr>
              <a:t> </a:t>
            </a:r>
            <a:r>
              <a:rPr sz="1950" spc="-110" dirty="0">
                <a:latin typeface="Arial"/>
                <a:cs typeface="Arial"/>
              </a:rPr>
              <a:t>biophysiques.</a:t>
            </a:r>
            <a:endParaRPr sz="1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950">
              <a:latin typeface="Arial"/>
              <a:cs typeface="Arial"/>
            </a:endParaRPr>
          </a:p>
          <a:p>
            <a:pPr marL="9862185" indent="-635">
              <a:lnSpc>
                <a:spcPct val="100000"/>
              </a:lnSpc>
            </a:pPr>
            <a:r>
              <a:rPr sz="2150" dirty="0">
                <a:latin typeface="Arial"/>
                <a:cs typeface="Arial"/>
              </a:rPr>
              <a:t>Théorie</a:t>
            </a:r>
            <a:r>
              <a:rPr sz="2150" spc="20" dirty="0">
                <a:latin typeface="Arial"/>
                <a:cs typeface="Arial"/>
              </a:rPr>
              <a:t> </a:t>
            </a:r>
            <a:r>
              <a:rPr sz="2150" spc="55" dirty="0">
                <a:latin typeface="Arial"/>
                <a:cs typeface="Arial"/>
              </a:rPr>
              <a:t>de</a:t>
            </a:r>
            <a:r>
              <a:rPr sz="2150" spc="-120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la</a:t>
            </a:r>
            <a:r>
              <a:rPr sz="2150" spc="-75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Simplification</a:t>
            </a:r>
            <a:r>
              <a:rPr sz="2150" spc="-95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Essentielle</a:t>
            </a:r>
            <a:r>
              <a:rPr sz="2150" spc="170" dirty="0">
                <a:latin typeface="Arial"/>
                <a:cs typeface="Arial"/>
              </a:rPr>
              <a:t> </a:t>
            </a:r>
            <a:r>
              <a:rPr sz="2150" spc="-10" dirty="0">
                <a:latin typeface="Arial"/>
                <a:cs typeface="Arial"/>
              </a:rPr>
              <a:t>(EST)</a:t>
            </a:r>
            <a:endParaRPr sz="2150">
              <a:latin typeface="Arial"/>
              <a:cs typeface="Arial"/>
            </a:endParaRPr>
          </a:p>
          <a:p>
            <a:pPr marL="9859010" marR="344170" indent="2540">
              <a:lnSpc>
                <a:spcPts val="1950"/>
              </a:lnSpc>
              <a:spcBef>
                <a:spcPts val="2410"/>
              </a:spcBef>
            </a:pPr>
            <a:r>
              <a:rPr sz="1800" spc="-120" dirty="0">
                <a:latin typeface="Arial"/>
                <a:cs typeface="Arial"/>
              </a:rPr>
              <a:t>Function: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65" dirty="0">
                <a:latin typeface="Arial"/>
                <a:cs typeface="Arial"/>
              </a:rPr>
              <a:t>Disti1le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spc="-125" dirty="0">
                <a:latin typeface="Arial"/>
                <a:cs typeface="Arial"/>
              </a:rPr>
              <a:t>des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spc="-135" dirty="0">
                <a:latin typeface="Arial"/>
                <a:cs typeface="Arial"/>
              </a:rPr>
              <a:t>modèles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pratiques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spc="-210" dirty="0">
                <a:latin typeface="Arial"/>
                <a:cs typeface="Arial"/>
              </a:rPr>
              <a:t>à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75" dirty="0">
                <a:latin typeface="Arial"/>
                <a:cs typeface="Arial"/>
              </a:rPr>
              <a:t>partir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spc="-180" dirty="0">
                <a:latin typeface="Arial"/>
                <a:cs typeface="Arial"/>
              </a:rPr>
              <a:t>de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50" dirty="0">
                <a:latin typeface="Arial"/>
                <a:cs typeface="Arial"/>
              </a:rPr>
              <a:t>la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théorie </a:t>
            </a:r>
            <a:r>
              <a:rPr sz="1800" spc="-100" dirty="0">
                <a:latin typeface="Arial"/>
                <a:cs typeface="Arial"/>
              </a:rPr>
              <a:t>complète,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200" dirty="0">
                <a:latin typeface="Arial"/>
                <a:cs typeface="Arial"/>
              </a:rPr>
              <a:t>en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120" dirty="0">
                <a:latin typeface="Arial"/>
                <a:cs typeface="Arial"/>
              </a:rPr>
              <a:t>préservant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45" dirty="0">
                <a:latin typeface="Arial"/>
                <a:cs typeface="Arial"/>
              </a:rPr>
              <a:t>l'effet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105" dirty="0">
                <a:latin typeface="Arial"/>
                <a:cs typeface="Arial"/>
              </a:rPr>
              <a:t>biologique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essentiel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800">
              <a:latin typeface="Arial"/>
              <a:cs typeface="Arial"/>
            </a:endParaRPr>
          </a:p>
          <a:p>
            <a:pPr marL="10743565">
              <a:lnSpc>
                <a:spcPct val="100000"/>
              </a:lnSpc>
            </a:pPr>
            <a:r>
              <a:rPr sz="2150" spc="-10" dirty="0">
                <a:latin typeface="Arial"/>
                <a:cs typeface="Arial"/>
              </a:rPr>
              <a:t>Cadre</a:t>
            </a:r>
            <a:r>
              <a:rPr sz="2150" spc="-75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Cosmique</a:t>
            </a:r>
            <a:r>
              <a:rPr sz="2150" spc="-75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Surintégré</a:t>
            </a:r>
            <a:r>
              <a:rPr sz="2150" spc="-55" dirty="0">
                <a:latin typeface="Arial"/>
                <a:cs typeface="Arial"/>
              </a:rPr>
              <a:t> </a:t>
            </a:r>
            <a:r>
              <a:rPr sz="2150" spc="-70" dirty="0">
                <a:latin typeface="Arial"/>
                <a:cs typeface="Arial"/>
              </a:rPr>
              <a:t>(UHCF-</a:t>
            </a:r>
            <a:r>
              <a:rPr sz="2150" spc="-25" dirty="0">
                <a:latin typeface="Arial"/>
                <a:cs typeface="Arial"/>
              </a:rPr>
              <a:t>OM)</a:t>
            </a:r>
            <a:endParaRPr sz="2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2150">
              <a:latin typeface="Arial"/>
              <a:cs typeface="Arial"/>
            </a:endParaRPr>
          </a:p>
          <a:p>
            <a:pPr marL="10741025" marR="5080" indent="6985">
              <a:lnSpc>
                <a:spcPct val="95800"/>
              </a:lnSpc>
            </a:pPr>
            <a:r>
              <a:rPr sz="1700" spc="65" dirty="0">
                <a:latin typeface="Arial Narrow"/>
                <a:cs typeface="Arial Narrow"/>
              </a:rPr>
              <a:t>Capture</a:t>
            </a:r>
            <a:r>
              <a:rPr sz="1700" spc="90" dirty="0">
                <a:latin typeface="Arial Narrow"/>
                <a:cs typeface="Arial Narrow"/>
              </a:rPr>
              <a:t> </a:t>
            </a:r>
            <a:r>
              <a:rPr sz="1700" dirty="0">
                <a:latin typeface="Arial Narrow"/>
                <a:cs typeface="Arial Narrow"/>
              </a:rPr>
              <a:t>:</a:t>
            </a:r>
            <a:r>
              <a:rPr sz="1700" spc="35" dirty="0">
                <a:latin typeface="Arial Narrow"/>
                <a:cs typeface="Arial Narrow"/>
              </a:rPr>
              <a:t> </a:t>
            </a:r>
            <a:r>
              <a:rPr sz="1700" spc="50" dirty="0">
                <a:latin typeface="Arial Narrow"/>
                <a:cs typeface="Arial Narrow"/>
              </a:rPr>
              <a:t>la</a:t>
            </a:r>
            <a:r>
              <a:rPr sz="1700" spc="130" dirty="0">
                <a:latin typeface="Arial Narrow"/>
                <a:cs typeface="Arial Narrow"/>
              </a:rPr>
              <a:t> </a:t>
            </a:r>
            <a:r>
              <a:rPr sz="1700" spc="65" dirty="0">
                <a:latin typeface="Arial Narrow"/>
                <a:cs typeface="Arial Narrow"/>
              </a:rPr>
              <a:t>réalité</a:t>
            </a:r>
            <a:r>
              <a:rPr sz="1700" spc="15" dirty="0">
                <a:latin typeface="Arial Narrow"/>
                <a:cs typeface="Arial Narrow"/>
              </a:rPr>
              <a:t> </a:t>
            </a:r>
            <a:r>
              <a:rPr sz="1700" spc="80" dirty="0">
                <a:latin typeface="Arial Narrow"/>
                <a:cs typeface="Arial Narrow"/>
              </a:rPr>
              <a:t>biblologique</a:t>
            </a:r>
            <a:r>
              <a:rPr sz="1700" spc="155" dirty="0">
                <a:latin typeface="Arial Narrow"/>
                <a:cs typeface="Arial Narrow"/>
              </a:rPr>
              <a:t> </a:t>
            </a:r>
            <a:r>
              <a:rPr sz="1700" spc="100" dirty="0">
                <a:latin typeface="Arial Narrow"/>
                <a:cs typeface="Arial Narrow"/>
              </a:rPr>
              <a:t>complète</a:t>
            </a:r>
            <a:r>
              <a:rPr sz="1700" spc="105" dirty="0">
                <a:latin typeface="Arial Narrow"/>
                <a:cs typeface="Arial Narrow"/>
              </a:rPr>
              <a:t> </a:t>
            </a:r>
            <a:r>
              <a:rPr sz="1700" spc="90" dirty="0">
                <a:latin typeface="Arial Narrow"/>
                <a:cs typeface="Arial Narrow"/>
              </a:rPr>
              <a:t>du</a:t>
            </a:r>
            <a:r>
              <a:rPr sz="1700" spc="-30" dirty="0">
                <a:latin typeface="Arial Narrow"/>
                <a:cs typeface="Arial Narrow"/>
              </a:rPr>
              <a:t> </a:t>
            </a:r>
            <a:r>
              <a:rPr sz="1700" spc="70" dirty="0">
                <a:latin typeface="Arial Narrow"/>
                <a:cs typeface="Arial Narrow"/>
              </a:rPr>
              <a:t>cancer</a:t>
            </a:r>
            <a:r>
              <a:rPr sz="1700" spc="190" dirty="0">
                <a:latin typeface="Arial Narrow"/>
                <a:cs typeface="Arial Narrow"/>
              </a:rPr>
              <a:t> </a:t>
            </a:r>
            <a:r>
              <a:rPr sz="1700" spc="-50" dirty="0">
                <a:latin typeface="Arial Narrow"/>
                <a:cs typeface="Arial Narrow"/>
              </a:rPr>
              <a:t>ä </a:t>
            </a:r>
            <a:r>
              <a:rPr sz="1650" spc="-25" dirty="0">
                <a:latin typeface="Arial"/>
                <a:cs typeface="Arial"/>
              </a:rPr>
              <a:t>travers</a:t>
            </a:r>
            <a:r>
              <a:rPr sz="1650" spc="-95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16</a:t>
            </a:r>
            <a:r>
              <a:rPr sz="1650" spc="-114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systèmes</a:t>
            </a:r>
            <a:r>
              <a:rPr sz="1650" spc="1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et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spc="-65" dirty="0">
                <a:latin typeface="Arial"/>
                <a:cs typeface="Arial"/>
              </a:rPr>
              <a:t>une</a:t>
            </a:r>
            <a:r>
              <a:rPr sz="1650" spc="-50" dirty="0">
                <a:latin typeface="Arial"/>
                <a:cs typeface="Arial"/>
              </a:rPr>
              <a:t> </a:t>
            </a:r>
            <a:r>
              <a:rPr sz="1650" dirty="0">
                <a:latin typeface="Arial"/>
                <a:cs typeface="Arial"/>
              </a:rPr>
              <a:t>formulation</a:t>
            </a:r>
            <a:r>
              <a:rPr sz="1650" spc="-45" dirty="0">
                <a:latin typeface="Arial"/>
                <a:cs typeface="Arial"/>
              </a:rPr>
              <a:t> </a:t>
            </a:r>
            <a:r>
              <a:rPr sz="1650" spc="-10" dirty="0">
                <a:latin typeface="Arial"/>
                <a:cs typeface="Arial"/>
              </a:rPr>
              <a:t>mathématique </a:t>
            </a:r>
            <a:r>
              <a:rPr sz="1700" spc="-70" dirty="0">
                <a:latin typeface="Arial"/>
                <a:cs typeface="Arial"/>
              </a:rPr>
              <a:t>rigoureuse.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C'est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la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"vérité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fondamentale"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du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système.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06012" y="9413522"/>
            <a:ext cx="123063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dirty="0">
                <a:latin typeface="Arial"/>
                <a:cs typeface="Arial"/>
              </a:rPr>
              <a:t>G</a:t>
            </a:r>
            <a:r>
              <a:rPr sz="1500" spc="275" dirty="0">
                <a:latin typeface="Arial"/>
                <a:cs typeface="Arial"/>
              </a:rPr>
              <a:t> </a:t>
            </a:r>
            <a:r>
              <a:rPr sz="1500" spc="-90" dirty="0">
                <a:latin typeface="Arial"/>
                <a:cs typeface="Arial"/>
              </a:rPr>
              <a:t>NotebookLM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8343900"/>
            <a:ext cx="863600" cy="889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40500" y="8318500"/>
            <a:ext cx="939800" cy="9525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197600" y="819150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12700">
            <a:solidFill>
              <a:srgbClr val="67676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08900" y="4445000"/>
            <a:ext cx="2222500" cy="5969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747500" y="8470900"/>
            <a:ext cx="965200" cy="5969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40700" y="4051300"/>
            <a:ext cx="939800" cy="3937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73455" y="560916"/>
            <a:ext cx="15259050" cy="914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800" spc="-465" dirty="0"/>
              <a:t>Un</a:t>
            </a:r>
            <a:r>
              <a:rPr sz="5800" spc="110" dirty="0"/>
              <a:t> </a:t>
            </a:r>
            <a:r>
              <a:rPr sz="5800" spc="-300" dirty="0"/>
              <a:t>Nouveau</a:t>
            </a:r>
            <a:r>
              <a:rPr sz="5800" spc="250" dirty="0"/>
              <a:t> </a:t>
            </a:r>
            <a:r>
              <a:rPr sz="5800" spc="-105" dirty="0"/>
              <a:t>Paradigme</a:t>
            </a:r>
            <a:r>
              <a:rPr sz="5800" spc="110" dirty="0"/>
              <a:t> </a:t>
            </a:r>
            <a:r>
              <a:rPr sz="5800" spc="-30" dirty="0"/>
              <a:t>pour</a:t>
            </a:r>
            <a:r>
              <a:rPr sz="5800" spc="-315" dirty="0"/>
              <a:t> </a:t>
            </a:r>
            <a:r>
              <a:rPr sz="5800" spc="-145" dirty="0"/>
              <a:t>l'Oncologie</a:t>
            </a:r>
            <a:r>
              <a:rPr sz="5800" spc="204" dirty="0"/>
              <a:t> </a:t>
            </a:r>
            <a:r>
              <a:rPr sz="5800" dirty="0"/>
              <a:t>de</a:t>
            </a:r>
            <a:r>
              <a:rPr sz="5800" spc="-110" dirty="0"/>
              <a:t> </a:t>
            </a:r>
            <a:r>
              <a:rPr sz="5800" spc="-80" dirty="0"/>
              <a:t>Précision</a:t>
            </a:r>
            <a:endParaRPr sz="5800"/>
          </a:p>
        </p:txBody>
      </p:sp>
      <p:sp>
        <p:nvSpPr>
          <p:cNvPr id="9" name="object 9"/>
          <p:cNvSpPr txBox="1"/>
          <p:nvPr/>
        </p:nvSpPr>
        <p:spPr>
          <a:xfrm>
            <a:off x="966778" y="1591380"/>
            <a:ext cx="14222094" cy="76644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5240" marR="5080" indent="-3175">
              <a:lnSpc>
                <a:spcPts val="2750"/>
              </a:lnSpc>
              <a:spcBef>
                <a:spcPts val="470"/>
              </a:spcBef>
            </a:pPr>
            <a:r>
              <a:rPr sz="2550" spc="-285" dirty="0">
                <a:latin typeface="Arial"/>
                <a:cs typeface="Arial"/>
              </a:rPr>
              <a:t>La</a:t>
            </a:r>
            <a:r>
              <a:rPr sz="2550" spc="60" dirty="0">
                <a:latin typeface="Arial"/>
                <a:cs typeface="Arial"/>
              </a:rPr>
              <a:t> </a:t>
            </a:r>
            <a:r>
              <a:rPr sz="2550" spc="-125" dirty="0">
                <a:latin typeface="Arial"/>
                <a:cs typeface="Arial"/>
              </a:rPr>
              <a:t>véritable</a:t>
            </a:r>
            <a:r>
              <a:rPr sz="2550" spc="-55" dirty="0">
                <a:latin typeface="Arial"/>
                <a:cs typeface="Arial"/>
              </a:rPr>
              <a:t> </a:t>
            </a:r>
            <a:r>
              <a:rPr sz="2550" spc="-160" dirty="0">
                <a:latin typeface="Arial"/>
                <a:cs typeface="Arial"/>
              </a:rPr>
              <a:t>valeur</a:t>
            </a:r>
            <a:r>
              <a:rPr sz="2550" spc="25" dirty="0">
                <a:latin typeface="Arial"/>
                <a:cs typeface="Arial"/>
              </a:rPr>
              <a:t> </a:t>
            </a:r>
            <a:r>
              <a:rPr sz="2550" spc="-165" dirty="0">
                <a:latin typeface="Arial"/>
                <a:cs typeface="Arial"/>
              </a:rPr>
              <a:t>de</a:t>
            </a:r>
            <a:r>
              <a:rPr sz="2550" spc="-150" dirty="0">
                <a:latin typeface="Arial"/>
                <a:cs typeface="Arial"/>
              </a:rPr>
              <a:t> </a:t>
            </a:r>
            <a:r>
              <a:rPr sz="2550" spc="-145" dirty="0">
                <a:latin typeface="Arial"/>
                <a:cs typeface="Arial"/>
              </a:rPr>
              <a:t>ce</a:t>
            </a:r>
            <a:r>
              <a:rPr sz="2550" spc="-155" dirty="0">
                <a:latin typeface="Arial"/>
                <a:cs typeface="Arial"/>
              </a:rPr>
              <a:t> </a:t>
            </a:r>
            <a:r>
              <a:rPr sz="2550" spc="-160" dirty="0">
                <a:latin typeface="Arial"/>
                <a:cs typeface="Arial"/>
              </a:rPr>
              <a:t>cadre</a:t>
            </a:r>
            <a:r>
              <a:rPr sz="2550" spc="-25" dirty="0">
                <a:latin typeface="Arial"/>
                <a:cs typeface="Arial"/>
              </a:rPr>
              <a:t> </a:t>
            </a:r>
            <a:r>
              <a:rPr sz="2550" spc="-125" dirty="0">
                <a:latin typeface="Arial"/>
                <a:cs typeface="Arial"/>
              </a:rPr>
              <a:t>n'est</a:t>
            </a:r>
            <a:r>
              <a:rPr sz="2550" spc="-60" dirty="0">
                <a:latin typeface="Arial"/>
                <a:cs typeface="Arial"/>
              </a:rPr>
              <a:t> </a:t>
            </a:r>
            <a:r>
              <a:rPr sz="2550" spc="-170" dirty="0">
                <a:latin typeface="Arial"/>
                <a:cs typeface="Arial"/>
              </a:rPr>
              <a:t>pas</a:t>
            </a:r>
            <a:r>
              <a:rPr sz="2550" spc="-70" dirty="0">
                <a:latin typeface="Arial"/>
                <a:cs typeface="Arial"/>
              </a:rPr>
              <a:t> </a:t>
            </a:r>
            <a:r>
              <a:rPr sz="2550" spc="-185" dirty="0">
                <a:latin typeface="Arial"/>
                <a:cs typeface="Arial"/>
              </a:rPr>
              <a:t>dans</a:t>
            </a:r>
            <a:r>
              <a:rPr sz="2550" spc="-40" dirty="0">
                <a:latin typeface="Arial"/>
                <a:cs typeface="Arial"/>
              </a:rPr>
              <a:t> </a:t>
            </a:r>
            <a:r>
              <a:rPr sz="2550" spc="-210" dirty="0">
                <a:latin typeface="Arial"/>
                <a:cs typeface="Arial"/>
              </a:rPr>
              <a:t>la</a:t>
            </a:r>
            <a:r>
              <a:rPr sz="2550" spc="-30" dirty="0">
                <a:latin typeface="Arial"/>
                <a:cs typeface="Arial"/>
              </a:rPr>
              <a:t> </a:t>
            </a:r>
            <a:r>
              <a:rPr sz="2550" spc="-140" dirty="0">
                <a:latin typeface="Arial"/>
                <a:cs typeface="Arial"/>
              </a:rPr>
              <a:t>complexité</a:t>
            </a:r>
            <a:r>
              <a:rPr sz="2550" spc="90" dirty="0">
                <a:latin typeface="Arial"/>
                <a:cs typeface="Arial"/>
              </a:rPr>
              <a:t> </a:t>
            </a:r>
            <a:r>
              <a:rPr sz="2550" spc="-165" dirty="0">
                <a:latin typeface="Arial"/>
                <a:cs typeface="Arial"/>
              </a:rPr>
              <a:t>de</a:t>
            </a:r>
            <a:r>
              <a:rPr sz="2550" spc="-20" dirty="0">
                <a:latin typeface="Arial"/>
                <a:cs typeface="Arial"/>
              </a:rPr>
              <a:t> </a:t>
            </a:r>
            <a:r>
              <a:rPr sz="2550" spc="-220" dirty="0">
                <a:latin typeface="Arial"/>
                <a:cs typeface="Arial"/>
              </a:rPr>
              <a:t>ses</a:t>
            </a:r>
            <a:r>
              <a:rPr sz="2550" spc="-85" dirty="0">
                <a:latin typeface="Arial"/>
                <a:cs typeface="Arial"/>
              </a:rPr>
              <a:t> </a:t>
            </a:r>
            <a:r>
              <a:rPr sz="2550" spc="-150" dirty="0">
                <a:latin typeface="Arial"/>
                <a:cs typeface="Arial"/>
              </a:rPr>
              <a:t>équations,</a:t>
            </a:r>
            <a:r>
              <a:rPr sz="2550" spc="105" dirty="0">
                <a:latin typeface="Arial"/>
                <a:cs typeface="Arial"/>
              </a:rPr>
              <a:t> </a:t>
            </a:r>
            <a:r>
              <a:rPr sz="2550" spc="-210" dirty="0">
                <a:latin typeface="Arial"/>
                <a:cs typeface="Arial"/>
              </a:rPr>
              <a:t>mais</a:t>
            </a:r>
            <a:r>
              <a:rPr sz="2550" spc="-40" dirty="0">
                <a:latin typeface="Arial"/>
                <a:cs typeface="Arial"/>
              </a:rPr>
              <a:t> </a:t>
            </a:r>
            <a:r>
              <a:rPr sz="2550" spc="-185" dirty="0">
                <a:latin typeface="Arial"/>
                <a:cs typeface="Arial"/>
              </a:rPr>
              <a:t>dans</a:t>
            </a:r>
            <a:r>
              <a:rPr sz="2550" spc="-55" dirty="0">
                <a:latin typeface="Arial"/>
                <a:cs typeface="Arial"/>
              </a:rPr>
              <a:t> </a:t>
            </a:r>
            <a:r>
              <a:rPr sz="2550" spc="-260" dirty="0">
                <a:latin typeface="Arial"/>
                <a:cs typeface="Arial"/>
              </a:rPr>
              <a:t>sa</a:t>
            </a:r>
            <a:r>
              <a:rPr sz="2550" spc="-30" dirty="0">
                <a:latin typeface="Arial"/>
                <a:cs typeface="Arial"/>
              </a:rPr>
              <a:t> </a:t>
            </a:r>
            <a:r>
              <a:rPr sz="2550" spc="-135" dirty="0">
                <a:latin typeface="Arial"/>
                <a:cs typeface="Arial"/>
              </a:rPr>
              <a:t>capacité</a:t>
            </a:r>
            <a:r>
              <a:rPr sz="2550" spc="65" dirty="0">
                <a:latin typeface="Arial"/>
                <a:cs typeface="Arial"/>
              </a:rPr>
              <a:t> </a:t>
            </a:r>
            <a:r>
              <a:rPr sz="2550" spc="-300" dirty="0">
                <a:latin typeface="Arial"/>
                <a:cs typeface="Arial"/>
              </a:rPr>
              <a:t>à</a:t>
            </a:r>
            <a:r>
              <a:rPr sz="2550" spc="-114" dirty="0">
                <a:latin typeface="Arial"/>
                <a:cs typeface="Arial"/>
              </a:rPr>
              <a:t> </a:t>
            </a:r>
            <a:r>
              <a:rPr sz="2550" spc="-10" dirty="0">
                <a:latin typeface="Arial"/>
                <a:cs typeface="Arial"/>
              </a:rPr>
              <a:t>redéfinir </a:t>
            </a:r>
            <a:r>
              <a:rPr sz="2550" spc="-120" dirty="0">
                <a:latin typeface="Arial"/>
                <a:cs typeface="Arial"/>
              </a:rPr>
              <a:t>l'oncologie</a:t>
            </a:r>
            <a:r>
              <a:rPr sz="2550" spc="15" dirty="0">
                <a:latin typeface="Arial"/>
                <a:cs typeface="Arial"/>
              </a:rPr>
              <a:t> </a:t>
            </a:r>
            <a:r>
              <a:rPr sz="2550" spc="-155" dirty="0">
                <a:latin typeface="Arial"/>
                <a:cs typeface="Arial"/>
              </a:rPr>
              <a:t>de</a:t>
            </a:r>
            <a:r>
              <a:rPr sz="2550" spc="-20" dirty="0">
                <a:latin typeface="Arial"/>
                <a:cs typeface="Arial"/>
              </a:rPr>
              <a:t> </a:t>
            </a:r>
            <a:r>
              <a:rPr sz="2550" spc="-50" dirty="0">
                <a:latin typeface="Arial"/>
                <a:cs typeface="Arial"/>
              </a:rPr>
              <a:t>précision.</a:t>
            </a:r>
            <a:endParaRPr sz="25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0904" y="2576336"/>
            <a:ext cx="6435725" cy="206756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 marR="1069340" indent="22860">
              <a:lnSpc>
                <a:spcPts val="3200"/>
              </a:lnSpc>
              <a:spcBef>
                <a:spcPts val="800"/>
              </a:spcBef>
            </a:pPr>
            <a:r>
              <a:rPr sz="3250" spc="-135" dirty="0">
                <a:latin typeface="Times New Roman"/>
                <a:cs typeface="Times New Roman"/>
              </a:rPr>
              <a:t>Médecine</a:t>
            </a:r>
            <a:r>
              <a:rPr sz="3250" spc="5" dirty="0">
                <a:latin typeface="Times New Roman"/>
                <a:cs typeface="Times New Roman"/>
              </a:rPr>
              <a:t> </a:t>
            </a:r>
            <a:r>
              <a:rPr sz="3250" spc="-165" dirty="0">
                <a:latin typeface="Times New Roman"/>
                <a:cs typeface="Times New Roman"/>
              </a:rPr>
              <a:t>Basée</a:t>
            </a:r>
            <a:r>
              <a:rPr sz="3250" spc="-13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sur</a:t>
            </a:r>
            <a:r>
              <a:rPr sz="3250" spc="-140" dirty="0">
                <a:latin typeface="Times New Roman"/>
                <a:cs typeface="Times New Roman"/>
              </a:rPr>
              <a:t> </a:t>
            </a:r>
            <a:r>
              <a:rPr sz="3250" spc="-50" dirty="0">
                <a:latin typeface="Times New Roman"/>
                <a:cs typeface="Times New Roman"/>
              </a:rPr>
              <a:t>les</a:t>
            </a:r>
            <a:r>
              <a:rPr sz="3250" spc="-145" dirty="0">
                <a:latin typeface="Times New Roman"/>
                <a:cs typeface="Times New Roman"/>
              </a:rPr>
              <a:t> </a:t>
            </a:r>
            <a:r>
              <a:rPr sz="3250" spc="-80" dirty="0">
                <a:latin typeface="Times New Roman"/>
                <a:cs typeface="Times New Roman"/>
              </a:rPr>
              <a:t>Protocoles </a:t>
            </a:r>
            <a:r>
              <a:rPr sz="3250" spc="-180" dirty="0">
                <a:latin typeface="Times New Roman"/>
                <a:cs typeface="Times New Roman"/>
              </a:rPr>
              <a:t>(Ancien</a:t>
            </a:r>
            <a:r>
              <a:rPr sz="3250" dirty="0">
                <a:latin typeface="Times New Roman"/>
                <a:cs typeface="Times New Roman"/>
              </a:rPr>
              <a:t> </a:t>
            </a:r>
            <a:r>
              <a:rPr sz="3250" spc="-55" dirty="0">
                <a:latin typeface="Times New Roman"/>
                <a:cs typeface="Times New Roman"/>
              </a:rPr>
              <a:t>Paradigme)</a:t>
            </a:r>
            <a:endParaRPr sz="3250">
              <a:latin typeface="Times New Roman"/>
              <a:cs typeface="Times New Roman"/>
            </a:endParaRPr>
          </a:p>
          <a:p>
            <a:pPr marL="13970" marR="5080" indent="15875">
              <a:lnSpc>
                <a:spcPts val="4700"/>
              </a:lnSpc>
            </a:pPr>
            <a:r>
              <a:rPr sz="2550" spc="-165" dirty="0">
                <a:latin typeface="Arial"/>
                <a:cs typeface="Arial"/>
              </a:rPr>
              <a:t>Approche:</a:t>
            </a:r>
            <a:r>
              <a:rPr sz="2550" spc="-25" dirty="0">
                <a:latin typeface="Arial"/>
                <a:cs typeface="Arial"/>
              </a:rPr>
              <a:t> </a:t>
            </a:r>
            <a:r>
              <a:rPr sz="2550" spc="-110" dirty="0">
                <a:latin typeface="Arial"/>
                <a:cs typeface="Arial"/>
              </a:rPr>
              <a:t>Statistique,</a:t>
            </a:r>
            <a:r>
              <a:rPr sz="2550" spc="130" dirty="0">
                <a:latin typeface="Arial"/>
                <a:cs typeface="Arial"/>
              </a:rPr>
              <a:t> </a:t>
            </a:r>
            <a:r>
              <a:rPr sz="2550" spc="-190" dirty="0">
                <a:latin typeface="Arial"/>
                <a:cs typeface="Arial"/>
              </a:rPr>
              <a:t>basée</a:t>
            </a:r>
            <a:r>
              <a:rPr sz="2550" spc="-15" dirty="0">
                <a:latin typeface="Arial"/>
                <a:cs typeface="Arial"/>
              </a:rPr>
              <a:t> </a:t>
            </a:r>
            <a:r>
              <a:rPr sz="2550" spc="-160" dirty="0">
                <a:latin typeface="Arial"/>
                <a:cs typeface="Arial"/>
              </a:rPr>
              <a:t>sur</a:t>
            </a:r>
            <a:r>
              <a:rPr sz="2550" spc="10" dirty="0">
                <a:latin typeface="Arial"/>
                <a:cs typeface="Arial"/>
              </a:rPr>
              <a:t> </a:t>
            </a:r>
            <a:r>
              <a:rPr sz="2550" spc="-160" dirty="0">
                <a:latin typeface="Arial"/>
                <a:cs typeface="Arial"/>
              </a:rPr>
              <a:t>des</a:t>
            </a:r>
            <a:r>
              <a:rPr sz="2550" spc="-85" dirty="0">
                <a:latin typeface="Arial"/>
                <a:cs typeface="Arial"/>
              </a:rPr>
              <a:t> </a:t>
            </a:r>
            <a:r>
              <a:rPr sz="2550" spc="-95" dirty="0">
                <a:latin typeface="Arial"/>
                <a:cs typeface="Arial"/>
              </a:rPr>
              <a:t>populations. </a:t>
            </a:r>
            <a:r>
              <a:rPr sz="2550" spc="-135" dirty="0">
                <a:latin typeface="Arial"/>
                <a:cs typeface="Arial"/>
              </a:rPr>
              <a:t>Outils:</a:t>
            </a:r>
            <a:r>
              <a:rPr sz="2550" spc="-75" dirty="0">
                <a:latin typeface="Arial"/>
                <a:cs typeface="Arial"/>
              </a:rPr>
              <a:t> </a:t>
            </a:r>
            <a:r>
              <a:rPr sz="2550" spc="-145" dirty="0">
                <a:latin typeface="Arial"/>
                <a:cs typeface="Arial"/>
              </a:rPr>
              <a:t>Modèles</a:t>
            </a:r>
            <a:r>
              <a:rPr sz="2550" spc="70" dirty="0">
                <a:latin typeface="Arial"/>
                <a:cs typeface="Arial"/>
              </a:rPr>
              <a:t> </a:t>
            </a:r>
            <a:r>
              <a:rPr sz="2550" spc="-165" dirty="0">
                <a:latin typeface="Arial"/>
                <a:cs typeface="Arial"/>
              </a:rPr>
              <a:t>de</a:t>
            </a:r>
            <a:r>
              <a:rPr sz="2550" spc="-110" dirty="0">
                <a:latin typeface="Arial"/>
                <a:cs typeface="Arial"/>
              </a:rPr>
              <a:t> </a:t>
            </a:r>
            <a:r>
              <a:rPr sz="2550" spc="-150" dirty="0">
                <a:latin typeface="Arial"/>
                <a:cs typeface="Arial"/>
              </a:rPr>
              <a:t>régression,</a:t>
            </a:r>
            <a:r>
              <a:rPr sz="2550" spc="55" dirty="0">
                <a:latin typeface="Arial"/>
                <a:cs typeface="Arial"/>
              </a:rPr>
              <a:t> </a:t>
            </a:r>
            <a:r>
              <a:rPr sz="2550" spc="-240" dirty="0">
                <a:latin typeface="Arial"/>
                <a:cs typeface="Arial"/>
              </a:rPr>
              <a:t>IA</a:t>
            </a:r>
            <a:r>
              <a:rPr sz="2550" spc="65" dirty="0">
                <a:latin typeface="Arial"/>
                <a:cs typeface="Arial"/>
              </a:rPr>
              <a:t> </a:t>
            </a:r>
            <a:r>
              <a:rPr sz="2550" spc="-125" dirty="0">
                <a:latin typeface="Arial"/>
                <a:cs typeface="Arial"/>
              </a:rPr>
              <a:t>'boîte</a:t>
            </a:r>
            <a:r>
              <a:rPr sz="2550" spc="-50" dirty="0">
                <a:latin typeface="Arial"/>
                <a:cs typeface="Arial"/>
              </a:rPr>
              <a:t> </a:t>
            </a:r>
            <a:r>
              <a:rPr sz="2550" spc="-10" dirty="0">
                <a:latin typeface="Arial"/>
                <a:cs typeface="Arial"/>
              </a:rPr>
              <a:t>noire'.</a:t>
            </a:r>
            <a:endParaRPr sz="25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2730" y="4987572"/>
            <a:ext cx="5780405" cy="130556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7145" marR="5080" indent="-5080">
              <a:lnSpc>
                <a:spcPts val="2700"/>
              </a:lnSpc>
              <a:spcBef>
                <a:spcPts val="715"/>
              </a:spcBef>
            </a:pPr>
            <a:r>
              <a:rPr sz="2750" spc="-270" dirty="0">
                <a:latin typeface="Arial"/>
                <a:cs typeface="Arial"/>
              </a:rPr>
              <a:t>Question:</a:t>
            </a:r>
            <a:r>
              <a:rPr sz="2750" spc="50" dirty="0">
                <a:latin typeface="Arial"/>
                <a:cs typeface="Arial"/>
              </a:rPr>
              <a:t> </a:t>
            </a:r>
            <a:r>
              <a:rPr sz="2750" spc="-250" dirty="0">
                <a:latin typeface="Arial"/>
                <a:cs typeface="Arial"/>
              </a:rPr>
              <a:t>Quels</a:t>
            </a:r>
            <a:r>
              <a:rPr sz="2750" spc="-5" dirty="0">
                <a:latin typeface="Arial"/>
                <a:cs typeface="Arial"/>
              </a:rPr>
              <a:t> </a:t>
            </a:r>
            <a:r>
              <a:rPr sz="2750" spc="-200" dirty="0">
                <a:latin typeface="Arial"/>
                <a:cs typeface="Arial"/>
              </a:rPr>
              <a:t>traitements</a:t>
            </a:r>
            <a:r>
              <a:rPr sz="2750" spc="60" dirty="0">
                <a:latin typeface="Arial"/>
                <a:cs typeface="Arial"/>
              </a:rPr>
              <a:t> </a:t>
            </a:r>
            <a:r>
              <a:rPr sz="2750" spc="-200" dirty="0">
                <a:latin typeface="Arial"/>
                <a:cs typeface="Arial"/>
              </a:rPr>
              <a:t>fonctionnent</a:t>
            </a:r>
            <a:r>
              <a:rPr sz="2750" spc="130" dirty="0">
                <a:latin typeface="Arial"/>
                <a:cs typeface="Arial"/>
              </a:rPr>
              <a:t> </a:t>
            </a:r>
            <a:r>
              <a:rPr sz="2750" spc="-120" dirty="0">
                <a:latin typeface="Arial"/>
                <a:cs typeface="Arial"/>
              </a:rPr>
              <a:t>en </a:t>
            </a:r>
            <a:r>
              <a:rPr sz="2750" spc="-330" dirty="0">
                <a:latin typeface="Arial"/>
                <a:cs typeface="Arial"/>
              </a:rPr>
              <a:t>moyenne</a:t>
            </a:r>
            <a:r>
              <a:rPr sz="2750" spc="65" dirty="0">
                <a:latin typeface="Arial"/>
                <a:cs typeface="Arial"/>
              </a:rPr>
              <a:t> </a:t>
            </a:r>
            <a:r>
              <a:rPr sz="2750" spc="-540" dirty="0">
                <a:latin typeface="Arial"/>
                <a:cs typeface="Arial"/>
              </a:rPr>
              <a:t>?</a:t>
            </a:r>
            <a:endParaRPr sz="275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1060"/>
              </a:spcBef>
            </a:pPr>
            <a:r>
              <a:rPr sz="2500" spc="-114" dirty="0">
                <a:latin typeface="Arial"/>
                <a:cs typeface="Arial"/>
              </a:rPr>
              <a:t>Résultat: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spc="-110" dirty="0">
                <a:latin typeface="Arial"/>
                <a:cs typeface="Arial"/>
              </a:rPr>
              <a:t>Traiter</a:t>
            </a:r>
            <a:r>
              <a:rPr sz="2500" spc="-35" dirty="0">
                <a:latin typeface="Arial"/>
                <a:cs typeface="Arial"/>
              </a:rPr>
              <a:t> </a:t>
            </a:r>
            <a:r>
              <a:rPr sz="2500" spc="-135" dirty="0">
                <a:latin typeface="Arial"/>
                <a:cs typeface="Arial"/>
              </a:rPr>
              <a:t>la</a:t>
            </a:r>
            <a:r>
              <a:rPr sz="2500" spc="-9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maladie.</a:t>
            </a:r>
            <a:endParaRPr sz="2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43800" y="4987572"/>
            <a:ext cx="10795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70" dirty="0">
                <a:solidFill>
                  <a:srgbClr val="BA8242"/>
                </a:solidFill>
                <a:latin typeface="Arial"/>
                <a:cs typeface="Arial"/>
              </a:rPr>
              <a:t>/</a:t>
            </a:r>
            <a:endParaRPr sz="27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543443" y="2602794"/>
            <a:ext cx="5646420" cy="3693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034">
              <a:lnSpc>
                <a:spcPts val="3354"/>
              </a:lnSpc>
              <a:spcBef>
                <a:spcPts val="105"/>
              </a:spcBef>
            </a:pPr>
            <a:r>
              <a:rPr sz="3050" spc="-70" dirty="0">
                <a:latin typeface="Cambria"/>
                <a:cs typeface="Cambria"/>
              </a:rPr>
              <a:t>Médecine</a:t>
            </a:r>
            <a:r>
              <a:rPr sz="3050" spc="-100" dirty="0">
                <a:latin typeface="Cambria"/>
                <a:cs typeface="Cambria"/>
              </a:rPr>
              <a:t> </a:t>
            </a:r>
            <a:r>
              <a:rPr sz="3050" spc="-60" dirty="0">
                <a:latin typeface="Cambria"/>
                <a:cs typeface="Cambria"/>
              </a:rPr>
              <a:t>Basée</a:t>
            </a:r>
            <a:r>
              <a:rPr sz="3050" spc="-65" dirty="0">
                <a:latin typeface="Cambria"/>
                <a:cs typeface="Cambria"/>
              </a:rPr>
              <a:t> </a:t>
            </a:r>
            <a:r>
              <a:rPr sz="3050" spc="-120" dirty="0">
                <a:latin typeface="Cambria"/>
                <a:cs typeface="Cambria"/>
              </a:rPr>
              <a:t>sur</a:t>
            </a:r>
            <a:r>
              <a:rPr sz="3050" spc="-45" dirty="0">
                <a:latin typeface="Cambria"/>
                <a:cs typeface="Cambria"/>
              </a:rPr>
              <a:t> </a:t>
            </a:r>
            <a:r>
              <a:rPr sz="3050" spc="-60" dirty="0">
                <a:latin typeface="Cambria"/>
                <a:cs typeface="Cambria"/>
              </a:rPr>
              <a:t>les</a:t>
            </a:r>
            <a:r>
              <a:rPr sz="3050" spc="-145" dirty="0">
                <a:latin typeface="Cambria"/>
                <a:cs typeface="Cambria"/>
              </a:rPr>
              <a:t> </a:t>
            </a:r>
            <a:r>
              <a:rPr sz="3050" spc="-90" dirty="0">
                <a:latin typeface="Cambria"/>
                <a:cs typeface="Cambria"/>
              </a:rPr>
              <a:t>Mécanismes</a:t>
            </a:r>
            <a:endParaRPr sz="3050">
              <a:latin typeface="Cambria"/>
              <a:cs typeface="Cambria"/>
            </a:endParaRPr>
          </a:p>
          <a:p>
            <a:pPr marL="12700">
              <a:lnSpc>
                <a:spcPts val="3535"/>
              </a:lnSpc>
            </a:pPr>
            <a:r>
              <a:rPr sz="3200" spc="-240" dirty="0">
                <a:latin typeface="Cambria"/>
                <a:cs typeface="Cambria"/>
              </a:rPr>
              <a:t>(Nouveau</a:t>
            </a:r>
            <a:r>
              <a:rPr sz="3200" spc="90" dirty="0">
                <a:latin typeface="Cambria"/>
                <a:cs typeface="Cambria"/>
              </a:rPr>
              <a:t> </a:t>
            </a:r>
            <a:r>
              <a:rPr sz="3200" spc="-130" dirty="0">
                <a:latin typeface="Cambria"/>
                <a:cs typeface="Cambria"/>
              </a:rPr>
              <a:t>Paradigme)</a:t>
            </a:r>
            <a:endParaRPr sz="3200">
              <a:latin typeface="Cambria"/>
              <a:cs typeface="Cambria"/>
            </a:endParaRPr>
          </a:p>
          <a:p>
            <a:pPr marL="32384" indent="3175">
              <a:lnSpc>
                <a:spcPct val="100000"/>
              </a:lnSpc>
              <a:spcBef>
                <a:spcPts val="1210"/>
              </a:spcBef>
            </a:pPr>
            <a:r>
              <a:rPr sz="2550" spc="-155" dirty="0">
                <a:latin typeface="Arial"/>
                <a:cs typeface="Arial"/>
              </a:rPr>
              <a:t>Approche:</a:t>
            </a:r>
            <a:r>
              <a:rPr sz="2550" spc="-55" dirty="0">
                <a:latin typeface="Arial"/>
                <a:cs typeface="Arial"/>
              </a:rPr>
              <a:t> </a:t>
            </a:r>
            <a:r>
              <a:rPr sz="2550" spc="-190" dirty="0">
                <a:latin typeface="Arial"/>
                <a:cs typeface="Arial"/>
              </a:rPr>
              <a:t>Causale,</a:t>
            </a:r>
            <a:r>
              <a:rPr sz="2550" spc="55" dirty="0">
                <a:latin typeface="Arial"/>
                <a:cs typeface="Arial"/>
              </a:rPr>
              <a:t> </a:t>
            </a:r>
            <a:r>
              <a:rPr sz="2550" spc="-190" dirty="0">
                <a:latin typeface="Arial"/>
                <a:cs typeface="Arial"/>
              </a:rPr>
              <a:t>basée</a:t>
            </a:r>
            <a:r>
              <a:rPr sz="2550" spc="-5" dirty="0">
                <a:latin typeface="Arial"/>
                <a:cs typeface="Arial"/>
              </a:rPr>
              <a:t> </a:t>
            </a:r>
            <a:r>
              <a:rPr sz="2550" spc="-150" dirty="0">
                <a:latin typeface="Arial"/>
                <a:cs typeface="Arial"/>
              </a:rPr>
              <a:t>sur</a:t>
            </a:r>
            <a:r>
              <a:rPr sz="2550" spc="50" dirty="0">
                <a:latin typeface="Arial"/>
                <a:cs typeface="Arial"/>
              </a:rPr>
              <a:t> </a:t>
            </a:r>
            <a:r>
              <a:rPr sz="2550" spc="-10" dirty="0">
                <a:latin typeface="Arial"/>
                <a:cs typeface="Arial"/>
              </a:rPr>
              <a:t>l'individu.</a:t>
            </a:r>
            <a:endParaRPr sz="2550">
              <a:latin typeface="Arial"/>
              <a:cs typeface="Arial"/>
            </a:endParaRPr>
          </a:p>
          <a:p>
            <a:pPr marL="26670" marR="601980" indent="5715">
              <a:lnSpc>
                <a:spcPts val="2700"/>
              </a:lnSpc>
              <a:spcBef>
                <a:spcPts val="1430"/>
              </a:spcBef>
            </a:pPr>
            <a:r>
              <a:rPr sz="2550" spc="-135" dirty="0">
                <a:latin typeface="Arial"/>
                <a:cs typeface="Arial"/>
              </a:rPr>
              <a:t>Outils:</a:t>
            </a:r>
            <a:r>
              <a:rPr sz="2550" spc="-75" dirty="0">
                <a:latin typeface="Arial"/>
                <a:cs typeface="Arial"/>
              </a:rPr>
              <a:t> </a:t>
            </a:r>
            <a:r>
              <a:rPr sz="2550" spc="-155" dirty="0">
                <a:latin typeface="Arial"/>
                <a:cs typeface="Arial"/>
              </a:rPr>
              <a:t>Modèles</a:t>
            </a:r>
            <a:r>
              <a:rPr sz="2550" spc="-25" dirty="0">
                <a:latin typeface="Arial"/>
                <a:cs typeface="Arial"/>
              </a:rPr>
              <a:t> </a:t>
            </a:r>
            <a:r>
              <a:rPr sz="2550" spc="-130" dirty="0">
                <a:latin typeface="Arial"/>
                <a:cs typeface="Arial"/>
              </a:rPr>
              <a:t>biophysiques,</a:t>
            </a:r>
            <a:r>
              <a:rPr sz="2550" spc="105" dirty="0">
                <a:latin typeface="Arial"/>
                <a:cs typeface="Arial"/>
              </a:rPr>
              <a:t> </a:t>
            </a:r>
            <a:r>
              <a:rPr sz="2550" spc="-160" dirty="0">
                <a:latin typeface="Arial"/>
                <a:cs typeface="Arial"/>
              </a:rPr>
              <a:t>jumeaux </a:t>
            </a:r>
            <a:r>
              <a:rPr sz="2550" spc="-155" dirty="0">
                <a:latin typeface="Arial"/>
                <a:cs typeface="Arial"/>
              </a:rPr>
              <a:t>numériques,</a:t>
            </a:r>
            <a:r>
              <a:rPr sz="2550" spc="55" dirty="0">
                <a:latin typeface="Arial"/>
                <a:cs typeface="Arial"/>
              </a:rPr>
              <a:t> </a:t>
            </a:r>
            <a:r>
              <a:rPr sz="2550" spc="-200" dirty="0">
                <a:latin typeface="Arial"/>
                <a:cs typeface="Arial"/>
              </a:rPr>
              <a:t>lA</a:t>
            </a:r>
            <a:r>
              <a:rPr sz="2550" spc="-10" dirty="0">
                <a:latin typeface="Arial"/>
                <a:cs typeface="Arial"/>
              </a:rPr>
              <a:t> interprétable.</a:t>
            </a:r>
            <a:endParaRPr sz="2550">
              <a:latin typeface="Arial"/>
              <a:cs typeface="Arial"/>
            </a:endParaRPr>
          </a:p>
          <a:p>
            <a:pPr marL="33020">
              <a:lnSpc>
                <a:spcPts val="3045"/>
              </a:lnSpc>
              <a:spcBef>
                <a:spcPts val="860"/>
              </a:spcBef>
            </a:pPr>
            <a:r>
              <a:rPr sz="2700" spc="-225" dirty="0">
                <a:latin typeface="Arial"/>
                <a:cs typeface="Arial"/>
              </a:rPr>
              <a:t>Question:</a:t>
            </a:r>
            <a:r>
              <a:rPr sz="2700" spc="-140" dirty="0">
                <a:latin typeface="Arial"/>
                <a:cs typeface="Arial"/>
              </a:rPr>
              <a:t> </a:t>
            </a:r>
            <a:r>
              <a:rPr sz="2700" spc="-180" dirty="0">
                <a:latin typeface="Arial"/>
                <a:cs typeface="Arial"/>
              </a:rPr>
              <a:t>Pourquoi</a:t>
            </a:r>
            <a:r>
              <a:rPr sz="2700" spc="35" dirty="0">
                <a:latin typeface="Arial"/>
                <a:cs typeface="Arial"/>
              </a:rPr>
              <a:t> </a:t>
            </a:r>
            <a:r>
              <a:rPr sz="2700" spc="-225" dirty="0">
                <a:latin typeface="Arial"/>
                <a:cs typeface="Arial"/>
              </a:rPr>
              <a:t>ce</a:t>
            </a:r>
            <a:r>
              <a:rPr sz="2700" spc="-145" dirty="0">
                <a:latin typeface="Arial"/>
                <a:cs typeface="Arial"/>
              </a:rPr>
              <a:t> </a:t>
            </a:r>
            <a:r>
              <a:rPr sz="2700" spc="-170" dirty="0">
                <a:latin typeface="Arial"/>
                <a:cs typeface="Arial"/>
              </a:rPr>
              <a:t>patient</a:t>
            </a:r>
            <a:r>
              <a:rPr sz="2700" spc="65" dirty="0">
                <a:latin typeface="Arial"/>
                <a:cs typeface="Arial"/>
              </a:rPr>
              <a:t> </a:t>
            </a:r>
            <a:r>
              <a:rPr sz="2700" spc="-180" dirty="0">
                <a:latin typeface="Arial"/>
                <a:cs typeface="Arial"/>
              </a:rPr>
              <a:t>répondra-</a:t>
            </a:r>
            <a:r>
              <a:rPr sz="2700" spc="-120" dirty="0">
                <a:latin typeface="Arial"/>
                <a:cs typeface="Arial"/>
              </a:rPr>
              <a:t>t-</a:t>
            </a:r>
            <a:r>
              <a:rPr sz="2700" spc="-25" dirty="0">
                <a:latin typeface="Arial"/>
                <a:cs typeface="Arial"/>
              </a:rPr>
              <a:t>il</a:t>
            </a:r>
            <a:endParaRPr sz="2700">
              <a:latin typeface="Arial"/>
              <a:cs typeface="Arial"/>
            </a:endParaRPr>
          </a:p>
          <a:p>
            <a:pPr marL="36195">
              <a:lnSpc>
                <a:spcPts val="2865"/>
              </a:lnSpc>
            </a:pPr>
            <a:r>
              <a:rPr sz="2550" spc="-300" dirty="0">
                <a:latin typeface="Arial"/>
                <a:cs typeface="Arial"/>
              </a:rPr>
              <a:t>à</a:t>
            </a:r>
            <a:r>
              <a:rPr sz="2550" spc="-50" dirty="0">
                <a:latin typeface="Arial"/>
                <a:cs typeface="Arial"/>
              </a:rPr>
              <a:t> </a:t>
            </a:r>
            <a:r>
              <a:rPr sz="2550" spc="-145" dirty="0">
                <a:latin typeface="Arial"/>
                <a:cs typeface="Arial"/>
              </a:rPr>
              <a:t>ce</a:t>
            </a:r>
            <a:r>
              <a:rPr sz="2550" spc="-90" dirty="0">
                <a:latin typeface="Arial"/>
                <a:cs typeface="Arial"/>
              </a:rPr>
              <a:t> </a:t>
            </a:r>
            <a:r>
              <a:rPr sz="2550" spc="-95" dirty="0">
                <a:latin typeface="Arial"/>
                <a:cs typeface="Arial"/>
              </a:rPr>
              <a:t>traitement</a:t>
            </a:r>
            <a:r>
              <a:rPr sz="2550" spc="-60" dirty="0">
                <a:latin typeface="Arial"/>
                <a:cs typeface="Arial"/>
              </a:rPr>
              <a:t> </a:t>
            </a:r>
            <a:r>
              <a:rPr sz="2550" spc="-420" dirty="0">
                <a:latin typeface="Arial"/>
                <a:cs typeface="Arial"/>
              </a:rPr>
              <a:t>?</a:t>
            </a:r>
            <a:endParaRPr sz="255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  <a:spcBef>
                <a:spcPts val="990"/>
              </a:spcBef>
            </a:pPr>
            <a:r>
              <a:rPr sz="2600" spc="-155" dirty="0">
                <a:latin typeface="Arial"/>
                <a:cs typeface="Arial"/>
              </a:rPr>
              <a:t>Résultat: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spc="-150" dirty="0">
                <a:latin typeface="Arial"/>
                <a:cs typeface="Arial"/>
              </a:rPr>
              <a:t>Traiter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-170" dirty="0">
                <a:latin typeface="Arial"/>
                <a:cs typeface="Arial"/>
              </a:rPr>
              <a:t>le</a:t>
            </a:r>
            <a:r>
              <a:rPr sz="2600" spc="-13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patient.</a:t>
            </a:r>
            <a:endParaRPr sz="2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67800" y="3629730"/>
            <a:ext cx="365760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825" spc="-1957" baseline="-28322" dirty="0">
                <a:solidFill>
                  <a:srgbClr val="B18757"/>
                </a:solidFill>
                <a:latin typeface="Arial"/>
                <a:cs typeface="Arial"/>
              </a:rPr>
              <a:t>—</a:t>
            </a:r>
            <a:r>
              <a:rPr sz="3825" spc="60" baseline="-28322" dirty="0">
                <a:solidFill>
                  <a:srgbClr val="B18757"/>
                </a:solidFill>
                <a:latin typeface="Arial"/>
                <a:cs typeface="Arial"/>
              </a:rPr>
              <a:t> </a:t>
            </a:r>
            <a:r>
              <a:rPr sz="2550" spc="-640" dirty="0">
                <a:solidFill>
                  <a:srgbClr val="BD8744"/>
                </a:solidFill>
                <a:latin typeface="Arial"/>
                <a:cs typeface="Arial"/>
              </a:rPr>
              <a:t>”</a:t>
            </a:r>
            <a:endParaRPr sz="25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37809" y="6678789"/>
            <a:ext cx="14996794" cy="697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760"/>
              </a:lnSpc>
              <a:spcBef>
                <a:spcPts val="110"/>
              </a:spcBef>
              <a:tabLst>
                <a:tab pos="4546600" algn="l"/>
                <a:tab pos="7272655" algn="l"/>
                <a:tab pos="9420225" algn="l"/>
              </a:tabLst>
            </a:pPr>
            <a:r>
              <a:rPr sz="2350" dirty="0">
                <a:latin typeface="Arial"/>
                <a:cs typeface="Arial"/>
              </a:rPr>
              <a:t>«</a:t>
            </a:r>
            <a:r>
              <a:rPr sz="2350" spc="-165" dirty="0">
                <a:latin typeface="Arial"/>
                <a:cs typeface="Arial"/>
              </a:rPr>
              <a:t> </a:t>
            </a:r>
            <a:r>
              <a:rPr sz="2350" spc="-280" dirty="0">
                <a:latin typeface="Arial"/>
                <a:cs typeface="Arial"/>
              </a:rPr>
              <a:t>En</a:t>
            </a:r>
            <a:r>
              <a:rPr sz="2350" spc="120" dirty="0">
                <a:latin typeface="Arial"/>
                <a:cs typeface="Arial"/>
              </a:rPr>
              <a:t> </a:t>
            </a:r>
            <a:r>
              <a:rPr sz="2350" spc="-30" dirty="0">
                <a:latin typeface="Arial"/>
                <a:cs typeface="Arial"/>
              </a:rPr>
              <a:t>intégrant</a:t>
            </a:r>
            <a:r>
              <a:rPr sz="2350" spc="-60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les</a:t>
            </a:r>
            <a:r>
              <a:rPr sz="2350" spc="-85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lois</a:t>
            </a:r>
            <a:r>
              <a:rPr sz="2350" spc="-2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qui</a:t>
            </a:r>
            <a:r>
              <a:rPr sz="2350" spc="-50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régissent</a:t>
            </a:r>
            <a:r>
              <a:rPr sz="2350" dirty="0">
                <a:latin typeface="Arial"/>
                <a:cs typeface="Arial"/>
              </a:rPr>
              <a:t>	la</a:t>
            </a:r>
            <a:r>
              <a:rPr sz="2350" spc="-125" dirty="0">
                <a:latin typeface="Arial"/>
                <a:cs typeface="Arial"/>
              </a:rPr>
              <a:t> </a:t>
            </a:r>
            <a:r>
              <a:rPr sz="2350" spc="-45" dirty="0">
                <a:latin typeface="Arial"/>
                <a:cs typeface="Arial"/>
              </a:rPr>
              <a:t>cellule</a:t>
            </a:r>
            <a:r>
              <a:rPr sz="2350" spc="-80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cancéreuse</a:t>
            </a:r>
            <a:r>
              <a:rPr sz="2350" dirty="0">
                <a:latin typeface="Arial"/>
                <a:cs typeface="Arial"/>
              </a:rPr>
              <a:t>	</a:t>
            </a:r>
            <a:r>
              <a:rPr sz="2350" spc="-60" dirty="0">
                <a:latin typeface="Arial"/>
                <a:cs typeface="Arial"/>
              </a:rPr>
              <a:t>avec</a:t>
            </a:r>
            <a:r>
              <a:rPr sz="2350" spc="-85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la</a:t>
            </a:r>
            <a:r>
              <a:rPr sz="2350" spc="-125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capacité</a:t>
            </a:r>
            <a:r>
              <a:rPr sz="2350" dirty="0">
                <a:latin typeface="Arial"/>
                <a:cs typeface="Arial"/>
              </a:rPr>
              <a:t>	de</a:t>
            </a:r>
            <a:r>
              <a:rPr sz="2350" spc="-65" dirty="0">
                <a:latin typeface="Arial"/>
                <a:cs typeface="Arial"/>
              </a:rPr>
              <a:t> </a:t>
            </a:r>
            <a:r>
              <a:rPr sz="2350" spc="-40" dirty="0">
                <a:latin typeface="Arial"/>
                <a:cs typeface="Arial"/>
              </a:rPr>
              <a:t>simplifier</a:t>
            </a:r>
            <a:r>
              <a:rPr sz="2350" spc="4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et</a:t>
            </a:r>
            <a:r>
              <a:rPr sz="2350" spc="-3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de</a:t>
            </a:r>
            <a:r>
              <a:rPr sz="2350" spc="-35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traiter</a:t>
            </a:r>
            <a:r>
              <a:rPr sz="2350" spc="25" dirty="0">
                <a:latin typeface="Arial"/>
                <a:cs typeface="Arial"/>
              </a:rPr>
              <a:t> </a:t>
            </a:r>
            <a:r>
              <a:rPr sz="2350" spc="-45" dirty="0">
                <a:latin typeface="Arial"/>
                <a:cs typeface="Arial"/>
              </a:rPr>
              <a:t>intelligemment</a:t>
            </a:r>
            <a:r>
              <a:rPr sz="2350" spc="-85" dirty="0">
                <a:latin typeface="Arial"/>
                <a:cs typeface="Arial"/>
              </a:rPr>
              <a:t> </a:t>
            </a:r>
            <a:r>
              <a:rPr sz="2350" spc="-25" dirty="0">
                <a:latin typeface="Arial"/>
                <a:cs typeface="Arial"/>
              </a:rPr>
              <a:t>les</a:t>
            </a:r>
            <a:endParaRPr sz="2350">
              <a:latin typeface="Arial"/>
              <a:cs typeface="Arial"/>
            </a:endParaRPr>
          </a:p>
          <a:p>
            <a:pPr marL="22860">
              <a:lnSpc>
                <a:spcPts val="2520"/>
              </a:lnSpc>
            </a:pPr>
            <a:r>
              <a:rPr sz="2150" spc="-65" dirty="0">
                <a:latin typeface="Arial"/>
                <a:cs typeface="Arial"/>
              </a:rPr>
              <a:t>données,</a:t>
            </a:r>
            <a:r>
              <a:rPr sz="2150" spc="-85" dirty="0">
                <a:latin typeface="Arial"/>
                <a:cs typeface="Arial"/>
              </a:rPr>
              <a:t> </a:t>
            </a:r>
            <a:r>
              <a:rPr sz="2150" spc="-60" dirty="0">
                <a:latin typeface="Arial"/>
                <a:cs typeface="Arial"/>
              </a:rPr>
              <a:t>nous</a:t>
            </a:r>
            <a:r>
              <a:rPr sz="2150" spc="-90" dirty="0">
                <a:latin typeface="Arial"/>
                <a:cs typeface="Arial"/>
              </a:rPr>
              <a:t> </a:t>
            </a:r>
            <a:r>
              <a:rPr sz="2150" spc="-50" dirty="0">
                <a:latin typeface="Arial"/>
                <a:cs typeface="Arial"/>
              </a:rPr>
              <a:t>passons</a:t>
            </a:r>
            <a:r>
              <a:rPr sz="2150" spc="-100" dirty="0">
                <a:latin typeface="Arial"/>
                <a:cs typeface="Arial"/>
              </a:rPr>
              <a:t> </a:t>
            </a:r>
            <a:r>
              <a:rPr sz="2150" spc="-10" dirty="0">
                <a:latin typeface="Arial"/>
                <a:cs typeface="Arial"/>
              </a:rPr>
              <a:t>de</a:t>
            </a:r>
            <a:r>
              <a:rPr sz="2150" spc="-140" dirty="0">
                <a:latin typeface="Arial"/>
                <a:cs typeface="Arial"/>
              </a:rPr>
              <a:t> </a:t>
            </a:r>
            <a:r>
              <a:rPr sz="2150" spc="-20" dirty="0">
                <a:latin typeface="Arial"/>
                <a:cs typeface="Arial"/>
              </a:rPr>
              <a:t>"l'essai-</a:t>
            </a:r>
            <a:r>
              <a:rPr sz="2150" dirty="0">
                <a:latin typeface="Arial"/>
                <a:cs typeface="Arial"/>
              </a:rPr>
              <a:t>erreur"</a:t>
            </a:r>
            <a:r>
              <a:rPr sz="2150" spc="-150" dirty="0">
                <a:latin typeface="Arial"/>
                <a:cs typeface="Arial"/>
              </a:rPr>
              <a:t> </a:t>
            </a:r>
            <a:r>
              <a:rPr sz="2150" spc="-200" dirty="0">
                <a:latin typeface="Arial"/>
                <a:cs typeface="Arial"/>
              </a:rPr>
              <a:t>à</a:t>
            </a:r>
            <a:r>
              <a:rPr sz="2150" spc="20" dirty="0">
                <a:latin typeface="Arial"/>
                <a:cs typeface="Arial"/>
              </a:rPr>
              <a:t> </a:t>
            </a:r>
            <a:r>
              <a:rPr sz="2150" spc="-70" dirty="0">
                <a:latin typeface="Arial"/>
                <a:cs typeface="Arial"/>
              </a:rPr>
              <a:t>une</a:t>
            </a:r>
            <a:r>
              <a:rPr sz="2150" spc="-80" dirty="0">
                <a:latin typeface="Arial"/>
                <a:cs typeface="Arial"/>
              </a:rPr>
              <a:t> </a:t>
            </a:r>
            <a:r>
              <a:rPr sz="2150" spc="-20" dirty="0">
                <a:latin typeface="Arial"/>
                <a:cs typeface="Arial"/>
              </a:rPr>
              <a:t>déduction</a:t>
            </a:r>
            <a:r>
              <a:rPr sz="2150" spc="-40" dirty="0">
                <a:latin typeface="Arial"/>
                <a:cs typeface="Arial"/>
              </a:rPr>
              <a:t> </a:t>
            </a:r>
            <a:r>
              <a:rPr sz="2150" spc="-20" dirty="0">
                <a:latin typeface="Arial"/>
                <a:cs typeface="Arial"/>
              </a:rPr>
              <a:t>scientifique</a:t>
            </a:r>
            <a:r>
              <a:rPr sz="2150" spc="-15" dirty="0">
                <a:latin typeface="Arial"/>
                <a:cs typeface="Arial"/>
              </a:rPr>
              <a:t> </a:t>
            </a:r>
            <a:r>
              <a:rPr sz="2150" spc="-30" dirty="0">
                <a:latin typeface="Arial"/>
                <a:cs typeface="Arial"/>
              </a:rPr>
              <a:t>précise,</a:t>
            </a:r>
            <a:r>
              <a:rPr sz="2150" spc="15" dirty="0">
                <a:latin typeface="Arial"/>
                <a:cs typeface="Arial"/>
              </a:rPr>
              <a:t> </a:t>
            </a:r>
            <a:r>
              <a:rPr sz="2150" spc="-40" dirty="0">
                <a:latin typeface="Arial"/>
                <a:cs typeface="Arial"/>
              </a:rPr>
              <a:t>dérivée</a:t>
            </a:r>
            <a:r>
              <a:rPr sz="2150" dirty="0">
                <a:latin typeface="Arial"/>
                <a:cs typeface="Arial"/>
              </a:rPr>
              <a:t> </a:t>
            </a:r>
            <a:r>
              <a:rPr sz="2150" spc="-50" dirty="0">
                <a:latin typeface="Arial"/>
                <a:cs typeface="Arial"/>
              </a:rPr>
              <a:t>de</a:t>
            </a:r>
            <a:r>
              <a:rPr sz="2150" spc="-105" dirty="0">
                <a:latin typeface="Arial"/>
                <a:cs typeface="Arial"/>
              </a:rPr>
              <a:t> </a:t>
            </a:r>
            <a:r>
              <a:rPr sz="2150" spc="-45" dirty="0">
                <a:latin typeface="Arial"/>
                <a:cs typeface="Arial"/>
              </a:rPr>
              <a:t>l'essence</a:t>
            </a:r>
            <a:r>
              <a:rPr sz="2150" spc="10" dirty="0">
                <a:latin typeface="Arial"/>
                <a:cs typeface="Arial"/>
              </a:rPr>
              <a:t> </a:t>
            </a:r>
            <a:r>
              <a:rPr sz="2150" spc="-50" dirty="0">
                <a:latin typeface="Arial"/>
                <a:cs typeface="Arial"/>
              </a:rPr>
              <a:t>de</a:t>
            </a:r>
            <a:r>
              <a:rPr sz="2150" spc="-105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la</a:t>
            </a:r>
            <a:r>
              <a:rPr sz="2150" spc="-80" dirty="0">
                <a:latin typeface="Arial"/>
                <a:cs typeface="Arial"/>
              </a:rPr>
              <a:t> </a:t>
            </a:r>
            <a:r>
              <a:rPr sz="2150" spc="-35" dirty="0">
                <a:latin typeface="Arial"/>
                <a:cs typeface="Arial"/>
              </a:rPr>
              <a:t>biologie</a:t>
            </a:r>
            <a:r>
              <a:rPr sz="2150" spc="-105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du</a:t>
            </a:r>
            <a:r>
              <a:rPr sz="2150" spc="-120" dirty="0">
                <a:latin typeface="Arial"/>
                <a:cs typeface="Arial"/>
              </a:rPr>
              <a:t> </a:t>
            </a:r>
            <a:r>
              <a:rPr sz="2150" spc="-20" dirty="0">
                <a:latin typeface="Arial"/>
                <a:cs typeface="Arial"/>
              </a:rPr>
              <a:t>patient.</a:t>
            </a:r>
            <a:r>
              <a:rPr sz="2150" spc="-95" dirty="0">
                <a:latin typeface="Arial"/>
                <a:cs typeface="Arial"/>
              </a:rPr>
              <a:t> </a:t>
            </a:r>
            <a:r>
              <a:rPr sz="2150" spc="-50" dirty="0">
                <a:latin typeface="Arial"/>
                <a:cs typeface="Arial"/>
              </a:rPr>
              <a:t>»</a:t>
            </a:r>
            <a:endParaRPr sz="21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2889" y="7569164"/>
            <a:ext cx="4780915" cy="175387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3200" spc="-180" dirty="0">
                <a:latin typeface="Times New Roman"/>
                <a:cs typeface="Times New Roman"/>
              </a:rPr>
              <a:t>Ce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imes New Roman"/>
                <a:cs typeface="Times New Roman"/>
              </a:rPr>
              <a:t>que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imes New Roman"/>
                <a:cs typeface="Times New Roman"/>
              </a:rPr>
              <a:t>cela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permet</a:t>
            </a:r>
            <a:endParaRPr sz="3200">
              <a:latin typeface="Times New Roman"/>
              <a:cs typeface="Times New Roman"/>
            </a:endParaRPr>
          </a:p>
          <a:p>
            <a:pPr marL="1108075" marR="5080" indent="-5080">
              <a:lnSpc>
                <a:spcPts val="2700"/>
              </a:lnSpc>
              <a:spcBef>
                <a:spcPts val="1100"/>
              </a:spcBef>
            </a:pPr>
            <a:r>
              <a:rPr sz="2750" spc="-220" dirty="0">
                <a:latin typeface="Arial"/>
                <a:cs typeface="Arial"/>
              </a:rPr>
              <a:t>Simuler</a:t>
            </a:r>
            <a:r>
              <a:rPr sz="2750" spc="-5" dirty="0">
                <a:latin typeface="Arial"/>
                <a:cs typeface="Arial"/>
              </a:rPr>
              <a:t> </a:t>
            </a:r>
            <a:r>
              <a:rPr sz="2750" spc="-245" dirty="0">
                <a:latin typeface="Arial"/>
                <a:cs typeface="Arial"/>
              </a:rPr>
              <a:t>la</a:t>
            </a:r>
            <a:r>
              <a:rPr sz="2750" spc="-100" dirty="0">
                <a:latin typeface="Arial"/>
                <a:cs typeface="Arial"/>
              </a:rPr>
              <a:t> </a:t>
            </a:r>
            <a:r>
              <a:rPr sz="2750" spc="-170" dirty="0">
                <a:latin typeface="Arial"/>
                <a:cs typeface="Arial"/>
              </a:rPr>
              <a:t>trajectoire</a:t>
            </a:r>
            <a:r>
              <a:rPr sz="2750" spc="70" dirty="0">
                <a:latin typeface="Arial"/>
                <a:cs typeface="Arial"/>
              </a:rPr>
              <a:t> </a:t>
            </a:r>
            <a:r>
              <a:rPr sz="2750" spc="-280" dirty="0">
                <a:latin typeface="Arial"/>
                <a:cs typeface="Arial"/>
              </a:rPr>
              <a:t>de</a:t>
            </a:r>
            <a:r>
              <a:rPr sz="2750" spc="-140" dirty="0">
                <a:latin typeface="Arial"/>
                <a:cs typeface="Arial"/>
              </a:rPr>
              <a:t> </a:t>
            </a:r>
            <a:r>
              <a:rPr sz="2750" spc="-25" dirty="0">
                <a:latin typeface="Arial"/>
                <a:cs typeface="Arial"/>
              </a:rPr>
              <a:t>la </a:t>
            </a:r>
            <a:r>
              <a:rPr sz="2750" spc="-280" dirty="0">
                <a:latin typeface="Arial"/>
                <a:cs typeface="Arial"/>
              </a:rPr>
              <a:t>maladie</a:t>
            </a:r>
            <a:r>
              <a:rPr sz="2750" spc="-40" dirty="0">
                <a:latin typeface="Arial"/>
                <a:cs typeface="Arial"/>
              </a:rPr>
              <a:t> </a:t>
            </a:r>
            <a:r>
              <a:rPr sz="2750" spc="-254" dirty="0">
                <a:latin typeface="Arial"/>
                <a:cs typeface="Arial"/>
              </a:rPr>
              <a:t>pour</a:t>
            </a:r>
            <a:r>
              <a:rPr sz="2750" spc="15" dirty="0">
                <a:latin typeface="Arial"/>
                <a:cs typeface="Arial"/>
              </a:rPr>
              <a:t> </a:t>
            </a:r>
            <a:r>
              <a:rPr sz="2750" spc="-290" dirty="0">
                <a:latin typeface="Arial"/>
                <a:cs typeface="Arial"/>
              </a:rPr>
              <a:t>chaque</a:t>
            </a:r>
            <a:r>
              <a:rPr sz="2750" spc="85" dirty="0">
                <a:latin typeface="Arial"/>
                <a:cs typeface="Arial"/>
              </a:rPr>
              <a:t> </a:t>
            </a:r>
            <a:r>
              <a:rPr sz="2750" spc="-180" dirty="0">
                <a:latin typeface="Arial"/>
                <a:cs typeface="Arial"/>
              </a:rPr>
              <a:t>patient </a:t>
            </a:r>
            <a:r>
              <a:rPr sz="2750" spc="-300" dirty="0">
                <a:latin typeface="Arial"/>
                <a:cs typeface="Arial"/>
              </a:rPr>
              <a:t>dans</a:t>
            </a:r>
            <a:r>
              <a:rPr sz="2750" spc="-55" dirty="0">
                <a:latin typeface="Arial"/>
                <a:cs typeface="Arial"/>
              </a:rPr>
              <a:t> </a:t>
            </a:r>
            <a:r>
              <a:rPr sz="2750" spc="-254" dirty="0">
                <a:latin typeface="Arial"/>
                <a:cs typeface="Arial"/>
              </a:rPr>
              <a:t>un</a:t>
            </a:r>
            <a:r>
              <a:rPr sz="2750" spc="-135" dirty="0">
                <a:latin typeface="Arial"/>
                <a:cs typeface="Arial"/>
              </a:rPr>
              <a:t> ordinateur.</a:t>
            </a:r>
            <a:endParaRPr sz="27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82865" y="8170333"/>
            <a:ext cx="3084830" cy="115570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 marR="5080" indent="4445">
              <a:lnSpc>
                <a:spcPct val="77600"/>
              </a:lnSpc>
              <a:spcBef>
                <a:spcPts val="894"/>
              </a:spcBef>
            </a:pPr>
            <a:r>
              <a:rPr sz="2900" spc="-305" dirty="0">
                <a:latin typeface="Arial"/>
                <a:cs typeface="Arial"/>
              </a:rPr>
              <a:t>Tester</a:t>
            </a:r>
            <a:r>
              <a:rPr sz="2900" spc="95" dirty="0">
                <a:latin typeface="Arial"/>
                <a:cs typeface="Arial"/>
              </a:rPr>
              <a:t> </a:t>
            </a:r>
            <a:r>
              <a:rPr sz="2900" spc="-285" dirty="0">
                <a:latin typeface="Arial"/>
                <a:cs typeface="Arial"/>
              </a:rPr>
              <a:t>virtuellement</a:t>
            </a:r>
            <a:r>
              <a:rPr sz="2900" spc="195" dirty="0">
                <a:latin typeface="Arial"/>
                <a:cs typeface="Arial"/>
              </a:rPr>
              <a:t> </a:t>
            </a:r>
            <a:r>
              <a:rPr sz="2900" spc="-310" dirty="0">
                <a:latin typeface="Arial"/>
                <a:cs typeface="Arial"/>
              </a:rPr>
              <a:t>les </a:t>
            </a:r>
            <a:r>
              <a:rPr sz="2900" spc="-305" dirty="0">
                <a:latin typeface="Arial"/>
                <a:cs typeface="Arial"/>
              </a:rPr>
              <a:t>thérapies</a:t>
            </a:r>
            <a:r>
              <a:rPr sz="2900" spc="100" dirty="0">
                <a:latin typeface="Arial"/>
                <a:cs typeface="Arial"/>
              </a:rPr>
              <a:t> </a:t>
            </a:r>
            <a:r>
              <a:rPr sz="2900" spc="-360" dirty="0">
                <a:latin typeface="Arial"/>
                <a:cs typeface="Arial"/>
              </a:rPr>
              <a:t>avant</a:t>
            </a:r>
            <a:r>
              <a:rPr sz="2900" spc="-45" dirty="0">
                <a:latin typeface="Arial"/>
                <a:cs typeface="Arial"/>
              </a:rPr>
              <a:t> </a:t>
            </a:r>
            <a:r>
              <a:rPr sz="2900" spc="-310" dirty="0">
                <a:latin typeface="Arial"/>
                <a:cs typeface="Arial"/>
              </a:rPr>
              <a:t>de</a:t>
            </a:r>
            <a:r>
              <a:rPr sz="2900" spc="-220" dirty="0">
                <a:latin typeface="Arial"/>
                <a:cs typeface="Arial"/>
              </a:rPr>
              <a:t> </a:t>
            </a:r>
            <a:r>
              <a:rPr sz="2900" spc="-350" dirty="0">
                <a:latin typeface="Arial"/>
                <a:cs typeface="Arial"/>
              </a:rPr>
              <a:t>les </a:t>
            </a:r>
            <a:r>
              <a:rPr sz="2900" spc="-310" dirty="0">
                <a:latin typeface="Arial"/>
                <a:cs typeface="Arial"/>
              </a:rPr>
              <a:t>administrer.</a:t>
            </a:r>
            <a:endParaRPr sz="2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911849" y="8205610"/>
            <a:ext cx="4415790" cy="14681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7145" marR="1027430" indent="-5080" algn="just">
              <a:lnSpc>
                <a:spcPts val="2700"/>
              </a:lnSpc>
              <a:spcBef>
                <a:spcPts val="575"/>
              </a:spcBef>
            </a:pPr>
            <a:r>
              <a:rPr sz="2600" spc="-155" dirty="0">
                <a:latin typeface="Arial"/>
                <a:cs typeface="Arial"/>
              </a:rPr>
              <a:t>Comprendre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150" dirty="0">
                <a:latin typeface="Arial"/>
                <a:cs typeface="Arial"/>
              </a:rPr>
              <a:t>pourquoi</a:t>
            </a:r>
            <a:r>
              <a:rPr sz="2600" spc="55" dirty="0">
                <a:latin typeface="Arial"/>
                <a:cs typeface="Arial"/>
              </a:rPr>
              <a:t> </a:t>
            </a:r>
            <a:r>
              <a:rPr sz="2600" spc="-35" dirty="0">
                <a:latin typeface="Arial"/>
                <a:cs typeface="Arial"/>
              </a:rPr>
              <a:t>un </a:t>
            </a:r>
            <a:r>
              <a:rPr sz="2700" spc="-170" dirty="0">
                <a:latin typeface="Arial"/>
                <a:cs typeface="Arial"/>
              </a:rPr>
              <a:t>patient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spc="-250" dirty="0">
                <a:latin typeface="Arial"/>
                <a:cs typeface="Arial"/>
              </a:rPr>
              <a:t>répond</a:t>
            </a:r>
            <a:r>
              <a:rPr sz="2700" spc="70" dirty="0">
                <a:latin typeface="Arial"/>
                <a:cs typeface="Arial"/>
              </a:rPr>
              <a:t> </a:t>
            </a:r>
            <a:r>
              <a:rPr sz="2700" spc="-204" dirty="0">
                <a:latin typeface="Arial"/>
                <a:cs typeface="Arial"/>
              </a:rPr>
              <a:t>et</a:t>
            </a:r>
            <a:r>
              <a:rPr sz="2700" spc="40" dirty="0">
                <a:latin typeface="Arial"/>
                <a:cs typeface="Arial"/>
              </a:rPr>
              <a:t> </a:t>
            </a:r>
            <a:r>
              <a:rPr sz="2700" spc="-405" dirty="0">
                <a:latin typeface="Arial"/>
                <a:cs typeface="Arial"/>
              </a:rPr>
              <a:t>un</a:t>
            </a:r>
            <a:r>
              <a:rPr sz="2700" spc="215" dirty="0">
                <a:latin typeface="Arial"/>
                <a:cs typeface="Arial"/>
              </a:rPr>
              <a:t> </a:t>
            </a:r>
            <a:r>
              <a:rPr sz="2700" spc="-180" dirty="0">
                <a:latin typeface="Arial"/>
                <a:cs typeface="Arial"/>
              </a:rPr>
              <a:t>autre </a:t>
            </a:r>
            <a:r>
              <a:rPr sz="2550" spc="-20" dirty="0">
                <a:latin typeface="Arial"/>
                <a:cs typeface="Arial"/>
              </a:rPr>
              <a:t>échoue.</a:t>
            </a:r>
            <a:endParaRPr sz="255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860"/>
              </a:spcBef>
            </a:pPr>
            <a:r>
              <a:rPr sz="1600" dirty="0">
                <a:latin typeface="Times New Roman"/>
                <a:cs typeface="Times New Roman"/>
              </a:rPr>
              <a:t>G</a:t>
            </a:r>
            <a:r>
              <a:rPr sz="1600" spc="420" dirty="0">
                <a:latin typeface="Times New Roman"/>
                <a:cs typeface="Times New Roman"/>
              </a:rPr>
              <a:t> </a:t>
            </a:r>
            <a:r>
              <a:rPr sz="1600" spc="-100" dirty="0">
                <a:latin typeface="Times New Roman"/>
                <a:cs typeface="Times New Roman"/>
              </a:rPr>
              <a:t>NotebookLÎVi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0000" y="3238500"/>
            <a:ext cx="812800" cy="6604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8640" rIns="0" bIns="0" rtlCol="0">
            <a:spAutoFit/>
          </a:bodyPr>
          <a:lstStyle/>
          <a:p>
            <a:pPr marL="494665">
              <a:lnSpc>
                <a:spcPct val="100000"/>
              </a:lnSpc>
              <a:spcBef>
                <a:spcPts val="120"/>
              </a:spcBef>
            </a:pPr>
            <a:r>
              <a:rPr dirty="0"/>
              <a:t>Vers</a:t>
            </a:r>
            <a:r>
              <a:rPr spc="20" dirty="0"/>
              <a:t> </a:t>
            </a:r>
            <a:r>
              <a:rPr spc="130" dirty="0"/>
              <a:t>une</a:t>
            </a:r>
            <a:r>
              <a:rPr spc="-120" dirty="0"/>
              <a:t> </a:t>
            </a:r>
            <a:r>
              <a:rPr dirty="0"/>
              <a:t>Théorie</a:t>
            </a:r>
            <a:r>
              <a:rPr spc="150" dirty="0"/>
              <a:t> </a:t>
            </a:r>
            <a:r>
              <a:rPr dirty="0"/>
              <a:t>du</a:t>
            </a:r>
            <a:r>
              <a:rPr spc="40" dirty="0"/>
              <a:t> </a:t>
            </a:r>
            <a:r>
              <a:rPr dirty="0"/>
              <a:t>Champ</a:t>
            </a:r>
            <a:r>
              <a:rPr spc="125" dirty="0"/>
              <a:t> </a:t>
            </a:r>
            <a:r>
              <a:rPr spc="-30" dirty="0"/>
              <a:t>Unifié</a:t>
            </a:r>
            <a:r>
              <a:rPr spc="125" dirty="0"/>
              <a:t> </a:t>
            </a:r>
            <a:r>
              <a:rPr spc="85" dirty="0"/>
              <a:t>pour</a:t>
            </a:r>
            <a:r>
              <a:rPr spc="-35" dirty="0"/>
              <a:t> </a:t>
            </a:r>
            <a:r>
              <a:rPr dirty="0"/>
              <a:t>la</a:t>
            </a:r>
            <a:r>
              <a:rPr spc="120" dirty="0"/>
              <a:t> </a:t>
            </a:r>
            <a:r>
              <a:rPr spc="-85" dirty="0"/>
              <a:t>Biologie</a:t>
            </a:r>
            <a:r>
              <a:rPr spc="235" dirty="0"/>
              <a:t> </a:t>
            </a:r>
            <a:r>
              <a:rPr dirty="0"/>
              <a:t>du</a:t>
            </a:r>
            <a:r>
              <a:rPr spc="35" dirty="0"/>
              <a:t> </a:t>
            </a:r>
            <a:r>
              <a:rPr spc="-10" dirty="0"/>
              <a:t>Cancer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65552" y="1609019"/>
            <a:ext cx="14905990" cy="2069464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 indent="1905">
              <a:lnSpc>
                <a:spcPts val="2550"/>
              </a:lnSpc>
              <a:spcBef>
                <a:spcPts val="490"/>
              </a:spcBef>
            </a:pPr>
            <a:r>
              <a:rPr sz="2400" spc="-200" dirty="0">
                <a:latin typeface="Arial"/>
                <a:cs typeface="Arial"/>
              </a:rPr>
              <a:t>LUHCF-</a:t>
            </a:r>
            <a:r>
              <a:rPr sz="2400" spc="-254" dirty="0">
                <a:latin typeface="Arial"/>
                <a:cs typeface="Arial"/>
              </a:rPr>
              <a:t>OM</a:t>
            </a:r>
            <a:r>
              <a:rPr sz="2400" spc="10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et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le</a:t>
            </a:r>
            <a:r>
              <a:rPr sz="2400" spc="-114" dirty="0">
                <a:latin typeface="Arial"/>
                <a:cs typeface="Arial"/>
              </a:rPr>
              <a:t> cadre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qui</a:t>
            </a:r>
            <a:r>
              <a:rPr sz="2400" spc="-155" dirty="0">
                <a:latin typeface="Arial"/>
                <a:cs typeface="Arial"/>
              </a:rPr>
              <a:t> </a:t>
            </a:r>
            <a:r>
              <a:rPr sz="2400" spc="-170" dirty="0">
                <a:latin typeface="Arial"/>
                <a:cs typeface="Arial"/>
              </a:rPr>
              <a:t>en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40" dirty="0">
                <a:latin typeface="Arial"/>
                <a:cs typeface="Arial"/>
              </a:rPr>
              <a:t>découle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spc="-170" dirty="0">
                <a:latin typeface="Arial"/>
                <a:cs typeface="Arial"/>
              </a:rPr>
              <a:t>ne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sont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pas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30" dirty="0">
                <a:latin typeface="Arial"/>
                <a:cs typeface="Arial"/>
              </a:rPr>
              <a:t>seulement</a:t>
            </a:r>
            <a:r>
              <a:rPr sz="2400" spc="85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un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modèle,</a:t>
            </a:r>
            <a:r>
              <a:rPr sz="2400" spc="110" dirty="0">
                <a:latin typeface="Arial"/>
                <a:cs typeface="Arial"/>
              </a:rPr>
              <a:t> </a:t>
            </a:r>
            <a:r>
              <a:rPr sz="2400" spc="-185" dirty="0">
                <a:latin typeface="Arial"/>
                <a:cs typeface="Arial"/>
              </a:rPr>
              <a:t>mais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les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fondations</a:t>
            </a:r>
            <a:r>
              <a:rPr sz="2400" spc="7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d'une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150" dirty="0">
                <a:latin typeface="Arial"/>
                <a:cs typeface="Arial"/>
              </a:rPr>
              <a:t>approche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unifiée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pour </a:t>
            </a:r>
            <a:r>
              <a:rPr sz="2400" spc="-120" dirty="0">
                <a:latin typeface="Arial"/>
                <a:cs typeface="Arial"/>
              </a:rPr>
              <a:t>comprendre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le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cancer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170" dirty="0">
                <a:latin typeface="Arial"/>
                <a:cs typeface="Arial"/>
              </a:rPr>
              <a:t>en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tant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30" dirty="0">
                <a:latin typeface="Arial"/>
                <a:cs typeface="Arial"/>
              </a:rPr>
              <a:t>que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40" dirty="0">
                <a:latin typeface="Arial"/>
                <a:cs typeface="Arial"/>
              </a:rPr>
              <a:t>système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50" dirty="0">
                <a:latin typeface="Arial"/>
                <a:cs typeface="Arial"/>
              </a:rPr>
              <a:t>complexe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et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dynamique.</a:t>
            </a:r>
            <a:endParaRPr sz="2400">
              <a:latin typeface="Arial"/>
              <a:cs typeface="Arial"/>
            </a:endParaRPr>
          </a:p>
          <a:p>
            <a:pPr marL="20955">
              <a:lnSpc>
                <a:spcPct val="100000"/>
              </a:lnSpc>
              <a:spcBef>
                <a:spcPts val="2090"/>
              </a:spcBef>
            </a:pPr>
            <a:r>
              <a:rPr sz="2600" spc="-210" dirty="0">
                <a:latin typeface="Arial"/>
                <a:cs typeface="Arial"/>
              </a:rPr>
              <a:t>Ce</a:t>
            </a:r>
            <a:r>
              <a:rPr sz="2600" spc="-20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n'est</a:t>
            </a:r>
            <a:r>
              <a:rPr sz="2600" spc="-90" dirty="0">
                <a:latin typeface="Arial"/>
                <a:cs typeface="Arial"/>
              </a:rPr>
              <a:t> pas</a:t>
            </a:r>
            <a:r>
              <a:rPr sz="2600" spc="-175" dirty="0">
                <a:latin typeface="Arial"/>
                <a:cs typeface="Arial"/>
              </a:rPr>
              <a:t> </a:t>
            </a:r>
            <a:r>
              <a:rPr sz="2600" spc="-60" dirty="0">
                <a:latin typeface="Arial"/>
                <a:cs typeface="Arial"/>
              </a:rPr>
              <a:t>la</a:t>
            </a:r>
            <a:r>
              <a:rPr sz="2600" spc="-204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fin,</a:t>
            </a:r>
            <a:r>
              <a:rPr sz="2600" spc="-260" dirty="0">
                <a:latin typeface="Arial"/>
                <a:cs typeface="Arial"/>
              </a:rPr>
              <a:t> </a:t>
            </a:r>
            <a:r>
              <a:rPr sz="2600" spc="-105" dirty="0">
                <a:latin typeface="Arial"/>
                <a:cs typeface="Arial"/>
              </a:rPr>
              <a:t>mais</a:t>
            </a:r>
            <a:r>
              <a:rPr sz="2600" spc="-1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le</a:t>
            </a:r>
            <a:r>
              <a:rPr sz="2600" spc="-190" dirty="0">
                <a:latin typeface="Arial"/>
                <a:cs typeface="Arial"/>
              </a:rPr>
              <a:t> </a:t>
            </a:r>
            <a:r>
              <a:rPr sz="2600" spc="-55" dirty="0">
                <a:latin typeface="Arial"/>
                <a:cs typeface="Arial"/>
              </a:rPr>
              <a:t>début</a:t>
            </a:r>
            <a:r>
              <a:rPr sz="2600" spc="-9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d'un</a:t>
            </a:r>
            <a:r>
              <a:rPr sz="2600" spc="-130" dirty="0">
                <a:latin typeface="Arial"/>
                <a:cs typeface="Arial"/>
              </a:rPr>
              <a:t> </a:t>
            </a:r>
            <a:r>
              <a:rPr sz="2600" spc="-100" dirty="0">
                <a:latin typeface="Arial"/>
                <a:cs typeface="Arial"/>
              </a:rPr>
              <a:t>voyage</a:t>
            </a:r>
            <a:r>
              <a:rPr sz="2600" spc="40" dirty="0">
                <a:latin typeface="Arial"/>
                <a:cs typeface="Arial"/>
              </a:rPr>
              <a:t> vers:</a:t>
            </a:r>
            <a:endParaRPr sz="2600">
              <a:latin typeface="Arial"/>
              <a:cs typeface="Arial"/>
            </a:endParaRPr>
          </a:p>
          <a:p>
            <a:pPr marR="4074795" algn="r">
              <a:lnSpc>
                <a:spcPct val="100000"/>
              </a:lnSpc>
              <a:spcBef>
                <a:spcPts val="2330"/>
              </a:spcBef>
            </a:pPr>
            <a:r>
              <a:rPr sz="2550" spc="-50" dirty="0">
                <a:solidFill>
                  <a:srgbClr val="AA8757"/>
                </a:solidFill>
                <a:latin typeface="Arial"/>
                <a:cs typeface="Arial"/>
              </a:rPr>
              <a:t>f</a:t>
            </a:r>
            <a:endParaRPr sz="255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36307" y="4086091"/>
          <a:ext cx="15681960" cy="1075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21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7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5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L="31750">
                        <a:lnSpc>
                          <a:spcPts val="2835"/>
                        </a:lnSpc>
                      </a:pPr>
                      <a:r>
                        <a:rPr sz="2550" spc="-125" dirty="0">
                          <a:latin typeface="Arial"/>
                          <a:cs typeface="Arial"/>
                        </a:rPr>
                        <a:t>1.</a:t>
                      </a:r>
                      <a:r>
                        <a:rPr sz="2550" spc="-3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-90" dirty="0">
                          <a:latin typeface="Arial"/>
                          <a:cs typeface="Arial"/>
                        </a:rPr>
                        <a:t>Un</a:t>
                      </a:r>
                      <a:r>
                        <a:rPr sz="2550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-90" dirty="0">
                          <a:latin typeface="Arial"/>
                          <a:cs typeface="Arial"/>
                        </a:rPr>
                        <a:t>Cadre</a:t>
                      </a:r>
                      <a:r>
                        <a:rPr sz="2550" spc="-1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-10" dirty="0">
                          <a:latin typeface="Arial"/>
                          <a:cs typeface="Arial"/>
                        </a:rPr>
                        <a:t>Philosophique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4640">
                        <a:lnSpc>
                          <a:spcPts val="2835"/>
                        </a:lnSpc>
                      </a:pPr>
                      <a:r>
                        <a:rPr sz="2550" spc="-65" dirty="0">
                          <a:latin typeface="Arial"/>
                          <a:cs typeface="Arial"/>
                        </a:rPr>
                        <a:t>2.</a:t>
                      </a:r>
                      <a:r>
                        <a:rPr sz="2550" spc="-2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-90" dirty="0">
                          <a:latin typeface="Arial"/>
                          <a:cs typeface="Arial"/>
                        </a:rPr>
                        <a:t>Un</a:t>
                      </a:r>
                      <a:r>
                        <a:rPr sz="2550" spc="-1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-50" dirty="0">
                          <a:latin typeface="Arial"/>
                          <a:cs typeface="Arial"/>
                        </a:rPr>
                        <a:t>Langage</a:t>
                      </a:r>
                      <a:r>
                        <a:rPr sz="255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-10" dirty="0">
                          <a:latin typeface="Arial"/>
                          <a:cs typeface="Arial"/>
                        </a:rPr>
                        <a:t>Commun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0685">
                        <a:lnSpc>
                          <a:spcPts val="2835"/>
                        </a:lnSpc>
                      </a:pPr>
                      <a:r>
                        <a:rPr sz="2550" spc="80" dirty="0">
                          <a:latin typeface="Arial"/>
                          <a:cs typeface="Arial"/>
                        </a:rPr>
                        <a:t>3.</a:t>
                      </a:r>
                      <a:r>
                        <a:rPr sz="2550" spc="-4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-105" dirty="0">
                          <a:latin typeface="Arial"/>
                          <a:cs typeface="Arial"/>
                        </a:rPr>
                        <a:t>Une</a:t>
                      </a:r>
                      <a:r>
                        <a:rPr sz="255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50" dirty="0">
                          <a:latin typeface="Arial"/>
                          <a:cs typeface="Arial"/>
                        </a:rPr>
                        <a:t>Méthodologie</a:t>
                      </a:r>
                      <a:r>
                        <a:rPr sz="255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-1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2550" spc="-2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-30" dirty="0">
                          <a:latin typeface="Arial"/>
                          <a:cs typeface="Arial"/>
                        </a:rPr>
                        <a:t>Recherche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43815">
                        <a:lnSpc>
                          <a:spcPts val="2705"/>
                        </a:lnSpc>
                      </a:pPr>
                      <a:r>
                        <a:rPr sz="2350" spc="-130" dirty="0">
                          <a:latin typeface="Arial"/>
                          <a:cs typeface="Arial"/>
                        </a:rPr>
                        <a:t>Pour</a:t>
                      </a:r>
                      <a:r>
                        <a:rPr sz="23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350" spc="-105" dirty="0">
                          <a:latin typeface="Arial"/>
                          <a:cs typeface="Arial"/>
                        </a:rPr>
                        <a:t>comprendre</a:t>
                      </a:r>
                      <a:r>
                        <a:rPr sz="235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350" spc="-75" dirty="0">
                          <a:latin typeface="Arial"/>
                          <a:cs typeface="Arial"/>
                        </a:rPr>
                        <a:t>le</a:t>
                      </a:r>
                      <a:r>
                        <a:rPr sz="235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350" spc="-80" dirty="0">
                          <a:latin typeface="Arial"/>
                          <a:cs typeface="Arial"/>
                        </a:rPr>
                        <a:t>cancer</a:t>
                      </a:r>
                      <a:r>
                        <a:rPr sz="235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350" spc="-130" dirty="0">
                          <a:latin typeface="Arial"/>
                          <a:cs typeface="Arial"/>
                        </a:rPr>
                        <a:t>en</a:t>
                      </a:r>
                      <a:r>
                        <a:rPr sz="235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350" dirty="0">
                          <a:latin typeface="Arial"/>
                          <a:cs typeface="Arial"/>
                        </a:rPr>
                        <a:t>tant</a:t>
                      </a:r>
                      <a:r>
                        <a:rPr sz="235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350" spc="-25" dirty="0">
                          <a:latin typeface="Arial"/>
                          <a:cs typeface="Arial"/>
                        </a:rPr>
                        <a:t>que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2705"/>
                        </a:lnSpc>
                      </a:pPr>
                      <a:r>
                        <a:rPr sz="2350" spc="-110" dirty="0">
                          <a:latin typeface="Arial"/>
                          <a:cs typeface="Arial"/>
                        </a:rPr>
                        <a:t>Entre</a:t>
                      </a:r>
                      <a:r>
                        <a:rPr sz="235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350" spc="-90" dirty="0">
                          <a:latin typeface="Arial"/>
                          <a:cs typeface="Arial"/>
                        </a:rPr>
                        <a:t>mathématiciens,</a:t>
                      </a:r>
                      <a:r>
                        <a:rPr sz="235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350" spc="-65" dirty="0">
                          <a:latin typeface="Arial"/>
                          <a:cs typeface="Arial"/>
                        </a:rPr>
                        <a:t>biologistes</a:t>
                      </a:r>
                      <a:r>
                        <a:rPr sz="235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350" spc="-25" dirty="0">
                          <a:latin typeface="Arial"/>
                          <a:cs typeface="Arial"/>
                        </a:rPr>
                        <a:t>et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0059">
                        <a:lnSpc>
                          <a:spcPts val="2705"/>
                        </a:lnSpc>
                      </a:pPr>
                      <a:r>
                        <a:rPr sz="2350" spc="-165" dirty="0">
                          <a:latin typeface="Arial"/>
                          <a:cs typeface="Arial"/>
                        </a:rPr>
                        <a:t>Pour</a:t>
                      </a:r>
                      <a:r>
                        <a:rPr sz="23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350" spc="-95" dirty="0">
                          <a:latin typeface="Arial"/>
                          <a:cs typeface="Arial"/>
                        </a:rPr>
                        <a:t>générer</a:t>
                      </a:r>
                      <a:r>
                        <a:rPr sz="235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350" dirty="0">
                          <a:latin typeface="Arial"/>
                          <a:cs typeface="Arial"/>
                        </a:rPr>
                        <a:t>et</a:t>
                      </a:r>
                      <a:r>
                        <a:rPr sz="2350" spc="-1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350" spc="-30" dirty="0">
                          <a:latin typeface="Arial"/>
                          <a:cs typeface="Arial"/>
                        </a:rPr>
                        <a:t>tester</a:t>
                      </a:r>
                      <a:r>
                        <a:rPr sz="235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350" spc="-120" dirty="0">
                          <a:latin typeface="Arial"/>
                          <a:cs typeface="Arial"/>
                        </a:rPr>
                        <a:t>des</a:t>
                      </a:r>
                      <a:r>
                        <a:rPr sz="235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350" spc="-10" dirty="0">
                          <a:latin typeface="Arial"/>
                          <a:cs typeface="Arial"/>
                        </a:rPr>
                        <a:t>hypothèses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57150">
                        <a:lnSpc>
                          <a:spcPts val="2495"/>
                        </a:lnSpc>
                      </a:pPr>
                      <a:r>
                        <a:rPr sz="2350" spc="-110" dirty="0">
                          <a:latin typeface="Arial"/>
                          <a:cs typeface="Arial"/>
                        </a:rPr>
                        <a:t>système</a:t>
                      </a:r>
                      <a:r>
                        <a:rPr sz="23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350" spc="-10" dirty="0">
                          <a:latin typeface="Arial"/>
                          <a:cs typeface="Arial"/>
                        </a:rPr>
                        <a:t>complexe.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2495"/>
                        </a:lnSpc>
                      </a:pPr>
                      <a:r>
                        <a:rPr sz="2350" spc="-10" dirty="0">
                          <a:latin typeface="Arial"/>
                          <a:cs typeface="Arial"/>
                        </a:rPr>
                        <a:t>cliniciens.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0695">
                        <a:lnSpc>
                          <a:spcPts val="2495"/>
                        </a:lnSpc>
                      </a:pPr>
                      <a:r>
                        <a:rPr sz="2350" spc="-10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235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350" spc="-130" dirty="0">
                          <a:latin typeface="Arial"/>
                          <a:cs typeface="Arial"/>
                        </a:rPr>
                        <a:t>manière</a:t>
                      </a:r>
                      <a:r>
                        <a:rPr sz="23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350" spc="-10" dirty="0">
                          <a:latin typeface="Arial"/>
                          <a:cs typeface="Arial"/>
                        </a:rPr>
                        <a:t>intégrée.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59293" y="5413375"/>
            <a:ext cx="15057119" cy="39497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25"/>
              </a:spcBef>
            </a:pPr>
            <a:r>
              <a:rPr sz="3100" spc="-20" dirty="0">
                <a:latin typeface="Arial"/>
                <a:cs typeface="Arial"/>
              </a:rPr>
              <a:t>La</a:t>
            </a:r>
            <a:r>
              <a:rPr sz="3100" spc="-35" dirty="0">
                <a:latin typeface="Arial"/>
                <a:cs typeface="Arial"/>
              </a:rPr>
              <a:t> </a:t>
            </a:r>
            <a:r>
              <a:rPr sz="3100" dirty="0">
                <a:latin typeface="Arial"/>
                <a:cs typeface="Arial"/>
              </a:rPr>
              <a:t>Vision</a:t>
            </a:r>
            <a:r>
              <a:rPr sz="3100" spc="-195" dirty="0">
                <a:latin typeface="Arial"/>
                <a:cs typeface="Arial"/>
              </a:rPr>
              <a:t> </a:t>
            </a:r>
            <a:r>
              <a:rPr sz="3100" spc="-10" dirty="0">
                <a:latin typeface="Arial"/>
                <a:cs typeface="Arial"/>
              </a:rPr>
              <a:t>Finale</a:t>
            </a:r>
            <a:endParaRPr sz="3100">
              <a:latin typeface="Arial"/>
              <a:cs typeface="Arial"/>
            </a:endParaRPr>
          </a:p>
          <a:p>
            <a:pPr marL="23495">
              <a:lnSpc>
                <a:spcPts val="2825"/>
              </a:lnSpc>
              <a:spcBef>
                <a:spcPts val="80"/>
              </a:spcBef>
            </a:pPr>
            <a:r>
              <a:rPr sz="2500" spc="-195" dirty="0">
                <a:latin typeface="Arial"/>
                <a:cs typeface="Arial"/>
              </a:rPr>
              <a:t>Transformer</a:t>
            </a:r>
            <a:r>
              <a:rPr sz="2500" spc="20" dirty="0">
                <a:latin typeface="Arial"/>
                <a:cs typeface="Arial"/>
              </a:rPr>
              <a:t> </a:t>
            </a:r>
            <a:r>
              <a:rPr sz="2500" spc="-170" dirty="0">
                <a:latin typeface="Arial"/>
                <a:cs typeface="Arial"/>
              </a:rPr>
              <a:t>ce</a:t>
            </a:r>
            <a:r>
              <a:rPr sz="2500" spc="-120" dirty="0">
                <a:latin typeface="Arial"/>
                <a:cs typeface="Arial"/>
              </a:rPr>
              <a:t> </a:t>
            </a:r>
            <a:r>
              <a:rPr sz="2500" spc="-160" dirty="0">
                <a:latin typeface="Arial"/>
                <a:cs typeface="Arial"/>
              </a:rPr>
              <a:t>cadre</a:t>
            </a:r>
            <a:r>
              <a:rPr sz="2500" spc="10" dirty="0">
                <a:latin typeface="Arial"/>
                <a:cs typeface="Arial"/>
              </a:rPr>
              <a:t> </a:t>
            </a:r>
            <a:r>
              <a:rPr sz="2500" spc="-160" dirty="0">
                <a:latin typeface="Arial"/>
                <a:cs typeface="Arial"/>
              </a:rPr>
              <a:t>théorique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spc="-215" dirty="0">
                <a:latin typeface="Arial"/>
                <a:cs typeface="Arial"/>
              </a:rPr>
              <a:t>en</a:t>
            </a:r>
            <a:r>
              <a:rPr sz="2500" spc="-30" dirty="0">
                <a:latin typeface="Arial"/>
                <a:cs typeface="Arial"/>
              </a:rPr>
              <a:t> </a:t>
            </a:r>
            <a:r>
              <a:rPr sz="2500" spc="-220" dirty="0">
                <a:latin typeface="Arial"/>
                <a:cs typeface="Arial"/>
              </a:rPr>
              <a:t>une</a:t>
            </a:r>
            <a:r>
              <a:rPr sz="2500" spc="-145" dirty="0">
                <a:latin typeface="Arial"/>
                <a:cs typeface="Arial"/>
              </a:rPr>
              <a:t> </a:t>
            </a:r>
            <a:r>
              <a:rPr sz="2500" spc="-165" dirty="0">
                <a:latin typeface="Arial"/>
                <a:cs typeface="Arial"/>
              </a:rPr>
              <a:t>plateforme</a:t>
            </a:r>
            <a:r>
              <a:rPr sz="2500" spc="100" dirty="0">
                <a:latin typeface="Arial"/>
                <a:cs typeface="Arial"/>
              </a:rPr>
              <a:t> </a:t>
            </a:r>
            <a:r>
              <a:rPr sz="2500" spc="-145" dirty="0">
                <a:latin typeface="Arial"/>
                <a:cs typeface="Arial"/>
              </a:rPr>
              <a:t>opérationnelle</a:t>
            </a:r>
            <a:r>
              <a:rPr sz="2500" spc="-120" dirty="0">
                <a:latin typeface="Arial"/>
                <a:cs typeface="Arial"/>
              </a:rPr>
              <a:t> </a:t>
            </a:r>
            <a:r>
              <a:rPr sz="2500" spc="-135" dirty="0">
                <a:latin typeface="Arial"/>
                <a:cs typeface="Arial"/>
              </a:rPr>
              <a:t>qui</a:t>
            </a:r>
            <a:r>
              <a:rPr sz="2500" spc="-140" dirty="0">
                <a:latin typeface="Arial"/>
                <a:cs typeface="Arial"/>
              </a:rPr>
              <a:t> </a:t>
            </a:r>
            <a:r>
              <a:rPr sz="2500" spc="-165" dirty="0">
                <a:latin typeface="Arial"/>
                <a:cs typeface="Arial"/>
              </a:rPr>
              <a:t>permet</a:t>
            </a:r>
            <a:r>
              <a:rPr sz="2500" spc="190" dirty="0">
                <a:latin typeface="Arial"/>
                <a:cs typeface="Arial"/>
              </a:rPr>
              <a:t> </a:t>
            </a:r>
            <a:r>
              <a:rPr sz="2500" spc="-25" dirty="0">
                <a:latin typeface="Arial"/>
                <a:cs typeface="Arial"/>
              </a:rPr>
              <a:t>de:</a:t>
            </a:r>
            <a:endParaRPr sz="2500">
              <a:latin typeface="Arial"/>
              <a:cs typeface="Arial"/>
            </a:endParaRPr>
          </a:p>
          <a:p>
            <a:pPr marL="434975" indent="-241935">
              <a:lnSpc>
                <a:spcPts val="2510"/>
              </a:lnSpc>
              <a:buChar char="•"/>
              <a:tabLst>
                <a:tab pos="434975" algn="l"/>
              </a:tabLst>
            </a:pPr>
            <a:r>
              <a:rPr sz="2350" spc="-114" dirty="0">
                <a:latin typeface="Arial"/>
                <a:cs typeface="Arial"/>
              </a:rPr>
              <a:t>Comprendre</a:t>
            </a:r>
            <a:r>
              <a:rPr sz="2350" spc="-45" dirty="0">
                <a:latin typeface="Arial"/>
                <a:cs typeface="Arial"/>
              </a:rPr>
              <a:t> </a:t>
            </a:r>
            <a:r>
              <a:rPr sz="2350" spc="-110" dirty="0">
                <a:latin typeface="Arial"/>
                <a:cs typeface="Arial"/>
              </a:rPr>
              <a:t>les</a:t>
            </a:r>
            <a:r>
              <a:rPr sz="2350" spc="-55" dirty="0">
                <a:latin typeface="Arial"/>
                <a:cs typeface="Arial"/>
              </a:rPr>
              <a:t> </a:t>
            </a:r>
            <a:r>
              <a:rPr sz="2350" spc="-110" dirty="0">
                <a:latin typeface="Arial"/>
                <a:cs typeface="Arial"/>
              </a:rPr>
              <a:t>mécanismes</a:t>
            </a:r>
            <a:r>
              <a:rPr sz="2350" spc="-30" dirty="0">
                <a:latin typeface="Arial"/>
                <a:cs typeface="Arial"/>
              </a:rPr>
              <a:t> </a:t>
            </a:r>
            <a:r>
              <a:rPr sz="2350" spc="-100" dirty="0">
                <a:latin typeface="Arial"/>
                <a:cs typeface="Arial"/>
              </a:rPr>
              <a:t>de</a:t>
            </a:r>
            <a:r>
              <a:rPr sz="2350" spc="-65" dirty="0">
                <a:latin typeface="Arial"/>
                <a:cs typeface="Arial"/>
              </a:rPr>
              <a:t> </a:t>
            </a:r>
            <a:r>
              <a:rPr sz="2350" spc="-135" dirty="0">
                <a:latin typeface="Arial"/>
                <a:cs typeface="Arial"/>
              </a:rPr>
              <a:t>la</a:t>
            </a:r>
            <a:r>
              <a:rPr sz="2350" spc="-40" dirty="0">
                <a:latin typeface="Arial"/>
                <a:cs typeface="Arial"/>
              </a:rPr>
              <a:t> </a:t>
            </a:r>
            <a:r>
              <a:rPr sz="2350" spc="-110" dirty="0">
                <a:latin typeface="Arial"/>
                <a:cs typeface="Arial"/>
              </a:rPr>
              <a:t>maladie</a:t>
            </a:r>
            <a:r>
              <a:rPr sz="2350" spc="70" dirty="0">
                <a:latin typeface="Arial"/>
                <a:cs typeface="Arial"/>
              </a:rPr>
              <a:t> </a:t>
            </a:r>
            <a:r>
              <a:rPr sz="2350" spc="-290" dirty="0">
                <a:latin typeface="Arial"/>
                <a:cs typeface="Arial"/>
              </a:rPr>
              <a:t>à</a:t>
            </a:r>
            <a:r>
              <a:rPr sz="2350" spc="70" dirty="0">
                <a:latin typeface="Arial"/>
                <a:cs typeface="Arial"/>
              </a:rPr>
              <a:t> </a:t>
            </a:r>
            <a:r>
              <a:rPr sz="2350" spc="-60" dirty="0">
                <a:latin typeface="Arial"/>
                <a:cs typeface="Arial"/>
              </a:rPr>
              <a:t>tous</a:t>
            </a:r>
            <a:r>
              <a:rPr sz="2350" spc="-100" dirty="0">
                <a:latin typeface="Arial"/>
                <a:cs typeface="Arial"/>
              </a:rPr>
              <a:t> </a:t>
            </a:r>
            <a:r>
              <a:rPr sz="2350" spc="-110" dirty="0">
                <a:latin typeface="Arial"/>
                <a:cs typeface="Arial"/>
              </a:rPr>
              <a:t>les</a:t>
            </a:r>
            <a:r>
              <a:rPr sz="2350" spc="-50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niveaux.</a:t>
            </a:r>
            <a:endParaRPr sz="2350">
              <a:latin typeface="Arial"/>
              <a:cs typeface="Arial"/>
            </a:endParaRPr>
          </a:p>
          <a:p>
            <a:pPr marL="438784" indent="-259079">
              <a:lnSpc>
                <a:spcPts val="2555"/>
              </a:lnSpc>
              <a:buChar char="•"/>
              <a:tabLst>
                <a:tab pos="438784" algn="l"/>
              </a:tabLst>
            </a:pPr>
            <a:r>
              <a:rPr sz="2400" spc="-155" dirty="0">
                <a:latin typeface="Arial"/>
                <a:cs typeface="Arial"/>
              </a:rPr>
              <a:t>Prédire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le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parcours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clinique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de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70" dirty="0">
                <a:latin typeface="Arial"/>
                <a:cs typeface="Arial"/>
              </a:rPr>
              <a:t>manière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individuelle.</a:t>
            </a:r>
            <a:endParaRPr sz="2400">
              <a:latin typeface="Arial"/>
              <a:cs typeface="Arial"/>
            </a:endParaRPr>
          </a:p>
          <a:p>
            <a:pPr marL="434340" indent="-255270">
              <a:lnSpc>
                <a:spcPts val="2660"/>
              </a:lnSpc>
              <a:buChar char="•"/>
              <a:tabLst>
                <a:tab pos="434340" algn="l"/>
              </a:tabLst>
            </a:pPr>
            <a:r>
              <a:rPr sz="2500" spc="-170" dirty="0">
                <a:latin typeface="Arial"/>
                <a:cs typeface="Arial"/>
              </a:rPr>
              <a:t>Concevoir</a:t>
            </a:r>
            <a:r>
              <a:rPr sz="2500" spc="45" dirty="0">
                <a:latin typeface="Arial"/>
                <a:cs typeface="Arial"/>
              </a:rPr>
              <a:t> </a:t>
            </a:r>
            <a:r>
              <a:rPr sz="2500" spc="-220" dirty="0">
                <a:latin typeface="Arial"/>
                <a:cs typeface="Arial"/>
              </a:rPr>
              <a:t>des</a:t>
            </a:r>
            <a:r>
              <a:rPr sz="2500" spc="-40" dirty="0">
                <a:latin typeface="Arial"/>
                <a:cs typeface="Arial"/>
              </a:rPr>
              <a:t> </a:t>
            </a:r>
            <a:r>
              <a:rPr sz="2500" spc="-140" dirty="0">
                <a:latin typeface="Arial"/>
                <a:cs typeface="Arial"/>
              </a:rPr>
              <a:t>traitements</a:t>
            </a:r>
            <a:r>
              <a:rPr sz="2500" spc="15" dirty="0">
                <a:latin typeface="Arial"/>
                <a:cs typeface="Arial"/>
              </a:rPr>
              <a:t> </a:t>
            </a:r>
            <a:r>
              <a:rPr sz="2500" spc="-170" dirty="0">
                <a:latin typeface="Arial"/>
                <a:cs typeface="Arial"/>
              </a:rPr>
              <a:t>optimaux</a:t>
            </a:r>
            <a:r>
              <a:rPr sz="2500" spc="25" dirty="0">
                <a:latin typeface="Arial"/>
                <a:cs typeface="Arial"/>
              </a:rPr>
              <a:t> </a:t>
            </a:r>
            <a:r>
              <a:rPr sz="2500" spc="-85" dirty="0">
                <a:latin typeface="Arial"/>
                <a:cs typeface="Arial"/>
              </a:rPr>
              <a:t>personnalisés.</a:t>
            </a:r>
            <a:endParaRPr sz="2500">
              <a:latin typeface="Arial"/>
              <a:cs typeface="Arial"/>
            </a:endParaRPr>
          </a:p>
          <a:p>
            <a:pPr marL="450215" indent="-257810">
              <a:lnSpc>
                <a:spcPts val="2730"/>
              </a:lnSpc>
              <a:buChar char="•"/>
              <a:tabLst>
                <a:tab pos="450215" algn="l"/>
              </a:tabLst>
            </a:pPr>
            <a:r>
              <a:rPr sz="2400" spc="-145" dirty="0">
                <a:latin typeface="Arial"/>
                <a:cs typeface="Arial"/>
              </a:rPr>
              <a:t>Accélérer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la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découverte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de</a:t>
            </a:r>
            <a:r>
              <a:rPr sz="2400" spc="-16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médicaments.</a:t>
            </a:r>
            <a:endParaRPr sz="2400">
              <a:latin typeface="Arial"/>
              <a:cs typeface="Arial"/>
            </a:endParaRPr>
          </a:p>
          <a:p>
            <a:pPr marL="21590">
              <a:lnSpc>
                <a:spcPts val="2685"/>
              </a:lnSpc>
              <a:spcBef>
                <a:spcPts val="1770"/>
              </a:spcBef>
            </a:pPr>
            <a:r>
              <a:rPr sz="2350" spc="-125" dirty="0">
                <a:latin typeface="Arial"/>
                <a:cs typeface="Arial"/>
              </a:rPr>
              <a:t>Le</a:t>
            </a:r>
            <a:r>
              <a:rPr sz="2350" spc="-114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Dêfi</a:t>
            </a:r>
            <a:r>
              <a:rPr sz="2350" spc="-195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Majeur</a:t>
            </a:r>
            <a:endParaRPr sz="2350">
              <a:latin typeface="Arial"/>
              <a:cs typeface="Arial"/>
            </a:endParaRPr>
          </a:p>
          <a:p>
            <a:pPr marL="12700">
              <a:lnSpc>
                <a:spcPts val="3825"/>
              </a:lnSpc>
            </a:pPr>
            <a:r>
              <a:rPr sz="3300" dirty="0">
                <a:latin typeface="Cambria"/>
                <a:cs typeface="Cambria"/>
              </a:rPr>
              <a:t>Une</a:t>
            </a:r>
            <a:r>
              <a:rPr sz="3300" spc="-135" dirty="0">
                <a:latin typeface="Cambria"/>
                <a:cs typeface="Cambria"/>
              </a:rPr>
              <a:t> </a:t>
            </a:r>
            <a:r>
              <a:rPr sz="3300" spc="-30" dirty="0">
                <a:latin typeface="Cambria"/>
                <a:cs typeface="Cambria"/>
              </a:rPr>
              <a:t>Collaboration</a:t>
            </a:r>
            <a:r>
              <a:rPr sz="3300" spc="210" dirty="0">
                <a:latin typeface="Cambria"/>
                <a:cs typeface="Cambria"/>
              </a:rPr>
              <a:t> </a:t>
            </a:r>
            <a:r>
              <a:rPr sz="3300" spc="-10" dirty="0">
                <a:latin typeface="Cambria"/>
                <a:cs typeface="Cambria"/>
              </a:rPr>
              <a:t>Mondiale</a:t>
            </a:r>
            <a:endParaRPr sz="3300">
              <a:latin typeface="Cambria"/>
              <a:cs typeface="Cambria"/>
            </a:endParaRPr>
          </a:p>
          <a:p>
            <a:pPr marL="24130" marR="5080" indent="-2540">
              <a:lnSpc>
                <a:spcPts val="2550"/>
              </a:lnSpc>
              <a:spcBef>
                <a:spcPts val="450"/>
              </a:spcBef>
            </a:pPr>
            <a:r>
              <a:rPr sz="2350" spc="-204" dirty="0">
                <a:latin typeface="Arial"/>
                <a:cs typeface="Arial"/>
              </a:rPr>
              <a:t>La</a:t>
            </a:r>
            <a:r>
              <a:rPr sz="2350" spc="35" dirty="0">
                <a:latin typeface="Arial"/>
                <a:cs typeface="Arial"/>
              </a:rPr>
              <a:t> </a:t>
            </a:r>
            <a:r>
              <a:rPr sz="2350" spc="-75" dirty="0">
                <a:latin typeface="Arial"/>
                <a:cs typeface="Arial"/>
              </a:rPr>
              <a:t>réalisation</a:t>
            </a:r>
            <a:r>
              <a:rPr sz="2350" spc="-90" dirty="0">
                <a:latin typeface="Arial"/>
                <a:cs typeface="Arial"/>
              </a:rPr>
              <a:t> </a:t>
            </a:r>
            <a:r>
              <a:rPr sz="2350" spc="-114" dirty="0">
                <a:latin typeface="Arial"/>
                <a:cs typeface="Arial"/>
              </a:rPr>
              <a:t>de</a:t>
            </a:r>
            <a:r>
              <a:rPr sz="2350" spc="-9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cette</a:t>
            </a:r>
            <a:r>
              <a:rPr sz="2350" spc="-165" dirty="0">
                <a:latin typeface="Arial"/>
                <a:cs typeface="Arial"/>
              </a:rPr>
              <a:t> </a:t>
            </a:r>
            <a:r>
              <a:rPr sz="2350" spc="-100" dirty="0">
                <a:latin typeface="Arial"/>
                <a:cs typeface="Arial"/>
              </a:rPr>
              <a:t>vision</a:t>
            </a:r>
            <a:r>
              <a:rPr sz="2350" spc="-60" dirty="0">
                <a:latin typeface="Arial"/>
                <a:cs typeface="Arial"/>
              </a:rPr>
              <a:t> </a:t>
            </a:r>
            <a:r>
              <a:rPr sz="2350" spc="-75" dirty="0">
                <a:latin typeface="Arial"/>
                <a:cs typeface="Arial"/>
              </a:rPr>
              <a:t>necessite</a:t>
            </a:r>
            <a:r>
              <a:rPr sz="2350" spc="-90" dirty="0">
                <a:latin typeface="Arial"/>
                <a:cs typeface="Arial"/>
              </a:rPr>
              <a:t> </a:t>
            </a:r>
            <a:r>
              <a:rPr sz="2350" spc="-135" dirty="0">
                <a:latin typeface="Arial"/>
                <a:cs typeface="Arial"/>
              </a:rPr>
              <a:t>une</a:t>
            </a:r>
            <a:r>
              <a:rPr sz="2350" spc="-40" dirty="0">
                <a:latin typeface="Arial"/>
                <a:cs typeface="Arial"/>
              </a:rPr>
              <a:t> </a:t>
            </a:r>
            <a:r>
              <a:rPr sz="2350" spc="-70" dirty="0">
                <a:latin typeface="Arial"/>
                <a:cs typeface="Arial"/>
              </a:rPr>
              <a:t>collaboration</a:t>
            </a:r>
            <a:r>
              <a:rPr sz="2350" spc="65" dirty="0">
                <a:latin typeface="Arial"/>
                <a:cs typeface="Arial"/>
              </a:rPr>
              <a:t> </a:t>
            </a:r>
            <a:r>
              <a:rPr sz="2350" spc="-160" dirty="0">
                <a:latin typeface="Arial"/>
                <a:cs typeface="Arial"/>
              </a:rPr>
              <a:t>sans</a:t>
            </a:r>
            <a:r>
              <a:rPr sz="2350" dirty="0">
                <a:latin typeface="Arial"/>
                <a:cs typeface="Arial"/>
              </a:rPr>
              <a:t> </a:t>
            </a:r>
            <a:r>
              <a:rPr sz="2350" spc="-75" dirty="0">
                <a:latin typeface="Arial"/>
                <a:cs typeface="Arial"/>
              </a:rPr>
              <a:t>précédent</a:t>
            </a:r>
            <a:r>
              <a:rPr sz="2350" spc="55" dirty="0">
                <a:latin typeface="Arial"/>
                <a:cs typeface="Arial"/>
              </a:rPr>
              <a:t> </a:t>
            </a:r>
            <a:r>
              <a:rPr sz="2350" spc="-70" dirty="0">
                <a:latin typeface="Arial"/>
                <a:cs typeface="Arial"/>
              </a:rPr>
              <a:t>entre</a:t>
            </a:r>
            <a:r>
              <a:rPr sz="2350" spc="-60" dirty="0">
                <a:latin typeface="Arial"/>
                <a:cs typeface="Arial"/>
              </a:rPr>
              <a:t> </a:t>
            </a:r>
            <a:r>
              <a:rPr sz="2350" spc="-90" dirty="0">
                <a:latin typeface="Arial"/>
                <a:cs typeface="Arial"/>
              </a:rPr>
              <a:t>mathématiciens,</a:t>
            </a:r>
            <a:r>
              <a:rPr sz="2350" spc="-75" dirty="0">
                <a:latin typeface="Arial"/>
                <a:cs typeface="Arial"/>
              </a:rPr>
              <a:t> biologistes,</a:t>
            </a:r>
            <a:r>
              <a:rPr sz="2350" spc="70" dirty="0">
                <a:latin typeface="Arial"/>
                <a:cs typeface="Arial"/>
              </a:rPr>
              <a:t> </a:t>
            </a:r>
            <a:r>
              <a:rPr sz="2350" spc="-10" dirty="0">
                <a:latin typeface="Arial"/>
                <a:cs typeface="Arial"/>
              </a:rPr>
              <a:t>cliniciens, </a:t>
            </a:r>
            <a:r>
              <a:rPr sz="2350" spc="-85" dirty="0">
                <a:latin typeface="Arial"/>
                <a:cs typeface="Arial"/>
              </a:rPr>
              <a:t>ingénieurs</a:t>
            </a:r>
            <a:r>
              <a:rPr sz="2350" spc="-9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et</a:t>
            </a:r>
            <a:r>
              <a:rPr sz="2350" spc="-155" dirty="0">
                <a:latin typeface="Arial"/>
                <a:cs typeface="Arial"/>
              </a:rPr>
              <a:t> </a:t>
            </a:r>
            <a:r>
              <a:rPr sz="2350" spc="-85" dirty="0">
                <a:latin typeface="Arial"/>
                <a:cs typeface="Arial"/>
              </a:rPr>
              <a:t>spécialistes</a:t>
            </a:r>
            <a:r>
              <a:rPr sz="2350" spc="35" dirty="0">
                <a:latin typeface="Arial"/>
                <a:cs typeface="Arial"/>
              </a:rPr>
              <a:t> </a:t>
            </a:r>
            <a:r>
              <a:rPr sz="2350" spc="-105" dirty="0">
                <a:latin typeface="Arial"/>
                <a:cs typeface="Arial"/>
              </a:rPr>
              <a:t>des</a:t>
            </a:r>
            <a:r>
              <a:rPr sz="2350" spc="-60" dirty="0">
                <a:latin typeface="Arial"/>
                <a:cs typeface="Arial"/>
              </a:rPr>
              <a:t> </a:t>
            </a:r>
            <a:r>
              <a:rPr sz="2350" spc="-114" dirty="0">
                <a:latin typeface="Arial"/>
                <a:cs typeface="Arial"/>
              </a:rPr>
              <a:t>données.</a:t>
            </a:r>
            <a:r>
              <a:rPr sz="2350" spc="-30" dirty="0">
                <a:latin typeface="Arial"/>
                <a:cs typeface="Arial"/>
              </a:rPr>
              <a:t> </a:t>
            </a:r>
            <a:r>
              <a:rPr sz="2350" spc="-114" dirty="0">
                <a:latin typeface="Arial"/>
                <a:cs typeface="Arial"/>
              </a:rPr>
              <a:t>C'est</a:t>
            </a:r>
            <a:r>
              <a:rPr sz="2350" spc="-45" dirty="0">
                <a:latin typeface="Arial"/>
                <a:cs typeface="Arial"/>
              </a:rPr>
              <a:t> </a:t>
            </a:r>
            <a:r>
              <a:rPr sz="2350" spc="-60" dirty="0">
                <a:latin typeface="Arial"/>
                <a:cs typeface="Arial"/>
              </a:rPr>
              <a:t>un</a:t>
            </a:r>
            <a:r>
              <a:rPr sz="2350" spc="-105" dirty="0">
                <a:latin typeface="Arial"/>
                <a:cs typeface="Arial"/>
              </a:rPr>
              <a:t> </a:t>
            </a:r>
            <a:r>
              <a:rPr sz="2350" spc="-100" dirty="0">
                <a:latin typeface="Arial"/>
                <a:cs typeface="Arial"/>
              </a:rPr>
              <a:t>appel</a:t>
            </a:r>
            <a:r>
              <a:rPr sz="2350" spc="-55" dirty="0">
                <a:latin typeface="Arial"/>
                <a:cs typeface="Arial"/>
              </a:rPr>
              <a:t> </a:t>
            </a:r>
            <a:r>
              <a:rPr sz="2350" spc="-290" dirty="0">
                <a:latin typeface="Arial"/>
                <a:cs typeface="Arial"/>
              </a:rPr>
              <a:t>à</a:t>
            </a:r>
            <a:r>
              <a:rPr sz="2350" spc="55" dirty="0">
                <a:latin typeface="Arial"/>
                <a:cs typeface="Arial"/>
              </a:rPr>
              <a:t> </a:t>
            </a:r>
            <a:r>
              <a:rPr sz="2350" spc="-185" dirty="0">
                <a:latin typeface="Arial"/>
                <a:cs typeface="Arial"/>
              </a:rPr>
              <a:t>la</a:t>
            </a:r>
            <a:r>
              <a:rPr sz="2350" spc="25" dirty="0">
                <a:latin typeface="Arial"/>
                <a:cs typeface="Arial"/>
              </a:rPr>
              <a:t> </a:t>
            </a:r>
            <a:r>
              <a:rPr sz="2350" spc="-105" dirty="0">
                <a:latin typeface="Arial"/>
                <a:cs typeface="Arial"/>
              </a:rPr>
              <a:t>communauté</a:t>
            </a:r>
            <a:r>
              <a:rPr sz="2350" spc="120" dirty="0">
                <a:latin typeface="Arial"/>
                <a:cs typeface="Arial"/>
              </a:rPr>
              <a:t> </a:t>
            </a:r>
            <a:r>
              <a:rPr sz="2350" spc="-70" dirty="0">
                <a:latin typeface="Arial"/>
                <a:cs typeface="Arial"/>
              </a:rPr>
              <a:t>scientifique</a:t>
            </a:r>
            <a:r>
              <a:rPr sz="2350" spc="-95" dirty="0">
                <a:latin typeface="Arial"/>
                <a:cs typeface="Arial"/>
              </a:rPr>
              <a:t> </a:t>
            </a:r>
            <a:r>
              <a:rPr sz="2350" spc="-55" dirty="0">
                <a:latin typeface="Arial"/>
                <a:cs typeface="Arial"/>
              </a:rPr>
              <a:t>pour</a:t>
            </a:r>
            <a:r>
              <a:rPr sz="2350" spc="-110" dirty="0">
                <a:latin typeface="Arial"/>
                <a:cs typeface="Arial"/>
              </a:rPr>
              <a:t> </a:t>
            </a:r>
            <a:r>
              <a:rPr sz="2350" spc="-65" dirty="0">
                <a:latin typeface="Arial"/>
                <a:cs typeface="Arial"/>
              </a:rPr>
              <a:t>construire</a:t>
            </a:r>
            <a:r>
              <a:rPr sz="2350" spc="45" dirty="0">
                <a:latin typeface="Arial"/>
                <a:cs typeface="Arial"/>
              </a:rPr>
              <a:t> </a:t>
            </a:r>
            <a:r>
              <a:rPr sz="2350" spc="-85" dirty="0">
                <a:latin typeface="Arial"/>
                <a:cs typeface="Arial"/>
              </a:rPr>
              <a:t>l'avenir</a:t>
            </a:r>
            <a:r>
              <a:rPr sz="2350" spc="10" dirty="0">
                <a:latin typeface="Arial"/>
                <a:cs typeface="Arial"/>
              </a:rPr>
              <a:t> </a:t>
            </a:r>
            <a:r>
              <a:rPr sz="2350" spc="-100" dirty="0">
                <a:latin typeface="Arial"/>
                <a:cs typeface="Arial"/>
              </a:rPr>
              <a:t>de</a:t>
            </a:r>
            <a:r>
              <a:rPr sz="2350" spc="-60" dirty="0">
                <a:latin typeface="Arial"/>
                <a:cs typeface="Arial"/>
              </a:rPr>
              <a:t> </a:t>
            </a:r>
            <a:r>
              <a:rPr sz="2350" spc="-65" dirty="0">
                <a:latin typeface="Arial"/>
                <a:cs typeface="Arial"/>
              </a:rPr>
              <a:t>l'oncologie.</a:t>
            </a:r>
            <a:endParaRPr sz="23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07423" y="9439980"/>
            <a:ext cx="123253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latin typeface="Arial"/>
                <a:cs typeface="Arial"/>
              </a:rPr>
              <a:t>G</a:t>
            </a:r>
            <a:r>
              <a:rPr sz="1300" spc="49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Personnalisé</PresentationFormat>
  <Slides>15</Slides>
  <Notes>0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Office Theme</vt:lpstr>
      <vt:lpstr>La Question Fondamentale : Corrélation Statistique ou Causalité Biologique ?</vt:lpstr>
      <vt:lpstr>La Vision : Le Réseau Décisionnel Adaptatif en Cancérologie (ACDN)</vt:lpstr>
      <vt:lpstr>Le Défi Existentiel : Comment Alimenter une Telle Vision avec des Données du Monde Réel ?</vt:lpstr>
      <vt:lpstr>Solution 1 : Le Noyau de Triage et de Labellisation Intelligent</vt:lpstr>
      <vt:lpstr>Solution 2 : Le Noyau d'lmputation Informé par la Physique</vt:lpstr>
      <vt:lpstr>Le Pont Philosophique : Comment Dompter la Complexité sans Trahir la Réalité ?</vt:lpstr>
      <vt:lpstr>Les Mathématiques de l'Essence : L'Optimisation sous Contrainte d'Effet</vt:lpstr>
      <vt:lpstr>Le Fondement: Le Cadre Cosmique Surintégré (UHCF-OM)</vt:lpstr>
      <vt:lpstr>La Réalité Biologique Intégrale : Les 16 Systèmes du Modèle UHCF-OM</vt:lpstr>
      <vt:lpstr>L'Equation Cosmique Surhyper Complète</vt:lpstr>
      <vt:lpstr>La Rigueur Absolue : Les Garanties de la Théorie Mathématique Cosmique</vt:lpstr>
      <vt:lpstr>De la Théorie à la Pratique : Paramétrisation pour des</vt:lpstr>
      <vt:lpstr>Le Cadre Intégré Complet : Dompter la Complexité, de la Fondation à la Vision</vt:lpstr>
      <vt:lpstr>Un Nouveau Paradigme pour l'Oncologie de Précision</vt:lpstr>
      <vt:lpstr>Vers une Théorie du Champ Unifié pour la Biologie du Cancer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Question Fondamentale : Corrélation Statistique ou Causalité Biologique ?</dc:title>
  <cp:lastModifiedBy>Sofiane Bensebane</cp:lastModifiedBy>
  <cp:revision>1</cp:revision>
  <dcterms:created xsi:type="dcterms:W3CDTF">2025-12-09T20:47:01Z</dcterms:created>
  <dcterms:modified xsi:type="dcterms:W3CDTF">2025-12-09T22:37:51Z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LastSaved">
    <vt:filetime>2025-12-09T00:00:00Z</vt:filetime>
  </property>
</Properties>
</file>