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151515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3970">
              <a:lnSpc>
                <a:spcPts val="1555"/>
              </a:lnSpc>
            </a:pPr>
            <a:r>
              <a:rPr dirty="0" sz="1300"/>
              <a:t>G</a:t>
            </a:r>
            <a:r>
              <a:rPr dirty="0" sz="1300" spc="484"/>
              <a:t> </a:t>
            </a:r>
            <a:r>
              <a:rPr dirty="0" sz="1300" spc="-10"/>
              <a:t>NotebookLM</a:t>
            </a:r>
            <a:endParaRPr sz="1300"/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151515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3970">
              <a:lnSpc>
                <a:spcPts val="1555"/>
              </a:lnSpc>
            </a:pPr>
            <a:r>
              <a:rPr dirty="0" sz="1300"/>
              <a:t>G</a:t>
            </a:r>
            <a:r>
              <a:rPr dirty="0" sz="1300" spc="484"/>
              <a:t> </a:t>
            </a:r>
            <a:r>
              <a:rPr dirty="0" sz="1300" spc="-10"/>
              <a:t>NotebookLM</a:t>
            </a:r>
            <a:endParaRPr sz="1300"/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60900" y="6642100"/>
            <a:ext cx="2451100" cy="15367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60900" y="4927600"/>
            <a:ext cx="2451100" cy="15367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60900" y="3213100"/>
            <a:ext cx="2451100" cy="15367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579100" y="3098800"/>
            <a:ext cx="4356100" cy="50927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058400" y="5118100"/>
            <a:ext cx="825500" cy="838200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975100" y="6591300"/>
            <a:ext cx="292100" cy="67310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807700" y="5219700"/>
            <a:ext cx="177800" cy="101600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896600" y="5359400"/>
            <a:ext cx="88900" cy="101600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883900" y="5638800"/>
            <a:ext cx="101600" cy="101600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782300" y="5778500"/>
            <a:ext cx="203200" cy="1016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151515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3970">
              <a:lnSpc>
                <a:spcPts val="1555"/>
              </a:lnSpc>
            </a:pPr>
            <a:r>
              <a:rPr dirty="0" sz="1300"/>
              <a:t>G</a:t>
            </a:r>
            <a:r>
              <a:rPr dirty="0" sz="1300" spc="484"/>
              <a:t> </a:t>
            </a:r>
            <a:r>
              <a:rPr dirty="0" sz="1300" spc="-10"/>
              <a:t>NotebookLM</a:t>
            </a:r>
            <a:endParaRPr sz="1300"/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9500" y="4000500"/>
            <a:ext cx="12166600" cy="43434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151515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3970">
              <a:lnSpc>
                <a:spcPts val="1555"/>
              </a:lnSpc>
            </a:pPr>
            <a:r>
              <a:rPr dirty="0" sz="1300"/>
              <a:t>G</a:t>
            </a:r>
            <a:r>
              <a:rPr dirty="0" sz="1300" spc="484"/>
              <a:t> </a:t>
            </a:r>
            <a:r>
              <a:rPr dirty="0" sz="1300" spc="-10"/>
              <a:t>NotebookLM</a:t>
            </a:r>
            <a:endParaRPr sz="1300"/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3970">
              <a:lnSpc>
                <a:spcPts val="1555"/>
              </a:lnSpc>
            </a:pPr>
            <a:r>
              <a:rPr dirty="0" sz="1300"/>
              <a:t>G</a:t>
            </a:r>
            <a:r>
              <a:rPr dirty="0" sz="1300" spc="484"/>
              <a:t> </a:t>
            </a:r>
            <a:r>
              <a:rPr dirty="0" sz="1300" spc="-10"/>
              <a:t>NotebookLM</a:t>
            </a:r>
            <a:endParaRPr sz="1300"/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29477" y="311855"/>
            <a:ext cx="15816245" cy="2865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151515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60626" y="3086805"/>
            <a:ext cx="15304769" cy="2820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6106012" y="9431901"/>
            <a:ext cx="1239280" cy="2498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3970">
              <a:lnSpc>
                <a:spcPts val="1555"/>
              </a:lnSpc>
            </a:pPr>
            <a:r>
              <a:rPr dirty="0" sz="1300"/>
              <a:t>G</a:t>
            </a:r>
            <a:r>
              <a:rPr dirty="0" sz="1300" spc="484"/>
              <a:t> </a:t>
            </a:r>
            <a:r>
              <a:rPr dirty="0" sz="1300" spc="-10"/>
              <a:t>NotebookLM</a:t>
            </a:r>
            <a:endParaRPr sz="1300"/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image" Target="../media/image17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jp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jpg"/><Relationship Id="rId3" Type="http://schemas.openxmlformats.org/officeDocument/2006/relationships/image" Target="../media/image28.jpg"/><Relationship Id="rId4" Type="http://schemas.openxmlformats.org/officeDocument/2006/relationships/image" Target="../media/image29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jpg"/><Relationship Id="rId3" Type="http://schemas.openxmlformats.org/officeDocument/2006/relationships/image" Target="../media/image33.jpg"/><Relationship Id="rId4" Type="http://schemas.openxmlformats.org/officeDocument/2006/relationships/image" Target="../media/image34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jpg"/><Relationship Id="rId3" Type="http://schemas.openxmlformats.org/officeDocument/2006/relationships/image" Target="../media/image36.jpg"/><Relationship Id="rId4" Type="http://schemas.openxmlformats.org/officeDocument/2006/relationships/image" Target="../media/image37.jpg"/><Relationship Id="rId5" Type="http://schemas.openxmlformats.org/officeDocument/2006/relationships/image" Target="../media/image38.jpg"/><Relationship Id="rId6" Type="http://schemas.openxmlformats.org/officeDocument/2006/relationships/image" Target="../media/image39.jpg"/><Relationship Id="rId7" Type="http://schemas.openxmlformats.org/officeDocument/2006/relationships/image" Target="../media/image40.jpg"/><Relationship Id="rId8" Type="http://schemas.openxmlformats.org/officeDocument/2006/relationships/image" Target="../media/image41.jpg"/><Relationship Id="rId9" Type="http://schemas.openxmlformats.org/officeDocument/2006/relationships/image" Target="../media/image42.png"/><Relationship Id="rId10" Type="http://schemas.openxmlformats.org/officeDocument/2006/relationships/image" Target="../media/image43.png"/><Relationship Id="rId11" Type="http://schemas.openxmlformats.org/officeDocument/2006/relationships/image" Target="../media/image44.png"/><Relationship Id="rId12" Type="http://schemas.openxmlformats.org/officeDocument/2006/relationships/image" Target="../media/image45.png"/><Relationship Id="rId13" Type="http://schemas.openxmlformats.org/officeDocument/2006/relationships/image" Target="../media/image46.jpg"/><Relationship Id="rId14" Type="http://schemas.openxmlformats.org/officeDocument/2006/relationships/image" Target="../media/image47.png"/><Relationship Id="rId15" Type="http://schemas.openxmlformats.org/officeDocument/2006/relationships/image" Target="../media/image48.png"/><Relationship Id="rId16" Type="http://schemas.openxmlformats.org/officeDocument/2006/relationships/image" Target="../media/image49.png"/><Relationship Id="rId17" Type="http://schemas.openxmlformats.org/officeDocument/2006/relationships/image" Target="../media/image50.png"/><Relationship Id="rId18" Type="http://schemas.openxmlformats.org/officeDocument/2006/relationships/image" Target="../media/image51.png"/><Relationship Id="rId19" Type="http://schemas.openxmlformats.org/officeDocument/2006/relationships/image" Target="../media/image52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png"/><Relationship Id="rId3" Type="http://schemas.openxmlformats.org/officeDocument/2006/relationships/image" Target="../media/image54.jp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jpg"/><Relationship Id="rId7" Type="http://schemas.openxmlformats.org/officeDocument/2006/relationships/image" Target="../media/image58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.png"/><Relationship Id="rId3" Type="http://schemas.openxmlformats.org/officeDocument/2006/relationships/image" Target="../media/image60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4015" rIns="0" bIns="0" rtlCol="0" vert="horz">
            <a:spAutoFit/>
          </a:bodyPr>
          <a:lstStyle/>
          <a:p>
            <a:pPr algn="ctr" marR="48260">
              <a:lnSpc>
                <a:spcPct val="100000"/>
              </a:lnSpc>
              <a:spcBef>
                <a:spcPts val="2945"/>
              </a:spcBef>
            </a:pPr>
            <a:r>
              <a:rPr dirty="0" sz="7600" spc="-204">
                <a:solidFill>
                  <a:srgbClr val="2F2F2F"/>
                </a:solidFill>
                <a:latin typeface="Arial"/>
                <a:cs typeface="Arial"/>
              </a:rPr>
              <a:t>La</a:t>
            </a:r>
            <a:r>
              <a:rPr dirty="0" sz="7600" spc="-325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dirty="0" sz="7600" spc="-40">
                <a:solidFill>
                  <a:srgbClr val="2A2A2A"/>
                </a:solidFill>
                <a:latin typeface="Arial"/>
                <a:cs typeface="Arial"/>
              </a:rPr>
              <a:t>Thèse</a:t>
            </a:r>
            <a:r>
              <a:rPr dirty="0" sz="7600" spc="-484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7600" spc="-10">
                <a:solidFill>
                  <a:srgbClr val="2A2A2A"/>
                </a:solidFill>
                <a:latin typeface="Arial"/>
                <a:cs typeface="Arial"/>
              </a:rPr>
              <a:t>Unifiée</a:t>
            </a:r>
            <a:endParaRPr sz="7600">
              <a:latin typeface="Arial"/>
              <a:cs typeface="Arial"/>
            </a:endParaRPr>
          </a:p>
          <a:p>
            <a:pPr algn="ctr" marR="5080">
              <a:lnSpc>
                <a:spcPts val="4400"/>
              </a:lnSpc>
              <a:spcBef>
                <a:spcPts val="1689"/>
              </a:spcBef>
            </a:pPr>
            <a:r>
              <a:rPr dirty="0" sz="3800" spc="-180">
                <a:solidFill>
                  <a:srgbClr val="000000"/>
                </a:solidFill>
                <a:latin typeface="Arial"/>
                <a:cs typeface="Arial"/>
              </a:rPr>
              <a:t>Un</a:t>
            </a:r>
            <a:r>
              <a:rPr dirty="0" sz="3800" spc="-19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3800" spc="-175">
                <a:solidFill>
                  <a:srgbClr val="000000"/>
                </a:solidFill>
                <a:latin typeface="Arial"/>
                <a:cs typeface="Arial"/>
              </a:rPr>
              <a:t>Cadre</a:t>
            </a:r>
            <a:r>
              <a:rPr dirty="0" sz="3800" spc="-19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3800" spc="-65">
                <a:solidFill>
                  <a:srgbClr val="000000"/>
                </a:solidFill>
                <a:latin typeface="Arial"/>
                <a:cs typeface="Arial"/>
              </a:rPr>
              <a:t>Intégratif</a:t>
            </a:r>
            <a:r>
              <a:rPr dirty="0" sz="3800" spc="-2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380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dirty="0" sz="3800" spc="-18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3800" spc="-229">
                <a:solidFill>
                  <a:srgbClr val="000000"/>
                </a:solidFill>
                <a:latin typeface="Arial"/>
                <a:cs typeface="Arial"/>
              </a:rPr>
              <a:t>De</a:t>
            </a:r>
            <a:r>
              <a:rPr dirty="0" sz="3800" spc="-15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3800" spc="-130">
                <a:solidFill>
                  <a:srgbClr val="000000"/>
                </a:solidFill>
                <a:latin typeface="Arial"/>
                <a:cs typeface="Arial"/>
              </a:rPr>
              <a:t>l'Équation</a:t>
            </a:r>
            <a:r>
              <a:rPr dirty="0" sz="3800" spc="-9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3800" spc="-155">
                <a:solidFill>
                  <a:srgbClr val="000000"/>
                </a:solidFill>
                <a:latin typeface="Arial"/>
                <a:cs typeface="Arial"/>
              </a:rPr>
              <a:t>Cosmique</a:t>
            </a:r>
            <a:r>
              <a:rPr dirty="0" sz="3800" spc="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3800">
                <a:solidFill>
                  <a:srgbClr val="000000"/>
                </a:solidFill>
                <a:latin typeface="Arial"/>
                <a:cs typeface="Arial"/>
              </a:rPr>
              <a:t>et</a:t>
            </a:r>
            <a:r>
              <a:rPr dirty="0" sz="3800" spc="-1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3800" spc="-130">
                <a:solidFill>
                  <a:srgbClr val="000000"/>
                </a:solidFill>
                <a:latin typeface="Arial"/>
                <a:cs typeface="Arial"/>
              </a:rPr>
              <a:t>de</a:t>
            </a:r>
            <a:r>
              <a:rPr dirty="0" sz="3800" spc="-17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3800" spc="-185">
                <a:solidFill>
                  <a:srgbClr val="000000"/>
                </a:solidFill>
                <a:latin typeface="Arial"/>
                <a:cs typeface="Arial"/>
              </a:rPr>
              <a:t>la</a:t>
            </a:r>
            <a:r>
              <a:rPr dirty="0" sz="3800" spc="-10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3800" spc="-40">
                <a:solidFill>
                  <a:srgbClr val="000000"/>
                </a:solidFill>
                <a:latin typeface="Arial"/>
                <a:cs typeface="Arial"/>
              </a:rPr>
              <a:t>Simplification </a:t>
            </a:r>
            <a:r>
              <a:rPr dirty="0" sz="3800" spc="-95">
                <a:solidFill>
                  <a:srgbClr val="000000"/>
                </a:solidFill>
                <a:latin typeface="Arial"/>
                <a:cs typeface="Arial"/>
              </a:rPr>
              <a:t>Mathématique</a:t>
            </a:r>
            <a:r>
              <a:rPr dirty="0" sz="3800" spc="-17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3800" spc="-300">
                <a:solidFill>
                  <a:srgbClr val="000000"/>
                </a:solidFill>
                <a:latin typeface="Arial"/>
                <a:cs typeface="Arial"/>
              </a:rPr>
              <a:t>à</a:t>
            </a:r>
            <a:r>
              <a:rPr dirty="0" sz="3800" spc="-9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3800" spc="-190">
                <a:solidFill>
                  <a:srgbClr val="000000"/>
                </a:solidFill>
                <a:latin typeface="Arial"/>
                <a:cs typeface="Arial"/>
              </a:rPr>
              <a:t>la</a:t>
            </a:r>
            <a:r>
              <a:rPr dirty="0" sz="3800" spc="-12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3800" spc="-114">
                <a:solidFill>
                  <a:srgbClr val="000000"/>
                </a:solidFill>
                <a:latin typeface="Arial"/>
                <a:cs typeface="Arial"/>
              </a:rPr>
              <a:t>Décision</a:t>
            </a:r>
            <a:r>
              <a:rPr dirty="0" sz="3800" spc="-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3800" spc="-110">
                <a:solidFill>
                  <a:srgbClr val="000000"/>
                </a:solidFill>
                <a:latin typeface="Arial"/>
                <a:cs typeface="Arial"/>
              </a:rPr>
              <a:t>Clinique</a:t>
            </a:r>
            <a:r>
              <a:rPr dirty="0" sz="3800" spc="-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3800" spc="-10">
                <a:solidFill>
                  <a:srgbClr val="000000"/>
                </a:solidFill>
                <a:latin typeface="Arial"/>
                <a:cs typeface="Arial"/>
              </a:rPr>
              <a:t>Adaptative</a:t>
            </a:r>
            <a:endParaRPr sz="38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970">
              <a:lnSpc>
                <a:spcPts val="1555"/>
              </a:lnSpc>
            </a:pPr>
            <a:r>
              <a:rPr dirty="0" sz="1300"/>
              <a:t>G</a:t>
            </a:r>
            <a:r>
              <a:rPr dirty="0" sz="1300" spc="484"/>
              <a:t> </a:t>
            </a:r>
            <a:r>
              <a:rPr dirty="0" sz="1300" spc="-10"/>
              <a:t>NotebookLM</a:t>
            </a:r>
            <a:endParaRPr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400" y="1727200"/>
            <a:ext cx="7200900" cy="54229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79200" y="2311400"/>
            <a:ext cx="1485900" cy="25146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195300" y="2603500"/>
            <a:ext cx="1155700" cy="43688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3891" rIns="0" bIns="0" rtlCol="0" vert="horz">
            <a:spAutoFit/>
          </a:bodyPr>
          <a:lstStyle/>
          <a:p>
            <a:pPr marL="130175">
              <a:lnSpc>
                <a:spcPct val="100000"/>
              </a:lnSpc>
              <a:spcBef>
                <a:spcPts val="100"/>
              </a:spcBef>
            </a:pPr>
            <a:r>
              <a:rPr dirty="0" sz="4650" spc="-35">
                <a:solidFill>
                  <a:srgbClr val="313131"/>
                </a:solidFill>
                <a:latin typeface="Arial"/>
                <a:cs typeface="Arial"/>
              </a:rPr>
              <a:t>Le</a:t>
            </a:r>
            <a:r>
              <a:rPr dirty="0" sz="4650" spc="-335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4650">
                <a:solidFill>
                  <a:srgbClr val="282828"/>
                </a:solidFill>
                <a:latin typeface="Arial"/>
                <a:cs typeface="Arial"/>
              </a:rPr>
              <a:t>Dilemme</a:t>
            </a:r>
            <a:r>
              <a:rPr dirty="0" sz="4650" spc="4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4650" spc="90">
                <a:solidFill>
                  <a:srgbClr val="282828"/>
                </a:solidFill>
                <a:latin typeface="Arial"/>
                <a:cs typeface="Arial"/>
              </a:rPr>
              <a:t>Existentiel</a:t>
            </a:r>
            <a:r>
              <a:rPr dirty="0" sz="4650" spc="5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4650" spc="100">
                <a:solidFill>
                  <a:srgbClr val="2A2A2A"/>
                </a:solidFill>
                <a:latin typeface="Arial"/>
                <a:cs typeface="Arial"/>
              </a:rPr>
              <a:t>de</a:t>
            </a:r>
            <a:r>
              <a:rPr dirty="0" sz="4650" spc="-325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4650" spc="55">
                <a:solidFill>
                  <a:srgbClr val="2A2A2A"/>
                </a:solidFill>
                <a:latin typeface="Arial"/>
                <a:cs typeface="Arial"/>
              </a:rPr>
              <a:t>l'Oncologie</a:t>
            </a:r>
            <a:r>
              <a:rPr dirty="0" sz="4650" spc="-15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4650">
                <a:solidFill>
                  <a:srgbClr val="313131"/>
                </a:solidFill>
                <a:latin typeface="Arial"/>
                <a:cs typeface="Arial"/>
              </a:rPr>
              <a:t>à</a:t>
            </a:r>
            <a:r>
              <a:rPr dirty="0" sz="4650" spc="-245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4650">
                <a:solidFill>
                  <a:srgbClr val="2A2A2A"/>
                </a:solidFill>
                <a:latin typeface="Arial"/>
                <a:cs typeface="Arial"/>
              </a:rPr>
              <a:t>l'Ère</a:t>
            </a:r>
            <a:r>
              <a:rPr dirty="0" sz="4650" spc="-215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4650" spc="100">
                <a:solidFill>
                  <a:srgbClr val="2A2A2A"/>
                </a:solidFill>
                <a:latin typeface="Arial"/>
                <a:cs typeface="Arial"/>
              </a:rPr>
              <a:t>des</a:t>
            </a:r>
            <a:r>
              <a:rPr dirty="0" sz="4650" spc="-31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4650" spc="-10">
                <a:solidFill>
                  <a:srgbClr val="2A2A2A"/>
                </a:solidFill>
                <a:latin typeface="Arial"/>
                <a:cs typeface="Arial"/>
              </a:rPr>
              <a:t>Données</a:t>
            </a:r>
            <a:endParaRPr sz="4650">
              <a:latin typeface="Arial"/>
              <a:cs typeface="Arial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970">
              <a:lnSpc>
                <a:spcPts val="1555"/>
              </a:lnSpc>
            </a:pPr>
            <a:r>
              <a:rPr dirty="0" sz="1300"/>
              <a:t>G</a:t>
            </a:r>
            <a:r>
              <a:rPr dirty="0" sz="1300" spc="484"/>
              <a:t> </a:t>
            </a:r>
            <a:r>
              <a:rPr dirty="0" sz="1300" spc="-10"/>
              <a:t>NotebookLM</a:t>
            </a:r>
            <a:endParaRPr sz="1300"/>
          </a:p>
        </p:txBody>
      </p:sp>
      <p:sp>
        <p:nvSpPr>
          <p:cNvPr id="6" name="object 6" descr=""/>
          <p:cNvSpPr txBox="1"/>
          <p:nvPr/>
        </p:nvSpPr>
        <p:spPr>
          <a:xfrm>
            <a:off x="1107429" y="7182202"/>
            <a:ext cx="15302230" cy="2214245"/>
          </a:xfrm>
          <a:prstGeom prst="rect">
            <a:avLst/>
          </a:prstGeom>
        </p:spPr>
        <p:txBody>
          <a:bodyPr wrap="square" lIns="0" tIns="116205" rIns="0" bIns="0" rtlCol="0" vert="horz">
            <a:spAutoFit/>
          </a:bodyPr>
          <a:lstStyle/>
          <a:p>
            <a:pPr algn="ctr" marL="12065" marR="5080" indent="-72390">
              <a:lnSpc>
                <a:spcPts val="4100"/>
              </a:lnSpc>
              <a:spcBef>
                <a:spcPts val="915"/>
              </a:spcBef>
              <a:tabLst>
                <a:tab pos="2758440" algn="l"/>
                <a:tab pos="5738495" algn="l"/>
              </a:tabLst>
            </a:pPr>
            <a:r>
              <a:rPr dirty="0" sz="4100" spc="-10">
                <a:latin typeface="Calibri"/>
                <a:cs typeface="Calibri"/>
              </a:rPr>
              <a:t>Nous</a:t>
            </a:r>
            <a:r>
              <a:rPr dirty="0" sz="4100" spc="-160">
                <a:latin typeface="Calibri"/>
                <a:cs typeface="Calibri"/>
              </a:rPr>
              <a:t> </a:t>
            </a:r>
            <a:r>
              <a:rPr dirty="0" sz="4100" spc="-65">
                <a:latin typeface="Calibri"/>
                <a:cs typeface="Calibri"/>
              </a:rPr>
              <a:t>sommes</a:t>
            </a:r>
            <a:r>
              <a:rPr dirty="0" sz="4100" spc="-95">
                <a:latin typeface="Calibri"/>
                <a:cs typeface="Calibri"/>
              </a:rPr>
              <a:t> </a:t>
            </a:r>
            <a:r>
              <a:rPr dirty="0" sz="4100">
                <a:latin typeface="Calibri"/>
                <a:cs typeface="Calibri"/>
              </a:rPr>
              <a:t>noyés</a:t>
            </a:r>
            <a:r>
              <a:rPr dirty="0" sz="4100" spc="-80">
                <a:latin typeface="Calibri"/>
                <a:cs typeface="Calibri"/>
              </a:rPr>
              <a:t> </a:t>
            </a:r>
            <a:r>
              <a:rPr dirty="0" sz="4100">
                <a:latin typeface="Calibri"/>
                <a:cs typeface="Calibri"/>
              </a:rPr>
              <a:t>sous</a:t>
            </a:r>
            <a:r>
              <a:rPr dirty="0" sz="4100" spc="-100">
                <a:latin typeface="Calibri"/>
                <a:cs typeface="Calibri"/>
              </a:rPr>
              <a:t> </a:t>
            </a:r>
            <a:r>
              <a:rPr dirty="0" sz="4100" spc="-90">
                <a:latin typeface="Calibri"/>
                <a:cs typeface="Calibri"/>
              </a:rPr>
              <a:t>un</a:t>
            </a:r>
            <a:r>
              <a:rPr dirty="0" sz="4100" spc="-140">
                <a:latin typeface="Calibri"/>
                <a:cs typeface="Calibri"/>
              </a:rPr>
              <a:t> </a:t>
            </a:r>
            <a:r>
              <a:rPr dirty="0" sz="4100" spc="-25">
                <a:latin typeface="Calibri"/>
                <a:cs typeface="Calibri"/>
              </a:rPr>
              <a:t>flux</a:t>
            </a:r>
            <a:r>
              <a:rPr dirty="0" sz="4100" spc="-160">
                <a:latin typeface="Calibri"/>
                <a:cs typeface="Calibri"/>
              </a:rPr>
              <a:t> </a:t>
            </a:r>
            <a:r>
              <a:rPr dirty="0" sz="4100" spc="-10">
                <a:latin typeface="Calibri"/>
                <a:cs typeface="Calibri"/>
              </a:rPr>
              <a:t>massif</a:t>
            </a:r>
            <a:r>
              <a:rPr dirty="0" sz="4100" spc="-20">
                <a:latin typeface="Calibri"/>
                <a:cs typeface="Calibri"/>
              </a:rPr>
              <a:t> </a:t>
            </a:r>
            <a:r>
              <a:rPr dirty="0" sz="4100">
                <a:latin typeface="Calibri"/>
                <a:cs typeface="Calibri"/>
              </a:rPr>
              <a:t>de</a:t>
            </a:r>
            <a:r>
              <a:rPr dirty="0" sz="4100" spc="-229">
                <a:latin typeface="Calibri"/>
                <a:cs typeface="Calibri"/>
              </a:rPr>
              <a:t> </a:t>
            </a:r>
            <a:r>
              <a:rPr dirty="0" sz="4100" spc="-55">
                <a:latin typeface="Calibri"/>
                <a:cs typeface="Calibri"/>
              </a:rPr>
              <a:t>données,</a:t>
            </a:r>
            <a:r>
              <a:rPr dirty="0" sz="4100" spc="10">
                <a:latin typeface="Calibri"/>
                <a:cs typeface="Calibri"/>
              </a:rPr>
              <a:t> </a:t>
            </a:r>
            <a:r>
              <a:rPr dirty="0" sz="4100" spc="-30">
                <a:latin typeface="Calibri"/>
                <a:cs typeface="Calibri"/>
              </a:rPr>
              <a:t>mais</a:t>
            </a:r>
            <a:r>
              <a:rPr dirty="0" sz="4100" spc="-165">
                <a:latin typeface="Calibri"/>
                <a:cs typeface="Calibri"/>
              </a:rPr>
              <a:t> </a:t>
            </a:r>
            <a:r>
              <a:rPr dirty="0" sz="4100" spc="-10">
                <a:latin typeface="Calibri"/>
                <a:cs typeface="Calibri"/>
              </a:rPr>
              <a:t>notre </a:t>
            </a:r>
            <a:r>
              <a:rPr dirty="0" sz="4100" spc="-160">
                <a:latin typeface="Calibri"/>
                <a:cs typeface="Calibri"/>
              </a:rPr>
              <a:t>compréhension</a:t>
            </a:r>
            <a:r>
              <a:rPr dirty="0" sz="4100" spc="-75">
                <a:latin typeface="Calibri"/>
                <a:cs typeface="Calibri"/>
              </a:rPr>
              <a:t> </a:t>
            </a:r>
            <a:r>
              <a:rPr dirty="0" sz="4100" spc="-120">
                <a:latin typeface="Calibri"/>
                <a:cs typeface="Calibri"/>
              </a:rPr>
              <a:t>mécaniste</a:t>
            </a:r>
            <a:r>
              <a:rPr dirty="0" sz="4100" spc="-100">
                <a:latin typeface="Calibri"/>
                <a:cs typeface="Calibri"/>
              </a:rPr>
              <a:t> </a:t>
            </a:r>
            <a:r>
              <a:rPr dirty="0" sz="4100" spc="-150">
                <a:latin typeface="Calibri"/>
                <a:cs typeface="Calibri"/>
              </a:rPr>
              <a:t>et</a:t>
            </a:r>
            <a:r>
              <a:rPr dirty="0" sz="4100" spc="-85">
                <a:latin typeface="Calibri"/>
                <a:cs typeface="Calibri"/>
              </a:rPr>
              <a:t> </a:t>
            </a:r>
            <a:r>
              <a:rPr dirty="0" sz="4100" spc="-45">
                <a:latin typeface="Calibri"/>
                <a:cs typeface="Calibri"/>
              </a:rPr>
              <a:t>causale</a:t>
            </a:r>
            <a:r>
              <a:rPr dirty="0" sz="4100" spc="-5">
                <a:latin typeface="Calibri"/>
                <a:cs typeface="Calibri"/>
              </a:rPr>
              <a:t> </a:t>
            </a:r>
            <a:r>
              <a:rPr dirty="0" sz="4100" spc="-190">
                <a:latin typeface="Calibri"/>
                <a:cs typeface="Calibri"/>
              </a:rPr>
              <a:t>demeure</a:t>
            </a:r>
            <a:r>
              <a:rPr dirty="0" sz="4100" spc="-5">
                <a:latin typeface="Calibri"/>
                <a:cs typeface="Calibri"/>
              </a:rPr>
              <a:t> </a:t>
            </a:r>
            <a:r>
              <a:rPr dirty="0" sz="4100" spc="-90">
                <a:latin typeface="Calibri"/>
                <a:cs typeface="Calibri"/>
              </a:rPr>
              <a:t>insuffisante.</a:t>
            </a:r>
            <a:r>
              <a:rPr dirty="0" sz="4100" spc="-15">
                <a:latin typeface="Calibri"/>
                <a:cs typeface="Calibri"/>
              </a:rPr>
              <a:t> </a:t>
            </a:r>
            <a:r>
              <a:rPr dirty="0" sz="4100" spc="50">
                <a:latin typeface="Calibri"/>
                <a:cs typeface="Calibri"/>
              </a:rPr>
              <a:t>Les</a:t>
            </a:r>
            <a:r>
              <a:rPr dirty="0" sz="4100" spc="-229">
                <a:latin typeface="Calibri"/>
                <a:cs typeface="Calibri"/>
              </a:rPr>
              <a:t> </a:t>
            </a:r>
            <a:r>
              <a:rPr dirty="0" sz="4100" spc="-45">
                <a:latin typeface="Calibri"/>
                <a:cs typeface="Calibri"/>
              </a:rPr>
              <a:t>dèles</a:t>
            </a:r>
            <a:r>
              <a:rPr dirty="0" sz="4100" spc="-185">
                <a:latin typeface="Calibri"/>
                <a:cs typeface="Calibri"/>
              </a:rPr>
              <a:t> </a:t>
            </a:r>
            <a:r>
              <a:rPr dirty="0" sz="4100" spc="-75">
                <a:latin typeface="Calibri"/>
                <a:cs typeface="Calibri"/>
              </a:rPr>
              <a:t>actuels </a:t>
            </a:r>
            <a:r>
              <a:rPr dirty="0" sz="4100" spc="-50">
                <a:latin typeface="Calibri"/>
                <a:cs typeface="Calibri"/>
              </a:rPr>
              <a:t>détectent</a:t>
            </a:r>
            <a:r>
              <a:rPr dirty="0" sz="4100" spc="180">
                <a:latin typeface="Calibri"/>
                <a:cs typeface="Calibri"/>
              </a:rPr>
              <a:t> </a:t>
            </a:r>
            <a:r>
              <a:rPr dirty="0" sz="4100">
                <a:latin typeface="Calibri"/>
                <a:cs typeface="Calibri"/>
              </a:rPr>
              <a:t>des</a:t>
            </a:r>
            <a:r>
              <a:rPr dirty="0" sz="4100" spc="-30">
                <a:latin typeface="Calibri"/>
                <a:cs typeface="Calibri"/>
              </a:rPr>
              <a:t> </a:t>
            </a:r>
            <a:r>
              <a:rPr dirty="0" sz="4100" spc="-10">
                <a:latin typeface="Calibri"/>
                <a:cs typeface="Calibri"/>
              </a:rPr>
              <a:t>corrélations,</a:t>
            </a:r>
            <a:r>
              <a:rPr dirty="0" sz="4100">
                <a:latin typeface="Calibri"/>
                <a:cs typeface="Calibri"/>
              </a:rPr>
              <a:t>	mais</a:t>
            </a:r>
            <a:r>
              <a:rPr dirty="0" sz="4100" spc="-10">
                <a:latin typeface="Calibri"/>
                <a:cs typeface="Calibri"/>
              </a:rPr>
              <a:t> </a:t>
            </a:r>
            <a:r>
              <a:rPr dirty="0" sz="4100" spc="-35">
                <a:latin typeface="Calibri"/>
                <a:cs typeface="Calibri"/>
              </a:rPr>
              <a:t>échouent</a:t>
            </a:r>
            <a:r>
              <a:rPr dirty="0" sz="4100" spc="130">
                <a:latin typeface="Calibri"/>
                <a:cs typeface="Calibri"/>
              </a:rPr>
              <a:t> </a:t>
            </a:r>
            <a:r>
              <a:rPr dirty="0" sz="4100" spc="114">
                <a:latin typeface="Calibri"/>
                <a:cs typeface="Calibri"/>
              </a:rPr>
              <a:t>à</a:t>
            </a:r>
            <a:r>
              <a:rPr dirty="0" sz="4100" spc="-175">
                <a:latin typeface="Calibri"/>
                <a:cs typeface="Calibri"/>
              </a:rPr>
              <a:t> </a:t>
            </a:r>
            <a:r>
              <a:rPr dirty="0" sz="4100" spc="-50">
                <a:latin typeface="Calibri"/>
                <a:cs typeface="Calibri"/>
              </a:rPr>
              <a:t>répondre</a:t>
            </a:r>
            <a:r>
              <a:rPr dirty="0" sz="4100" spc="220">
                <a:latin typeface="Calibri"/>
                <a:cs typeface="Calibri"/>
              </a:rPr>
              <a:t> </a:t>
            </a:r>
            <a:r>
              <a:rPr dirty="0" sz="4100">
                <a:latin typeface="Calibri"/>
                <a:cs typeface="Calibri"/>
              </a:rPr>
              <a:t>à</a:t>
            </a:r>
            <a:r>
              <a:rPr dirty="0" sz="4100" spc="-145">
                <a:latin typeface="Calibri"/>
                <a:cs typeface="Calibri"/>
              </a:rPr>
              <a:t> </a:t>
            </a:r>
            <a:r>
              <a:rPr dirty="0" sz="4100">
                <a:latin typeface="Calibri"/>
                <a:cs typeface="Calibri"/>
              </a:rPr>
              <a:t>la</a:t>
            </a:r>
            <a:r>
              <a:rPr dirty="0" sz="4100" spc="-114">
                <a:latin typeface="Calibri"/>
                <a:cs typeface="Calibri"/>
              </a:rPr>
              <a:t> </a:t>
            </a:r>
            <a:r>
              <a:rPr dirty="0" sz="4100" spc="-10">
                <a:latin typeface="Calibri"/>
                <a:cs typeface="Calibri"/>
              </a:rPr>
              <a:t>question </a:t>
            </a:r>
            <a:r>
              <a:rPr dirty="0" sz="4150" spc="-40">
                <a:latin typeface="Calibri"/>
                <a:cs typeface="Calibri"/>
              </a:rPr>
              <a:t>essentielle</a:t>
            </a:r>
            <a:r>
              <a:rPr dirty="0" sz="4150" spc="-125">
                <a:latin typeface="Calibri"/>
                <a:cs typeface="Calibri"/>
              </a:rPr>
              <a:t> </a:t>
            </a:r>
            <a:r>
              <a:rPr dirty="0" sz="4150" spc="-50">
                <a:latin typeface="Calibri"/>
                <a:cs typeface="Calibri"/>
              </a:rPr>
              <a:t>:</a:t>
            </a:r>
            <a:r>
              <a:rPr dirty="0" sz="4150">
                <a:latin typeface="Calibri"/>
                <a:cs typeface="Calibri"/>
              </a:rPr>
              <a:t>	</a:t>
            </a:r>
            <a:r>
              <a:rPr dirty="0" sz="4150" i="1">
                <a:solidFill>
                  <a:srgbClr val="05487C"/>
                </a:solidFill>
                <a:latin typeface="Calibri"/>
                <a:cs typeface="Calibri"/>
              </a:rPr>
              <a:t>Pourquoi</a:t>
            </a:r>
            <a:r>
              <a:rPr dirty="0" sz="4150" spc="-15" i="1">
                <a:solidFill>
                  <a:srgbClr val="05487C"/>
                </a:solidFill>
                <a:latin typeface="Calibri"/>
                <a:cs typeface="Calibri"/>
              </a:rPr>
              <a:t> </a:t>
            </a:r>
            <a:r>
              <a:rPr dirty="0" sz="4150" spc="-25">
                <a:latin typeface="Calibri"/>
                <a:cs typeface="Calibri"/>
              </a:rPr>
              <a:t>cette</a:t>
            </a:r>
            <a:r>
              <a:rPr dirty="0" sz="4150" spc="-125">
                <a:latin typeface="Calibri"/>
                <a:cs typeface="Calibri"/>
              </a:rPr>
              <a:t> </a:t>
            </a:r>
            <a:r>
              <a:rPr dirty="0" sz="4150" spc="-160">
                <a:latin typeface="Calibri"/>
                <a:cs typeface="Calibri"/>
              </a:rPr>
              <a:t>tumeur</a:t>
            </a:r>
            <a:r>
              <a:rPr dirty="0" sz="4150" spc="90">
                <a:latin typeface="Calibri"/>
                <a:cs typeface="Calibri"/>
              </a:rPr>
              <a:t> </a:t>
            </a:r>
            <a:r>
              <a:rPr dirty="0" sz="4150" spc="-85">
                <a:latin typeface="Calibri"/>
                <a:cs typeface="Calibri"/>
              </a:rPr>
              <a:t>évolue-</a:t>
            </a:r>
            <a:r>
              <a:rPr dirty="0" sz="4150" spc="-65">
                <a:latin typeface="Calibri"/>
                <a:cs typeface="Calibri"/>
              </a:rPr>
              <a:t>t-</a:t>
            </a:r>
            <a:r>
              <a:rPr dirty="0" sz="4150">
                <a:latin typeface="Calibri"/>
                <a:cs typeface="Calibri"/>
              </a:rPr>
              <a:t>elle</a:t>
            </a:r>
            <a:r>
              <a:rPr dirty="0" sz="4150" spc="70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ainsi</a:t>
            </a:r>
            <a:r>
              <a:rPr dirty="0" sz="4150" spc="-25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chez</a:t>
            </a:r>
            <a:r>
              <a:rPr dirty="0" sz="4150" spc="-35">
                <a:latin typeface="Calibri"/>
                <a:cs typeface="Calibri"/>
              </a:rPr>
              <a:t> </a:t>
            </a:r>
            <a:r>
              <a:rPr dirty="0" sz="4150" spc="90" i="1">
                <a:latin typeface="Calibri"/>
                <a:cs typeface="Calibri"/>
              </a:rPr>
              <a:t>ce</a:t>
            </a:r>
            <a:r>
              <a:rPr dirty="0" sz="4150" spc="-229" i="1">
                <a:latin typeface="Calibri"/>
                <a:cs typeface="Calibri"/>
              </a:rPr>
              <a:t> </a:t>
            </a:r>
            <a:r>
              <a:rPr dirty="0" sz="4150" spc="-100">
                <a:latin typeface="Calibri"/>
                <a:cs typeface="Calibri"/>
              </a:rPr>
              <a:t>patient</a:t>
            </a:r>
            <a:r>
              <a:rPr dirty="0" sz="4150" spc="-85">
                <a:latin typeface="Calibri"/>
                <a:cs typeface="Calibri"/>
              </a:rPr>
              <a:t> </a:t>
            </a:r>
            <a:r>
              <a:rPr dirty="0" sz="4150" spc="80">
                <a:latin typeface="Calibri"/>
                <a:cs typeface="Calibri"/>
              </a:rPr>
              <a:t>?</a:t>
            </a:r>
            <a:endParaRPr sz="4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2552700"/>
            <a:ext cx="3657600" cy="36957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94500" y="2527300"/>
            <a:ext cx="3886200" cy="38862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979400" y="2565400"/>
            <a:ext cx="3594100" cy="37084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08753" rIns="0" bIns="0" rtlCol="0" vert="horz">
            <a:spAutoFit/>
          </a:bodyPr>
          <a:lstStyle/>
          <a:p>
            <a:pPr marL="2534285">
              <a:lnSpc>
                <a:spcPct val="100000"/>
              </a:lnSpc>
              <a:spcBef>
                <a:spcPts val="135"/>
              </a:spcBef>
            </a:pPr>
            <a:r>
              <a:rPr dirty="0" sz="4200">
                <a:solidFill>
                  <a:srgbClr val="000000"/>
                </a:solidFill>
                <a:latin typeface="Arial"/>
                <a:cs typeface="Arial"/>
              </a:rPr>
              <a:t>Les</a:t>
            </a:r>
            <a:r>
              <a:rPr dirty="0" sz="4200" spc="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4200">
                <a:solidFill>
                  <a:srgbClr val="000000"/>
                </a:solidFill>
                <a:latin typeface="Arial"/>
                <a:cs typeface="Arial"/>
              </a:rPr>
              <a:t>Trois</a:t>
            </a:r>
            <a:r>
              <a:rPr dirty="0" sz="4200" spc="-7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4200" spc="114">
                <a:solidFill>
                  <a:srgbClr val="000000"/>
                </a:solidFill>
                <a:latin typeface="Arial"/>
                <a:cs typeface="Arial"/>
              </a:rPr>
              <a:t>Murs</a:t>
            </a:r>
            <a:r>
              <a:rPr dirty="0" sz="4200" spc="5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4200" spc="65">
                <a:solidFill>
                  <a:srgbClr val="000000"/>
                </a:solidFill>
                <a:latin typeface="Arial"/>
                <a:cs typeface="Arial"/>
              </a:rPr>
              <a:t>de</a:t>
            </a:r>
            <a:r>
              <a:rPr dirty="0" sz="4200" spc="-15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4200">
                <a:solidFill>
                  <a:srgbClr val="000000"/>
                </a:solidFill>
                <a:latin typeface="Arial"/>
                <a:cs typeface="Arial"/>
              </a:rPr>
              <a:t>la</a:t>
            </a:r>
            <a:r>
              <a:rPr dirty="0" sz="4200" spc="-9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4200">
                <a:solidFill>
                  <a:srgbClr val="000000"/>
                </a:solidFill>
                <a:latin typeface="Arial"/>
                <a:cs typeface="Arial"/>
              </a:rPr>
              <a:t>Connaissance</a:t>
            </a:r>
            <a:r>
              <a:rPr dirty="0" sz="4200" spc="44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4200" spc="75">
                <a:solidFill>
                  <a:srgbClr val="000000"/>
                </a:solidFill>
                <a:latin typeface="Arial"/>
                <a:cs typeface="Arial"/>
              </a:rPr>
              <a:t>Actuelle</a:t>
            </a:r>
            <a:endParaRPr sz="42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970">
              <a:lnSpc>
                <a:spcPts val="1555"/>
              </a:lnSpc>
            </a:pPr>
            <a:r>
              <a:rPr dirty="0" sz="1300"/>
              <a:t>G</a:t>
            </a:r>
            <a:r>
              <a:rPr dirty="0" sz="1300" spc="484"/>
              <a:t> </a:t>
            </a:r>
            <a:r>
              <a:rPr dirty="0" sz="1300" spc="-10"/>
              <a:t>NotebookLM</a:t>
            </a:r>
            <a:endParaRPr sz="1300"/>
          </a:p>
        </p:txBody>
      </p:sp>
      <p:sp>
        <p:nvSpPr>
          <p:cNvPr id="6" name="object 6" descr=""/>
          <p:cNvSpPr txBox="1"/>
          <p:nvPr/>
        </p:nvSpPr>
        <p:spPr>
          <a:xfrm>
            <a:off x="901347" y="6956072"/>
            <a:ext cx="4130040" cy="2129155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algn="ctr" marL="12700" marR="41275">
              <a:lnSpc>
                <a:spcPts val="3100"/>
              </a:lnSpc>
              <a:spcBef>
                <a:spcPts val="395"/>
              </a:spcBef>
            </a:pPr>
            <a:r>
              <a:rPr dirty="0" sz="2750" spc="-10">
                <a:latin typeface="Arial"/>
                <a:cs typeface="Arial"/>
              </a:rPr>
              <a:t>Le</a:t>
            </a:r>
            <a:r>
              <a:rPr dirty="0" sz="2750" spc="-20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Piège</a:t>
            </a:r>
            <a:r>
              <a:rPr dirty="0" sz="2750" spc="-10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de</a:t>
            </a:r>
            <a:r>
              <a:rPr dirty="0" sz="2750" spc="-6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la</a:t>
            </a:r>
            <a:r>
              <a:rPr dirty="0" sz="2750" spc="-150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Complexité </a:t>
            </a:r>
            <a:r>
              <a:rPr dirty="0" sz="2750" spc="40">
                <a:latin typeface="Arial"/>
                <a:cs typeface="Arial"/>
              </a:rPr>
              <a:t>Mathématique</a:t>
            </a:r>
            <a:endParaRPr sz="2750">
              <a:latin typeface="Arial"/>
              <a:cs typeface="Arial"/>
            </a:endParaRPr>
          </a:p>
          <a:p>
            <a:pPr algn="ctr" marL="13970" marR="5080">
              <a:lnSpc>
                <a:spcPct val="105100"/>
              </a:lnSpc>
              <a:spcBef>
                <a:spcPts val="1240"/>
              </a:spcBef>
              <a:tabLst>
                <a:tab pos="1842135" algn="l"/>
              </a:tabLst>
            </a:pPr>
            <a:r>
              <a:rPr dirty="0" sz="2300">
                <a:latin typeface="Calibri"/>
                <a:cs typeface="Calibri"/>
              </a:rPr>
              <a:t>Les</a:t>
            </a:r>
            <a:r>
              <a:rPr dirty="0" sz="2300" spc="70">
                <a:latin typeface="Calibri"/>
                <a:cs typeface="Calibri"/>
              </a:rPr>
              <a:t>  </a:t>
            </a:r>
            <a:r>
              <a:rPr dirty="0" sz="2300">
                <a:latin typeface="Calibri"/>
                <a:cs typeface="Calibri"/>
              </a:rPr>
              <a:t>modèles</a:t>
            </a:r>
            <a:r>
              <a:rPr dirty="0" sz="2300" spc="28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exhaustifs</a:t>
            </a:r>
            <a:r>
              <a:rPr dirty="0" sz="2300" spc="54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sont</a:t>
            </a:r>
            <a:r>
              <a:rPr dirty="0" sz="2300" spc="280">
                <a:latin typeface="Calibri"/>
                <a:cs typeface="Calibri"/>
              </a:rPr>
              <a:t> </a:t>
            </a:r>
            <a:r>
              <a:rPr dirty="0" sz="2300" spc="-25">
                <a:latin typeface="Calibri"/>
                <a:cs typeface="Calibri"/>
              </a:rPr>
              <a:t>non </a:t>
            </a:r>
            <a:r>
              <a:rPr dirty="0" sz="2300">
                <a:latin typeface="Calibri"/>
                <a:cs typeface="Calibri"/>
              </a:rPr>
              <a:t>pratiques</a:t>
            </a:r>
            <a:r>
              <a:rPr dirty="0" sz="2300" spc="28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;</a:t>
            </a:r>
            <a:r>
              <a:rPr dirty="0" sz="2300" spc="100">
                <a:latin typeface="Calibri"/>
                <a:cs typeface="Calibri"/>
              </a:rPr>
              <a:t> </a:t>
            </a:r>
            <a:r>
              <a:rPr dirty="0" sz="2300" spc="-25">
                <a:latin typeface="Calibri"/>
                <a:cs typeface="Calibri"/>
              </a:rPr>
              <a:t>les</a:t>
            </a:r>
            <a:r>
              <a:rPr dirty="0" sz="2300">
                <a:latin typeface="Calibri"/>
                <a:cs typeface="Calibri"/>
              </a:rPr>
              <a:t>	modèles</a:t>
            </a:r>
            <a:r>
              <a:rPr dirty="0" sz="2300" spc="400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simples </a:t>
            </a:r>
            <a:r>
              <a:rPr dirty="0" sz="2400">
                <a:latin typeface="Calibri"/>
                <a:cs typeface="Calibri"/>
              </a:rPr>
              <a:t>sont</a:t>
            </a:r>
            <a:r>
              <a:rPr dirty="0" sz="2400" spc="1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trompeurs.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984647" y="6956072"/>
            <a:ext cx="3467100" cy="4489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50">
                <a:latin typeface="Arial"/>
                <a:cs typeface="Arial"/>
              </a:rPr>
              <a:t>La</a:t>
            </a:r>
            <a:r>
              <a:rPr dirty="0" sz="2750" spc="-1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Crise</a:t>
            </a:r>
            <a:r>
              <a:rPr dirty="0" sz="2750" spc="-4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des</a:t>
            </a:r>
            <a:r>
              <a:rPr dirty="0" sz="2750" spc="-90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Données</a:t>
            </a:r>
            <a:endParaRPr sz="275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686973" y="7720894"/>
            <a:ext cx="4093845" cy="1143000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algn="ctr" marL="12700" marR="5080" indent="-20320">
              <a:lnSpc>
                <a:spcPct val="111700"/>
              </a:lnSpc>
              <a:spcBef>
                <a:spcPts val="45"/>
              </a:spcBef>
            </a:pPr>
            <a:r>
              <a:rPr dirty="0" sz="2200" spc="-35">
                <a:latin typeface="Arial"/>
                <a:cs typeface="Arial"/>
              </a:rPr>
              <a:t>Les</a:t>
            </a:r>
            <a:r>
              <a:rPr dirty="0" sz="2200" spc="-10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données</a:t>
            </a:r>
            <a:r>
              <a:rPr dirty="0" sz="2200" spc="8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sont</a:t>
            </a:r>
            <a:r>
              <a:rPr dirty="0" sz="2200" spc="-50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dispersées, </a:t>
            </a:r>
            <a:r>
              <a:rPr dirty="0" sz="2200">
                <a:latin typeface="Arial"/>
                <a:cs typeface="Arial"/>
              </a:rPr>
              <a:t>hétérogènes,</a:t>
            </a:r>
            <a:r>
              <a:rPr dirty="0" sz="2200" spc="21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sous-étiquetées</a:t>
            </a:r>
            <a:r>
              <a:rPr dirty="0" sz="2200" spc="25">
                <a:latin typeface="Arial"/>
                <a:cs typeface="Arial"/>
              </a:rPr>
              <a:t> </a:t>
            </a:r>
            <a:r>
              <a:rPr dirty="0" sz="2200" spc="-25">
                <a:latin typeface="Arial"/>
                <a:cs typeface="Arial"/>
              </a:rPr>
              <a:t>et </a:t>
            </a:r>
            <a:r>
              <a:rPr dirty="0" sz="2200">
                <a:latin typeface="Arial"/>
                <a:cs typeface="Arial"/>
              </a:rPr>
              <a:t>pleines</a:t>
            </a:r>
            <a:r>
              <a:rPr dirty="0" sz="2200" spc="5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de</a:t>
            </a:r>
            <a:r>
              <a:rPr dirty="0" sz="2200" spc="-90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lacunes.</a:t>
            </a:r>
            <a:endParaRPr sz="22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2179590" y="6964891"/>
            <a:ext cx="4676775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>
                <a:latin typeface="Arial"/>
                <a:cs typeface="Arial"/>
              </a:rPr>
              <a:t>Le</a:t>
            </a:r>
            <a:r>
              <a:rPr dirty="0" sz="2700" spc="-140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Problème</a:t>
            </a:r>
            <a:r>
              <a:rPr dirty="0" sz="2700" spc="180">
                <a:latin typeface="Arial"/>
                <a:cs typeface="Arial"/>
              </a:rPr>
              <a:t> </a:t>
            </a:r>
            <a:r>
              <a:rPr dirty="0" sz="2700" spc="70">
                <a:latin typeface="Arial"/>
                <a:cs typeface="Arial"/>
              </a:rPr>
              <a:t>de</a:t>
            </a:r>
            <a:r>
              <a:rPr dirty="0" sz="2700" spc="-100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la</a:t>
            </a:r>
            <a:r>
              <a:rPr dirty="0" sz="2700" spc="-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Boîte</a:t>
            </a:r>
            <a:r>
              <a:rPr dirty="0" sz="2700" spc="-65">
                <a:latin typeface="Arial"/>
                <a:cs typeface="Arial"/>
              </a:rPr>
              <a:t> </a:t>
            </a:r>
            <a:r>
              <a:rPr dirty="0" sz="2700" spc="-10">
                <a:latin typeface="Arial"/>
                <a:cs typeface="Arial"/>
              </a:rPr>
              <a:t>Noire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2386654" y="7741708"/>
            <a:ext cx="4281805" cy="11277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dirty="0" sz="2300" spc="-114">
                <a:latin typeface="Arial"/>
                <a:cs typeface="Arial"/>
              </a:rPr>
              <a:t>Les</a:t>
            </a:r>
            <a:r>
              <a:rPr dirty="0" sz="2300" spc="-45">
                <a:latin typeface="Arial"/>
                <a:cs typeface="Arial"/>
              </a:rPr>
              <a:t> </a:t>
            </a:r>
            <a:r>
              <a:rPr dirty="0" sz="2300" spc="-35">
                <a:latin typeface="Arial"/>
                <a:cs typeface="Arial"/>
              </a:rPr>
              <a:t>décisions</a:t>
            </a:r>
            <a:r>
              <a:rPr dirty="0" sz="2300" spc="-125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de</a:t>
            </a:r>
            <a:r>
              <a:rPr dirty="0" sz="2300" spc="-140">
                <a:latin typeface="Arial"/>
                <a:cs typeface="Arial"/>
              </a:rPr>
              <a:t> </a:t>
            </a:r>
            <a:r>
              <a:rPr dirty="0" sz="2300" spc="-55">
                <a:latin typeface="Arial"/>
                <a:cs typeface="Arial"/>
              </a:rPr>
              <a:t>l'IA</a:t>
            </a:r>
            <a:r>
              <a:rPr dirty="0" sz="2300" spc="-40">
                <a:latin typeface="Arial"/>
                <a:cs typeface="Arial"/>
              </a:rPr>
              <a:t> </a:t>
            </a:r>
            <a:r>
              <a:rPr dirty="0" sz="2300" spc="-55">
                <a:latin typeface="Arial"/>
                <a:cs typeface="Arial"/>
              </a:rPr>
              <a:t>manquent</a:t>
            </a:r>
            <a:r>
              <a:rPr dirty="0" sz="2300" spc="20">
                <a:latin typeface="Arial"/>
                <a:cs typeface="Arial"/>
              </a:rPr>
              <a:t> </a:t>
            </a:r>
            <a:r>
              <a:rPr dirty="0" sz="2300" spc="-25">
                <a:latin typeface="Arial"/>
                <a:cs typeface="Arial"/>
              </a:rPr>
              <a:t>de</a:t>
            </a:r>
            <a:endParaRPr sz="2300">
              <a:latin typeface="Arial"/>
              <a:cs typeface="Arial"/>
            </a:endParaRPr>
          </a:p>
          <a:p>
            <a:pPr algn="ctr" marR="15240">
              <a:lnSpc>
                <a:spcPct val="100000"/>
              </a:lnSpc>
              <a:spcBef>
                <a:spcPts val="90"/>
              </a:spcBef>
            </a:pPr>
            <a:r>
              <a:rPr dirty="0" sz="2350" spc="-65">
                <a:latin typeface="Arial"/>
                <a:cs typeface="Arial"/>
              </a:rPr>
              <a:t>transparence,</a:t>
            </a:r>
            <a:r>
              <a:rPr dirty="0" sz="2350" spc="-50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ce</a:t>
            </a:r>
            <a:r>
              <a:rPr dirty="0" sz="2350" spc="-120">
                <a:latin typeface="Arial"/>
                <a:cs typeface="Arial"/>
              </a:rPr>
              <a:t> </a:t>
            </a:r>
            <a:r>
              <a:rPr dirty="0" sz="2350" spc="-85">
                <a:latin typeface="Arial"/>
                <a:cs typeface="Arial"/>
              </a:rPr>
              <a:t>qui</a:t>
            </a:r>
            <a:r>
              <a:rPr dirty="0" sz="2350" spc="-80">
                <a:latin typeface="Arial"/>
                <a:cs typeface="Arial"/>
              </a:rPr>
              <a:t> </a:t>
            </a:r>
            <a:r>
              <a:rPr dirty="0" sz="2350" spc="-25">
                <a:latin typeface="Arial"/>
                <a:cs typeface="Arial"/>
              </a:rPr>
              <a:t>est</a:t>
            </a:r>
            <a:endParaRPr sz="2350">
              <a:latin typeface="Arial"/>
              <a:cs typeface="Arial"/>
            </a:endParaRPr>
          </a:p>
          <a:p>
            <a:pPr algn="ctr" marR="9525">
              <a:lnSpc>
                <a:spcPct val="100000"/>
              </a:lnSpc>
              <a:spcBef>
                <a:spcPts val="130"/>
              </a:spcBef>
            </a:pPr>
            <a:r>
              <a:rPr dirty="0" sz="2400" spc="-90">
                <a:latin typeface="Arial"/>
                <a:cs typeface="Arial"/>
              </a:rPr>
              <a:t>inacceptable</a:t>
            </a:r>
            <a:r>
              <a:rPr dirty="0" sz="2400" spc="5">
                <a:latin typeface="Arial"/>
                <a:cs typeface="Arial"/>
              </a:rPr>
              <a:t> </a:t>
            </a:r>
            <a:r>
              <a:rPr dirty="0" sz="2400" spc="-170">
                <a:latin typeface="Arial"/>
                <a:cs typeface="Arial"/>
              </a:rPr>
              <a:t>en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clinique.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924300" y="2971800"/>
            <a:ext cx="9867900" cy="4152900"/>
            <a:chOff x="3924300" y="2971800"/>
            <a:chExt cx="9867900" cy="41529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24300" y="3556000"/>
              <a:ext cx="9867900" cy="356870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18400" y="3048000"/>
              <a:ext cx="469900" cy="46990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99600" y="2971800"/>
              <a:ext cx="469900" cy="469900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29300" y="3340100"/>
              <a:ext cx="965200" cy="215900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972800" y="3073400"/>
              <a:ext cx="469900" cy="469900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37100" y="3175000"/>
              <a:ext cx="88900" cy="266700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114813" y="833613"/>
            <a:ext cx="15210155" cy="1293495"/>
          </a:xfrm>
          <a:prstGeom prst="rect"/>
        </p:spPr>
        <p:txBody>
          <a:bodyPr wrap="square" lIns="0" tIns="48260" rIns="0" bIns="0" rtlCol="0" vert="horz">
            <a:spAutoFit/>
          </a:bodyPr>
          <a:lstStyle/>
          <a:p>
            <a:pPr marL="2020570" marR="5080" indent="-2008505">
              <a:lnSpc>
                <a:spcPts val="4900"/>
              </a:lnSpc>
              <a:spcBef>
                <a:spcPts val="380"/>
              </a:spcBef>
            </a:pPr>
            <a:r>
              <a:rPr dirty="0" sz="4200" spc="95">
                <a:solidFill>
                  <a:srgbClr val="161616"/>
                </a:solidFill>
                <a:latin typeface="Arial"/>
                <a:cs typeface="Arial"/>
              </a:rPr>
              <a:t>Notre</a:t>
            </a:r>
            <a:r>
              <a:rPr dirty="0" sz="4200" spc="-229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4200">
                <a:solidFill>
                  <a:srgbClr val="0C0C0C"/>
                </a:solidFill>
                <a:latin typeface="Arial"/>
                <a:cs typeface="Arial"/>
              </a:rPr>
              <a:t>Réponse</a:t>
            </a:r>
            <a:r>
              <a:rPr dirty="0" sz="4200" spc="3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4200">
                <a:solidFill>
                  <a:srgbClr val="0F0F0F"/>
                </a:solidFill>
                <a:latin typeface="Arial"/>
                <a:cs typeface="Arial"/>
              </a:rPr>
              <a:t>Commence</a:t>
            </a:r>
            <a:r>
              <a:rPr dirty="0" sz="4200" spc="229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4200" spc="60">
                <a:solidFill>
                  <a:srgbClr val="111111"/>
                </a:solidFill>
                <a:latin typeface="Arial"/>
                <a:cs typeface="Arial"/>
              </a:rPr>
              <a:t>par</a:t>
            </a:r>
            <a:r>
              <a:rPr dirty="0" sz="4200" spc="-35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4200" spc="90">
                <a:latin typeface="Arial"/>
                <a:cs typeface="Arial"/>
              </a:rPr>
              <a:t>une</a:t>
            </a:r>
            <a:r>
              <a:rPr dirty="0" sz="4200" spc="-229">
                <a:latin typeface="Arial"/>
                <a:cs typeface="Arial"/>
              </a:rPr>
              <a:t> </a:t>
            </a:r>
            <a:r>
              <a:rPr dirty="0" sz="4200" spc="85">
                <a:solidFill>
                  <a:srgbClr val="111111"/>
                </a:solidFill>
                <a:latin typeface="Arial"/>
                <a:cs typeface="Arial"/>
              </a:rPr>
              <a:t>Libération</a:t>
            </a:r>
            <a:r>
              <a:rPr dirty="0" sz="4200" spc="2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4200" spc="75">
                <a:solidFill>
                  <a:srgbClr val="131313"/>
                </a:solidFill>
                <a:latin typeface="Arial"/>
                <a:cs typeface="Arial"/>
              </a:rPr>
              <a:t>Philosophique</a:t>
            </a:r>
            <a:r>
              <a:rPr dirty="0" sz="4200" spc="4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4200" spc="5">
                <a:solidFill>
                  <a:srgbClr val="161616"/>
                </a:solidFill>
                <a:latin typeface="Arial"/>
                <a:cs typeface="Arial"/>
              </a:rPr>
              <a:t>: </a:t>
            </a:r>
            <a:r>
              <a:rPr dirty="0" sz="4200">
                <a:solidFill>
                  <a:srgbClr val="161616"/>
                </a:solidFill>
                <a:latin typeface="Arial"/>
                <a:cs typeface="Arial"/>
              </a:rPr>
              <a:t>Le</a:t>
            </a:r>
            <a:r>
              <a:rPr dirty="0" sz="4200" spc="-19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4200" spc="70">
                <a:solidFill>
                  <a:srgbClr val="111111"/>
                </a:solidFill>
                <a:latin typeface="Arial"/>
                <a:cs typeface="Arial"/>
              </a:rPr>
              <a:t>Principe</a:t>
            </a:r>
            <a:r>
              <a:rPr dirty="0" sz="4200" spc="1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4200" spc="135">
                <a:solidFill>
                  <a:srgbClr val="0C0C0C"/>
                </a:solidFill>
                <a:latin typeface="Arial"/>
                <a:cs typeface="Arial"/>
              </a:rPr>
              <a:t>d'intégration</a:t>
            </a:r>
            <a:r>
              <a:rPr dirty="0" sz="4200" spc="-15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4200" spc="130">
                <a:solidFill>
                  <a:srgbClr val="111111"/>
                </a:solidFill>
                <a:latin typeface="Arial"/>
                <a:cs typeface="Arial"/>
              </a:rPr>
              <a:t>Non-</a:t>
            </a:r>
            <a:r>
              <a:rPr dirty="0" sz="4200" spc="100">
                <a:solidFill>
                  <a:srgbClr val="111111"/>
                </a:solidFill>
                <a:latin typeface="Arial"/>
                <a:cs typeface="Arial"/>
              </a:rPr>
              <a:t>Réductionniste</a:t>
            </a:r>
            <a:endParaRPr sz="4200">
              <a:latin typeface="Arial"/>
              <a:cs typeface="Arial"/>
            </a:endParaRPr>
          </a:p>
        </p:txBody>
      </p:sp>
      <p:sp>
        <p:nvSpPr>
          <p:cNvPr id="25" name="object 2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970">
              <a:lnSpc>
                <a:spcPts val="1555"/>
              </a:lnSpc>
            </a:pPr>
            <a:r>
              <a:rPr dirty="0" sz="1300"/>
              <a:t>G</a:t>
            </a:r>
            <a:r>
              <a:rPr dirty="0" sz="1300" spc="484"/>
              <a:t> </a:t>
            </a:r>
            <a:r>
              <a:rPr dirty="0" sz="1300" spc="-10"/>
              <a:t>NotebookLM</a:t>
            </a:r>
            <a:endParaRPr sz="1300"/>
          </a:p>
        </p:txBody>
      </p:sp>
      <p:sp>
        <p:nvSpPr>
          <p:cNvPr id="10" name="object 10" descr=""/>
          <p:cNvSpPr txBox="1"/>
          <p:nvPr/>
        </p:nvSpPr>
        <p:spPr>
          <a:xfrm>
            <a:off x="2785532" y="3724627"/>
            <a:ext cx="1670685" cy="66929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12700" marR="5080" indent="127000">
              <a:lnSpc>
                <a:spcPts val="2400"/>
              </a:lnSpc>
              <a:spcBef>
                <a:spcPts val="400"/>
              </a:spcBef>
            </a:pPr>
            <a:r>
              <a:rPr dirty="0" sz="2200" spc="-45">
                <a:latin typeface="Arial"/>
                <a:cs typeface="Arial"/>
              </a:rPr>
              <a:t>Modélisation </a:t>
            </a:r>
            <a:r>
              <a:rPr dirty="0" sz="2200" spc="-95">
                <a:latin typeface="Arial"/>
                <a:cs typeface="Arial"/>
              </a:rPr>
              <a:t>Mathématique</a:t>
            </a:r>
            <a:endParaRPr sz="22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771712" y="4762147"/>
            <a:ext cx="2082164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-85">
                <a:latin typeface="Arial"/>
                <a:cs typeface="Arial"/>
              </a:rPr>
              <a:t>Thérapies</a:t>
            </a:r>
            <a:r>
              <a:rPr dirty="0" sz="2150" spc="-65">
                <a:latin typeface="Arial"/>
                <a:cs typeface="Arial"/>
              </a:rPr>
              <a:t> </a:t>
            </a:r>
            <a:r>
              <a:rPr dirty="0" sz="2150" spc="-45">
                <a:latin typeface="Arial"/>
                <a:cs typeface="Arial"/>
              </a:rPr>
              <a:t>Ciblées</a:t>
            </a:r>
            <a:endParaRPr sz="215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972177" y="5574947"/>
            <a:ext cx="2143760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-85">
                <a:latin typeface="Arial"/>
                <a:cs typeface="Arial"/>
              </a:rPr>
              <a:t>données </a:t>
            </a:r>
            <a:r>
              <a:rPr dirty="0" sz="2150" spc="-45">
                <a:latin typeface="Arial"/>
                <a:cs typeface="Arial"/>
              </a:rPr>
              <a:t>Cliniques</a:t>
            </a:r>
            <a:endParaRPr sz="215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586426" y="6421966"/>
            <a:ext cx="1480185" cy="3429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50" spc="-10">
                <a:latin typeface="Arial"/>
                <a:cs typeface="Arial"/>
              </a:rPr>
              <a:t>Protéomique</a:t>
            </a:r>
            <a:endParaRPr sz="205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983209" y="2653947"/>
            <a:ext cx="1311910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-114">
                <a:latin typeface="Arial"/>
                <a:cs typeface="Arial"/>
              </a:rPr>
              <a:t>Génomique</a:t>
            </a:r>
            <a:endParaRPr sz="215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9170193" y="2586566"/>
            <a:ext cx="1091565" cy="3429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50" spc="-10">
                <a:latin typeface="Arial"/>
                <a:cs typeface="Arial"/>
              </a:rPr>
              <a:t>Immunité</a:t>
            </a:r>
            <a:endParaRPr sz="205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872294" y="7098947"/>
            <a:ext cx="1367790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-55">
                <a:latin typeface="Arial"/>
                <a:cs typeface="Arial"/>
              </a:rPr>
              <a:t>Microbiome</a:t>
            </a:r>
            <a:endParaRPr sz="215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7929147" y="7200547"/>
            <a:ext cx="1525270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-65">
                <a:latin typeface="Arial"/>
                <a:cs typeface="Arial"/>
              </a:rPr>
              <a:t>Psychosociai</a:t>
            </a:r>
            <a:endParaRPr sz="215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0032973" y="7022747"/>
            <a:ext cx="1035685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-55">
                <a:latin typeface="Arial"/>
                <a:cs typeface="Arial"/>
              </a:rPr>
              <a:t>Imagerie</a:t>
            </a:r>
            <a:endParaRPr sz="215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1079294" y="2488990"/>
            <a:ext cx="3027045" cy="1079500"/>
          </a:xfrm>
          <a:prstGeom prst="rect">
            <a:avLst/>
          </a:prstGeom>
        </p:spPr>
        <p:txBody>
          <a:bodyPr wrap="square" lIns="0" tIns="2032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dirty="0" sz="2150" spc="-10">
                <a:latin typeface="Arial"/>
                <a:cs typeface="Arial"/>
              </a:rPr>
              <a:t>Microenvironnement</a:t>
            </a:r>
            <a:endParaRPr sz="215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  <a:spcBef>
                <a:spcPts val="1570"/>
              </a:spcBef>
            </a:pPr>
            <a:r>
              <a:rPr dirty="0" sz="2200" spc="-10">
                <a:latin typeface="Arial"/>
                <a:cs typeface="Arial"/>
              </a:rPr>
              <a:t>liatifs</a:t>
            </a:r>
            <a:endParaRPr sz="2200">
              <a:latin typeface="Arial"/>
              <a:cs typeface="Aria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3200189" y="3885847"/>
            <a:ext cx="1482090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-70">
                <a:latin typeface="Arial"/>
                <a:cs typeface="Arial"/>
              </a:rPr>
              <a:t>Métabolisme</a:t>
            </a:r>
            <a:endParaRPr sz="2150">
              <a:latin typeface="Arial"/>
              <a:cs typeface="Aria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3668996" y="4711347"/>
            <a:ext cx="1510030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-80">
                <a:latin typeface="Arial"/>
                <a:cs typeface="Arial"/>
              </a:rPr>
              <a:t>Epigénétique</a:t>
            </a:r>
            <a:endParaRPr sz="2150">
              <a:latin typeface="Arial"/>
              <a:cs typeface="Arial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3230669" y="5539669"/>
            <a:ext cx="951230" cy="3962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00" spc="-170">
                <a:latin typeface="Arial"/>
                <a:cs typeface="Arial"/>
              </a:rPr>
              <a:t>Clinique</a:t>
            </a:r>
            <a:endParaRPr sz="2400">
              <a:latin typeface="Arial"/>
              <a:cs typeface="Arial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2158247" y="6330597"/>
            <a:ext cx="1721485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-80">
                <a:latin typeface="Arial"/>
                <a:cs typeface="Arial"/>
              </a:rPr>
              <a:t>Pharmacologie</a:t>
            </a:r>
            <a:endParaRPr sz="2150">
              <a:latin typeface="Arial"/>
              <a:cs typeface="Arial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965129" y="8294510"/>
            <a:ext cx="15547340" cy="82169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 marR="5080" indent="635">
              <a:lnSpc>
                <a:spcPts val="3100"/>
              </a:lnSpc>
              <a:spcBef>
                <a:spcPts val="254"/>
              </a:spcBef>
            </a:pPr>
            <a:r>
              <a:rPr dirty="0" sz="2600" spc="-215">
                <a:latin typeface="Arial"/>
                <a:cs typeface="Arial"/>
              </a:rPr>
              <a:t>Le</a:t>
            </a:r>
            <a:r>
              <a:rPr dirty="0" sz="2600" spc="-30">
                <a:latin typeface="Arial"/>
                <a:cs typeface="Arial"/>
              </a:rPr>
              <a:t> </a:t>
            </a:r>
            <a:r>
              <a:rPr dirty="0" sz="2600" spc="-75">
                <a:latin typeface="Arial"/>
                <a:cs typeface="Arial"/>
              </a:rPr>
              <a:t>cancer</a:t>
            </a:r>
            <a:r>
              <a:rPr dirty="0" sz="2600" spc="-110">
                <a:latin typeface="Arial"/>
                <a:cs typeface="Arial"/>
              </a:rPr>
              <a:t> </a:t>
            </a:r>
            <a:r>
              <a:rPr dirty="0" sz="2600" spc="-155">
                <a:latin typeface="Arial"/>
                <a:cs typeface="Arial"/>
              </a:rPr>
              <a:t>ne</a:t>
            </a:r>
            <a:r>
              <a:rPr dirty="0" sz="2600" spc="-35">
                <a:latin typeface="Arial"/>
                <a:cs typeface="Arial"/>
              </a:rPr>
              <a:t> </a:t>
            </a:r>
            <a:r>
              <a:rPr dirty="0" sz="2600" spc="-20">
                <a:latin typeface="Arial"/>
                <a:cs typeface="Arial"/>
              </a:rPr>
              <a:t>peut</a:t>
            </a:r>
            <a:r>
              <a:rPr dirty="0" sz="2600" spc="-160">
                <a:latin typeface="Arial"/>
                <a:cs typeface="Arial"/>
              </a:rPr>
              <a:t> </a:t>
            </a:r>
            <a:r>
              <a:rPr dirty="0" sz="2600" spc="-50">
                <a:latin typeface="Arial"/>
                <a:cs typeface="Arial"/>
              </a:rPr>
              <a:t>être</a:t>
            </a:r>
            <a:r>
              <a:rPr dirty="0" sz="2600" spc="-130">
                <a:latin typeface="Arial"/>
                <a:cs typeface="Arial"/>
              </a:rPr>
              <a:t> </a:t>
            </a:r>
            <a:r>
              <a:rPr dirty="0" sz="2600" spc="-50">
                <a:latin typeface="Arial"/>
                <a:cs typeface="Arial"/>
              </a:rPr>
              <a:t>réduit</a:t>
            </a:r>
            <a:r>
              <a:rPr dirty="0" sz="2600" spc="-130">
                <a:latin typeface="Arial"/>
                <a:cs typeface="Arial"/>
              </a:rPr>
              <a:t> </a:t>
            </a:r>
            <a:r>
              <a:rPr dirty="0" sz="2600" spc="-204">
                <a:latin typeface="Arial"/>
                <a:cs typeface="Arial"/>
              </a:rPr>
              <a:t>à</a:t>
            </a:r>
            <a:r>
              <a:rPr dirty="0" sz="2600" spc="-45">
                <a:latin typeface="Arial"/>
                <a:cs typeface="Arial"/>
              </a:rPr>
              <a:t> </a:t>
            </a:r>
            <a:r>
              <a:rPr dirty="0" sz="2600" spc="-75">
                <a:latin typeface="Arial"/>
                <a:cs typeface="Arial"/>
              </a:rPr>
              <a:t>un</a:t>
            </a:r>
            <a:r>
              <a:rPr dirty="0" sz="2600" spc="-95">
                <a:latin typeface="Arial"/>
                <a:cs typeface="Arial"/>
              </a:rPr>
              <a:t> </a:t>
            </a:r>
            <a:r>
              <a:rPr dirty="0" sz="2600" spc="-120">
                <a:latin typeface="Arial"/>
                <a:cs typeface="Arial"/>
              </a:rPr>
              <a:t>seul</a:t>
            </a:r>
            <a:r>
              <a:rPr dirty="0" sz="2600" spc="-75">
                <a:latin typeface="Arial"/>
                <a:cs typeface="Arial"/>
              </a:rPr>
              <a:t> </a:t>
            </a:r>
            <a:r>
              <a:rPr dirty="0" sz="2600" spc="-95">
                <a:latin typeface="Arial"/>
                <a:cs typeface="Arial"/>
              </a:rPr>
              <a:t>niveau</a:t>
            </a:r>
            <a:r>
              <a:rPr dirty="0" sz="2600" spc="5">
                <a:latin typeface="Arial"/>
                <a:cs typeface="Arial"/>
              </a:rPr>
              <a:t> </a:t>
            </a:r>
            <a:r>
              <a:rPr dirty="0" sz="2600" spc="-120">
                <a:latin typeface="Arial"/>
                <a:cs typeface="Arial"/>
              </a:rPr>
              <a:t>(gènes,</a:t>
            </a:r>
            <a:r>
              <a:rPr dirty="0" sz="2600" spc="-60">
                <a:latin typeface="Arial"/>
                <a:cs typeface="Arial"/>
              </a:rPr>
              <a:t> </a:t>
            </a:r>
            <a:r>
              <a:rPr dirty="0" sz="2600" spc="-80">
                <a:latin typeface="Arial"/>
                <a:cs typeface="Arial"/>
              </a:rPr>
              <a:t>immunité,</a:t>
            </a:r>
            <a:r>
              <a:rPr dirty="0" sz="2600" spc="70">
                <a:latin typeface="Arial"/>
                <a:cs typeface="Arial"/>
              </a:rPr>
              <a:t> </a:t>
            </a:r>
            <a:r>
              <a:rPr dirty="0" sz="2600" spc="-40">
                <a:latin typeface="Arial"/>
                <a:cs typeface="Arial"/>
              </a:rPr>
              <a:t>etc.).</a:t>
            </a:r>
            <a:r>
              <a:rPr dirty="0" sz="2600" spc="-135">
                <a:latin typeface="Arial"/>
                <a:cs typeface="Arial"/>
              </a:rPr>
              <a:t> </a:t>
            </a:r>
            <a:r>
              <a:rPr dirty="0" sz="2600" spc="-114">
                <a:latin typeface="Arial"/>
                <a:cs typeface="Arial"/>
              </a:rPr>
              <a:t>C'est</a:t>
            </a:r>
            <a:r>
              <a:rPr dirty="0" sz="2600" spc="-45">
                <a:latin typeface="Arial"/>
                <a:cs typeface="Arial"/>
              </a:rPr>
              <a:t> </a:t>
            </a:r>
            <a:r>
              <a:rPr dirty="0" sz="2600" spc="-65">
                <a:latin typeface="Arial"/>
                <a:cs typeface="Arial"/>
              </a:rPr>
              <a:t>un</a:t>
            </a:r>
            <a:r>
              <a:rPr dirty="0" sz="2600" spc="-125">
                <a:latin typeface="Arial"/>
                <a:cs typeface="Arial"/>
              </a:rPr>
              <a:t> </a:t>
            </a:r>
            <a:r>
              <a:rPr dirty="0" sz="2600" spc="-90">
                <a:latin typeface="Arial"/>
                <a:cs typeface="Arial"/>
              </a:rPr>
              <a:t>système</a:t>
            </a:r>
            <a:r>
              <a:rPr dirty="0" sz="2600" spc="25">
                <a:latin typeface="Arial"/>
                <a:cs typeface="Arial"/>
              </a:rPr>
              <a:t> </a:t>
            </a:r>
            <a:r>
              <a:rPr dirty="0" sz="2600" spc="-110">
                <a:latin typeface="Arial"/>
                <a:cs typeface="Arial"/>
              </a:rPr>
              <a:t>complexe</a:t>
            </a:r>
            <a:r>
              <a:rPr dirty="0" sz="2600" spc="-45">
                <a:latin typeface="Arial"/>
                <a:cs typeface="Arial"/>
              </a:rPr>
              <a:t> </a:t>
            </a:r>
            <a:r>
              <a:rPr dirty="0" sz="2600" spc="-55">
                <a:latin typeface="Arial"/>
                <a:cs typeface="Arial"/>
              </a:rPr>
              <a:t>multi-</a:t>
            </a:r>
            <a:r>
              <a:rPr dirty="0" sz="2600" spc="-10">
                <a:latin typeface="Arial"/>
                <a:cs typeface="Arial"/>
              </a:rPr>
              <a:t>échelles. </a:t>
            </a:r>
            <a:r>
              <a:rPr dirty="0" sz="2600" spc="-145">
                <a:latin typeface="Arial"/>
                <a:cs typeface="Arial"/>
              </a:rPr>
              <a:t>Nous</a:t>
            </a:r>
            <a:r>
              <a:rPr dirty="0" sz="2600" spc="-40">
                <a:latin typeface="Arial"/>
                <a:cs typeface="Arial"/>
              </a:rPr>
              <a:t> </a:t>
            </a:r>
            <a:r>
              <a:rPr dirty="0" sz="2600" spc="-114">
                <a:latin typeface="Arial"/>
                <a:cs typeface="Arial"/>
              </a:rPr>
              <a:t>modélisons</a:t>
            </a:r>
            <a:r>
              <a:rPr dirty="0" sz="2600" spc="-80">
                <a:latin typeface="Arial"/>
                <a:cs typeface="Arial"/>
              </a:rPr>
              <a:t> </a:t>
            </a:r>
            <a:r>
              <a:rPr dirty="0" sz="2600" spc="-50">
                <a:latin typeface="Arial"/>
                <a:cs typeface="Arial"/>
              </a:rPr>
              <a:t>16</a:t>
            </a:r>
            <a:r>
              <a:rPr dirty="0" sz="2600" spc="-130">
                <a:latin typeface="Arial"/>
                <a:cs typeface="Arial"/>
              </a:rPr>
              <a:t> </a:t>
            </a:r>
            <a:r>
              <a:rPr dirty="0" sz="2600" spc="-95">
                <a:latin typeface="Arial"/>
                <a:cs typeface="Arial"/>
              </a:rPr>
              <a:t>sous-</a:t>
            </a:r>
            <a:r>
              <a:rPr dirty="0" sz="2600" spc="-65">
                <a:latin typeface="Arial"/>
                <a:cs typeface="Arial"/>
              </a:rPr>
              <a:t>systèmes</a:t>
            </a:r>
            <a:r>
              <a:rPr dirty="0" sz="2600" spc="-114">
                <a:latin typeface="Arial"/>
                <a:cs typeface="Arial"/>
              </a:rPr>
              <a:t> </a:t>
            </a:r>
            <a:r>
              <a:rPr dirty="0" sz="2600" spc="-75">
                <a:latin typeface="Arial"/>
                <a:cs typeface="Arial"/>
              </a:rPr>
              <a:t>biologiques </a:t>
            </a:r>
            <a:r>
              <a:rPr dirty="0" sz="2600" spc="-35">
                <a:latin typeface="Arial"/>
                <a:cs typeface="Arial"/>
              </a:rPr>
              <a:t>pour</a:t>
            </a:r>
            <a:r>
              <a:rPr dirty="0" sz="2600" spc="10">
                <a:latin typeface="Arial"/>
                <a:cs typeface="Arial"/>
              </a:rPr>
              <a:t> </a:t>
            </a:r>
            <a:r>
              <a:rPr dirty="0" sz="2600" spc="-55">
                <a:latin typeface="Arial"/>
                <a:cs typeface="Arial"/>
              </a:rPr>
              <a:t>capturer</a:t>
            </a:r>
            <a:r>
              <a:rPr dirty="0" sz="2600" spc="-100">
                <a:latin typeface="Arial"/>
                <a:cs typeface="Arial"/>
              </a:rPr>
              <a:t> </a:t>
            </a:r>
            <a:r>
              <a:rPr dirty="0" sz="2600" spc="-20">
                <a:latin typeface="Arial"/>
                <a:cs typeface="Arial"/>
              </a:rPr>
              <a:t>l'intégralité</a:t>
            </a:r>
            <a:r>
              <a:rPr dirty="0" sz="2600">
                <a:latin typeface="Arial"/>
                <a:cs typeface="Arial"/>
              </a:rPr>
              <a:t> </a:t>
            </a:r>
            <a:r>
              <a:rPr dirty="0" sz="2600" spc="-120">
                <a:latin typeface="Arial"/>
                <a:cs typeface="Arial"/>
              </a:rPr>
              <a:t>des</a:t>
            </a:r>
            <a:r>
              <a:rPr dirty="0" sz="2600" spc="-85">
                <a:latin typeface="Arial"/>
                <a:cs typeface="Arial"/>
              </a:rPr>
              <a:t> </a:t>
            </a:r>
            <a:r>
              <a:rPr dirty="0" sz="2600" spc="-45">
                <a:latin typeface="Arial"/>
                <a:cs typeface="Arial"/>
              </a:rPr>
              <a:t>interactions</a:t>
            </a:r>
            <a:r>
              <a:rPr dirty="0" sz="2600" spc="120">
                <a:latin typeface="Arial"/>
                <a:cs typeface="Arial"/>
              </a:rPr>
              <a:t> </a:t>
            </a:r>
            <a:r>
              <a:rPr dirty="0" sz="2600" spc="-60">
                <a:latin typeface="Arial"/>
                <a:cs typeface="Arial"/>
              </a:rPr>
              <a:t>vitales</a:t>
            </a:r>
            <a:r>
              <a:rPr dirty="0" sz="2600" spc="-8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et</a:t>
            </a:r>
            <a:r>
              <a:rPr dirty="0" sz="2600" spc="-110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cliniques.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1600" y="2108200"/>
            <a:ext cx="12192000" cy="56769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18709" y="238477"/>
            <a:ext cx="15765780" cy="55499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450" spc="-85">
                <a:solidFill>
                  <a:srgbClr val="262626"/>
                </a:solidFill>
                <a:latin typeface="Arial"/>
                <a:cs typeface="Arial"/>
              </a:rPr>
              <a:t>Le</a:t>
            </a:r>
            <a:r>
              <a:rPr dirty="0" sz="3450" spc="-19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3450" spc="-95">
                <a:solidFill>
                  <a:srgbClr val="1C1C1C"/>
                </a:solidFill>
                <a:latin typeface="Arial"/>
                <a:cs typeface="Arial"/>
              </a:rPr>
              <a:t>Cœur</a:t>
            </a:r>
            <a:r>
              <a:rPr dirty="0" sz="3450" spc="-15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dirty="0" sz="3450">
                <a:solidFill>
                  <a:srgbClr val="1C1C1C"/>
                </a:solidFill>
                <a:latin typeface="Arial"/>
                <a:cs typeface="Arial"/>
              </a:rPr>
              <a:t>Mathématique</a:t>
            </a:r>
            <a:r>
              <a:rPr dirty="0" sz="3450" spc="-14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dirty="0" sz="3450">
                <a:solidFill>
                  <a:srgbClr val="282828"/>
                </a:solidFill>
                <a:latin typeface="Arial"/>
                <a:cs typeface="Arial"/>
              </a:rPr>
              <a:t>:</a:t>
            </a:r>
            <a:r>
              <a:rPr dirty="0" sz="3450" spc="-24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3450" spc="-25">
                <a:solidFill>
                  <a:srgbClr val="181818"/>
                </a:solidFill>
                <a:latin typeface="Arial"/>
                <a:cs typeface="Arial"/>
              </a:rPr>
              <a:t>L'Équation</a:t>
            </a:r>
            <a:r>
              <a:rPr dirty="0" sz="345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dirty="0" sz="3450" spc="-20">
                <a:solidFill>
                  <a:srgbClr val="1A1A1A"/>
                </a:solidFill>
                <a:latin typeface="Arial"/>
                <a:cs typeface="Arial"/>
              </a:rPr>
              <a:t>Cosmique</a:t>
            </a:r>
            <a:r>
              <a:rPr dirty="0" sz="3450" spc="-8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3450">
                <a:solidFill>
                  <a:srgbClr val="1A1A1A"/>
                </a:solidFill>
                <a:latin typeface="Arial"/>
                <a:cs typeface="Arial"/>
              </a:rPr>
              <a:t>Ultra-Hyper</a:t>
            </a:r>
            <a:r>
              <a:rPr dirty="0" sz="3450" spc="16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3450">
                <a:solidFill>
                  <a:srgbClr val="181818"/>
                </a:solidFill>
                <a:latin typeface="Arial"/>
                <a:cs typeface="Arial"/>
              </a:rPr>
              <a:t>Complète</a:t>
            </a:r>
            <a:r>
              <a:rPr dirty="0" sz="3450" spc="11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dirty="0" sz="3450" spc="-145">
                <a:solidFill>
                  <a:srgbClr val="181818"/>
                </a:solidFill>
                <a:latin typeface="Arial"/>
                <a:cs typeface="Arial"/>
              </a:rPr>
              <a:t>(UHCF-</a:t>
            </a:r>
            <a:r>
              <a:rPr dirty="0" sz="3450" spc="-25">
                <a:solidFill>
                  <a:srgbClr val="181818"/>
                </a:solidFill>
                <a:latin typeface="Arial"/>
                <a:cs typeface="Arial"/>
              </a:rPr>
              <a:t>OM)</a:t>
            </a:r>
            <a:endParaRPr sz="345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970">
              <a:lnSpc>
                <a:spcPts val="1555"/>
              </a:lnSpc>
            </a:pPr>
            <a:r>
              <a:rPr dirty="0" sz="1300"/>
              <a:t>G</a:t>
            </a:r>
            <a:r>
              <a:rPr dirty="0" sz="1300" spc="484"/>
              <a:t> </a:t>
            </a:r>
            <a:r>
              <a:rPr dirty="0" sz="1300" spc="-10"/>
              <a:t>NotebookLM</a:t>
            </a:r>
            <a:endParaRPr sz="1300"/>
          </a:p>
        </p:txBody>
      </p:sp>
      <p:sp>
        <p:nvSpPr>
          <p:cNvPr id="4" name="object 4" descr=""/>
          <p:cNvSpPr txBox="1"/>
          <p:nvPr/>
        </p:nvSpPr>
        <p:spPr>
          <a:xfrm>
            <a:off x="1990036" y="994833"/>
            <a:ext cx="13471525" cy="469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00" spc="-105">
                <a:latin typeface="Arial"/>
                <a:cs typeface="Arial"/>
              </a:rPr>
              <a:t>Un</a:t>
            </a:r>
            <a:r>
              <a:rPr dirty="0" sz="2900" spc="-95">
                <a:latin typeface="Arial"/>
                <a:cs typeface="Arial"/>
              </a:rPr>
              <a:t> </a:t>
            </a:r>
            <a:r>
              <a:rPr dirty="0" sz="2900" spc="-85">
                <a:latin typeface="Arial"/>
                <a:cs typeface="Arial"/>
              </a:rPr>
              <a:t>modèle</a:t>
            </a:r>
            <a:r>
              <a:rPr dirty="0" sz="2900" spc="-114">
                <a:latin typeface="Arial"/>
                <a:cs typeface="Arial"/>
              </a:rPr>
              <a:t> </a:t>
            </a:r>
            <a:r>
              <a:rPr dirty="0" sz="2900" spc="-85">
                <a:latin typeface="Arial"/>
                <a:cs typeface="Arial"/>
              </a:rPr>
              <a:t>mathématique </a:t>
            </a:r>
            <a:r>
              <a:rPr dirty="0" sz="2900" spc="-35">
                <a:latin typeface="Arial"/>
                <a:cs typeface="Arial"/>
              </a:rPr>
              <a:t>hybride</a:t>
            </a:r>
            <a:r>
              <a:rPr dirty="0" sz="2900" spc="-165">
                <a:latin typeface="Arial"/>
                <a:cs typeface="Arial"/>
              </a:rPr>
              <a:t> </a:t>
            </a:r>
            <a:r>
              <a:rPr dirty="0" sz="2900" spc="-25">
                <a:latin typeface="Arial"/>
                <a:cs typeface="Arial"/>
              </a:rPr>
              <a:t>pour</a:t>
            </a:r>
            <a:r>
              <a:rPr dirty="0" sz="2900" spc="-135">
                <a:latin typeface="Arial"/>
                <a:cs typeface="Arial"/>
              </a:rPr>
              <a:t> </a:t>
            </a:r>
            <a:r>
              <a:rPr dirty="0" sz="2900" spc="-65">
                <a:latin typeface="Arial"/>
                <a:cs typeface="Arial"/>
              </a:rPr>
              <a:t>représenter</a:t>
            </a:r>
            <a:r>
              <a:rPr dirty="0" sz="2900" spc="-5">
                <a:latin typeface="Arial"/>
                <a:cs typeface="Arial"/>
              </a:rPr>
              <a:t> </a:t>
            </a:r>
            <a:r>
              <a:rPr dirty="0" sz="2900" spc="-55">
                <a:latin typeface="Arial"/>
                <a:cs typeface="Arial"/>
              </a:rPr>
              <a:t>fidèlement</a:t>
            </a:r>
            <a:r>
              <a:rPr dirty="0" sz="2900">
                <a:latin typeface="Arial"/>
                <a:cs typeface="Arial"/>
              </a:rPr>
              <a:t> </a:t>
            </a:r>
            <a:r>
              <a:rPr dirty="0" sz="2900" spc="-10">
                <a:latin typeface="Arial"/>
                <a:cs typeface="Arial"/>
              </a:rPr>
              <a:t>la</a:t>
            </a:r>
            <a:r>
              <a:rPr dirty="0" sz="2900" spc="-100">
                <a:latin typeface="Arial"/>
                <a:cs typeface="Arial"/>
              </a:rPr>
              <a:t> </a:t>
            </a:r>
            <a:r>
              <a:rPr dirty="0" sz="2900" spc="-85">
                <a:latin typeface="Arial"/>
                <a:cs typeface="Arial"/>
              </a:rPr>
              <a:t>dynamique</a:t>
            </a:r>
            <a:r>
              <a:rPr dirty="0" sz="2900" spc="-90">
                <a:latin typeface="Arial"/>
                <a:cs typeface="Arial"/>
              </a:rPr>
              <a:t> </a:t>
            </a:r>
            <a:r>
              <a:rPr dirty="0" sz="2900" spc="-10">
                <a:latin typeface="Arial"/>
                <a:cs typeface="Arial"/>
              </a:rPr>
              <a:t>tumorale.</a:t>
            </a:r>
            <a:endParaRPr sz="29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34647" y="4129969"/>
            <a:ext cx="4941570" cy="72580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30"/>
              </a:spcBef>
            </a:pPr>
            <a:r>
              <a:rPr dirty="0" sz="2400" spc="20">
                <a:latin typeface="Arial"/>
                <a:cs typeface="Arial"/>
              </a:rPr>
              <a:t>Dérivées</a:t>
            </a:r>
            <a:r>
              <a:rPr dirty="0" sz="2400" spc="85">
                <a:latin typeface="Arial"/>
                <a:cs typeface="Arial"/>
              </a:rPr>
              <a:t> </a:t>
            </a:r>
            <a:r>
              <a:rPr dirty="0" sz="2400" spc="20">
                <a:latin typeface="Arial"/>
                <a:cs typeface="Arial"/>
              </a:rPr>
              <a:t>Fractionnaires</a:t>
            </a:r>
            <a:r>
              <a:rPr dirty="0" sz="2400" spc="-145">
                <a:latin typeface="Arial"/>
                <a:cs typeface="Arial"/>
              </a:rPr>
              <a:t> </a:t>
            </a:r>
            <a:r>
              <a:rPr dirty="0" sz="2400" spc="-5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dirty="0" sz="2150" spc="-50">
                <a:latin typeface="Arial"/>
                <a:cs typeface="Arial"/>
              </a:rPr>
              <a:t>Pour</a:t>
            </a:r>
            <a:r>
              <a:rPr dirty="0" sz="2150" spc="-45">
                <a:latin typeface="Arial"/>
                <a:cs typeface="Arial"/>
              </a:rPr>
              <a:t> </a:t>
            </a:r>
            <a:r>
              <a:rPr dirty="0" sz="2150">
                <a:latin typeface="Arial"/>
                <a:cs typeface="Arial"/>
              </a:rPr>
              <a:t>la</a:t>
            </a:r>
            <a:r>
              <a:rPr dirty="0" sz="2150" spc="-125">
                <a:latin typeface="Arial"/>
                <a:cs typeface="Arial"/>
              </a:rPr>
              <a:t> </a:t>
            </a:r>
            <a:r>
              <a:rPr dirty="0" sz="2150" spc="-10">
                <a:latin typeface="Arial"/>
                <a:cs typeface="Arial"/>
              </a:rPr>
              <a:t>'Mémoire</a:t>
            </a:r>
            <a:r>
              <a:rPr dirty="0" sz="2150" spc="-85">
                <a:latin typeface="Arial"/>
                <a:cs typeface="Arial"/>
              </a:rPr>
              <a:t> </a:t>
            </a:r>
            <a:r>
              <a:rPr dirty="0" sz="2150" spc="-25">
                <a:latin typeface="Arial"/>
                <a:cs typeface="Arial"/>
              </a:rPr>
              <a:t>Biologique'</a:t>
            </a:r>
            <a:r>
              <a:rPr dirty="0" sz="2150" spc="-60">
                <a:latin typeface="Arial"/>
                <a:cs typeface="Arial"/>
              </a:rPr>
              <a:t> </a:t>
            </a:r>
            <a:r>
              <a:rPr dirty="0" sz="2150">
                <a:latin typeface="Arial"/>
                <a:cs typeface="Arial"/>
              </a:rPr>
              <a:t>des</a:t>
            </a:r>
            <a:r>
              <a:rPr dirty="0" sz="2150" spc="-150">
                <a:latin typeface="Arial"/>
                <a:cs typeface="Arial"/>
              </a:rPr>
              <a:t> </a:t>
            </a:r>
            <a:r>
              <a:rPr dirty="0" sz="2150" spc="-10">
                <a:latin typeface="Arial"/>
                <a:cs typeface="Arial"/>
              </a:rPr>
              <a:t>cellules.</a:t>
            </a:r>
            <a:endParaRPr sz="215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29847" y="7939969"/>
            <a:ext cx="5840095" cy="7321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 marR="5715">
              <a:lnSpc>
                <a:spcPct val="100000"/>
              </a:lnSpc>
              <a:spcBef>
                <a:spcPts val="130"/>
              </a:spcBef>
            </a:pPr>
            <a:r>
              <a:rPr dirty="0" sz="2400">
                <a:latin typeface="Arial"/>
                <a:cs typeface="Arial"/>
              </a:rPr>
              <a:t>Interactions</a:t>
            </a:r>
            <a:r>
              <a:rPr dirty="0" sz="2400" spc="-10">
                <a:latin typeface="Arial"/>
                <a:cs typeface="Arial"/>
              </a:rPr>
              <a:t>  </a:t>
            </a:r>
            <a:r>
              <a:rPr dirty="0" sz="2400" spc="60">
                <a:latin typeface="Arial"/>
                <a:cs typeface="Arial"/>
              </a:rPr>
              <a:t>Ultra-</a:t>
            </a:r>
            <a:r>
              <a:rPr dirty="0" sz="2400" spc="65">
                <a:latin typeface="Arial"/>
                <a:cs typeface="Arial"/>
              </a:rPr>
              <a:t>Hyper:</a:t>
            </a:r>
            <a:endParaRPr sz="2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0"/>
              </a:spcBef>
            </a:pPr>
            <a:r>
              <a:rPr dirty="0" sz="2150" spc="-45">
                <a:latin typeface="Arial"/>
                <a:cs typeface="Arial"/>
              </a:rPr>
              <a:t>Pour</a:t>
            </a:r>
            <a:r>
              <a:rPr dirty="0" sz="2150" spc="-105">
                <a:latin typeface="Arial"/>
                <a:cs typeface="Arial"/>
              </a:rPr>
              <a:t> </a:t>
            </a:r>
            <a:r>
              <a:rPr dirty="0" sz="2150">
                <a:latin typeface="Arial"/>
                <a:cs typeface="Arial"/>
              </a:rPr>
              <a:t>la</a:t>
            </a:r>
            <a:r>
              <a:rPr dirty="0" sz="2150" spc="-150">
                <a:latin typeface="Arial"/>
                <a:cs typeface="Arial"/>
              </a:rPr>
              <a:t> </a:t>
            </a:r>
            <a:r>
              <a:rPr dirty="0" sz="2150" spc="-10">
                <a:latin typeface="Arial"/>
                <a:cs typeface="Arial"/>
              </a:rPr>
              <a:t>croissance</a:t>
            </a:r>
            <a:r>
              <a:rPr dirty="0" sz="2150" spc="-70">
                <a:latin typeface="Arial"/>
                <a:cs typeface="Arial"/>
              </a:rPr>
              <a:t> </a:t>
            </a:r>
            <a:r>
              <a:rPr dirty="0" sz="2150" spc="-45">
                <a:latin typeface="Arial"/>
                <a:cs typeface="Arial"/>
              </a:rPr>
              <a:t>non-</a:t>
            </a:r>
            <a:r>
              <a:rPr dirty="0" sz="2150">
                <a:latin typeface="Arial"/>
                <a:cs typeface="Arial"/>
              </a:rPr>
              <a:t>linéaire</a:t>
            </a:r>
            <a:r>
              <a:rPr dirty="0" sz="2150" spc="-65">
                <a:latin typeface="Arial"/>
                <a:cs typeface="Arial"/>
              </a:rPr>
              <a:t> </a:t>
            </a:r>
            <a:r>
              <a:rPr dirty="0" sz="2150" spc="-10">
                <a:latin typeface="Arial"/>
                <a:cs typeface="Arial"/>
              </a:rPr>
              <a:t>des</a:t>
            </a:r>
            <a:r>
              <a:rPr dirty="0" sz="2150" spc="-140">
                <a:latin typeface="Arial"/>
                <a:cs typeface="Arial"/>
              </a:rPr>
              <a:t> </a:t>
            </a:r>
            <a:r>
              <a:rPr dirty="0" sz="2150" spc="-20">
                <a:latin typeface="Arial"/>
                <a:cs typeface="Arial"/>
              </a:rPr>
              <a:t>16</a:t>
            </a:r>
            <a:r>
              <a:rPr dirty="0" sz="2150" spc="-90">
                <a:latin typeface="Arial"/>
                <a:cs typeface="Arial"/>
              </a:rPr>
              <a:t> </a:t>
            </a:r>
            <a:r>
              <a:rPr dirty="0" sz="2150" spc="-10">
                <a:latin typeface="Arial"/>
                <a:cs typeface="Arial"/>
              </a:rPr>
              <a:t>systèmes.</a:t>
            </a:r>
            <a:endParaRPr sz="215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913647" y="4129969"/>
            <a:ext cx="5873115" cy="72580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2400" spc="55">
                <a:latin typeface="Arial"/>
                <a:cs typeface="Arial"/>
              </a:rPr>
              <a:t>Diffusion</a:t>
            </a:r>
            <a:r>
              <a:rPr dirty="0" sz="2400" spc="-12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Tensorielle</a:t>
            </a:r>
            <a:r>
              <a:rPr dirty="0" sz="2400" spc="35">
                <a:latin typeface="Arial"/>
                <a:cs typeface="Arial"/>
              </a:rPr>
              <a:t> </a:t>
            </a:r>
            <a:r>
              <a:rPr dirty="0" sz="2400" spc="-5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dirty="0" sz="2150" spc="-45">
                <a:latin typeface="Arial"/>
                <a:cs typeface="Arial"/>
              </a:rPr>
              <a:t>Pour</a:t>
            </a:r>
            <a:r>
              <a:rPr dirty="0" sz="2150" spc="-65">
                <a:latin typeface="Arial"/>
                <a:cs typeface="Arial"/>
              </a:rPr>
              <a:t> </a:t>
            </a:r>
            <a:r>
              <a:rPr dirty="0" sz="2150">
                <a:latin typeface="Arial"/>
                <a:cs typeface="Arial"/>
              </a:rPr>
              <a:t>le</a:t>
            </a:r>
            <a:r>
              <a:rPr dirty="0" sz="2150" spc="-140">
                <a:latin typeface="Arial"/>
                <a:cs typeface="Arial"/>
              </a:rPr>
              <a:t> </a:t>
            </a:r>
            <a:r>
              <a:rPr dirty="0" sz="2150" spc="-35">
                <a:latin typeface="Arial"/>
                <a:cs typeface="Arial"/>
              </a:rPr>
              <a:t>mouvement</a:t>
            </a:r>
            <a:r>
              <a:rPr dirty="0" sz="2150" spc="155">
                <a:latin typeface="Arial"/>
                <a:cs typeface="Arial"/>
              </a:rPr>
              <a:t> </a:t>
            </a:r>
            <a:r>
              <a:rPr dirty="0" sz="2150">
                <a:latin typeface="Arial"/>
                <a:cs typeface="Arial"/>
              </a:rPr>
              <a:t>et</a:t>
            </a:r>
            <a:r>
              <a:rPr dirty="0" sz="2150" spc="-80">
                <a:latin typeface="Arial"/>
                <a:cs typeface="Arial"/>
              </a:rPr>
              <a:t> </a:t>
            </a:r>
            <a:r>
              <a:rPr dirty="0" sz="2150">
                <a:latin typeface="Arial"/>
                <a:cs typeface="Arial"/>
              </a:rPr>
              <a:t>la</a:t>
            </a:r>
            <a:r>
              <a:rPr dirty="0" sz="2150" spc="-70">
                <a:latin typeface="Arial"/>
                <a:cs typeface="Arial"/>
              </a:rPr>
              <a:t> </a:t>
            </a:r>
            <a:r>
              <a:rPr dirty="0" sz="2150" spc="-10">
                <a:latin typeface="Arial"/>
                <a:cs typeface="Arial"/>
              </a:rPr>
              <a:t>dispersion</a:t>
            </a:r>
            <a:r>
              <a:rPr dirty="0" sz="2150" spc="5">
                <a:latin typeface="Arial"/>
                <a:cs typeface="Arial"/>
              </a:rPr>
              <a:t> </a:t>
            </a:r>
            <a:r>
              <a:rPr dirty="0" sz="2150" spc="-20">
                <a:latin typeface="Arial"/>
                <a:cs typeface="Arial"/>
              </a:rPr>
              <a:t>dans</a:t>
            </a:r>
            <a:r>
              <a:rPr dirty="0" sz="2150" spc="-70">
                <a:latin typeface="Arial"/>
                <a:cs typeface="Arial"/>
              </a:rPr>
              <a:t> </a:t>
            </a:r>
            <a:r>
              <a:rPr dirty="0" sz="2150">
                <a:latin typeface="Arial"/>
                <a:cs typeface="Arial"/>
              </a:rPr>
              <a:t>le</a:t>
            </a:r>
            <a:r>
              <a:rPr dirty="0" sz="2150" spc="-130">
                <a:latin typeface="Arial"/>
                <a:cs typeface="Arial"/>
              </a:rPr>
              <a:t> </a:t>
            </a:r>
            <a:r>
              <a:rPr dirty="0" sz="2150" spc="-10">
                <a:latin typeface="Arial"/>
                <a:cs typeface="Arial"/>
              </a:rPr>
              <a:t>tissu.</a:t>
            </a:r>
            <a:endParaRPr sz="215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1368131" y="7946319"/>
            <a:ext cx="5023485" cy="72580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00">
                <a:latin typeface="Arial"/>
                <a:cs typeface="Arial"/>
              </a:rPr>
              <a:t>Processus</a:t>
            </a:r>
            <a:r>
              <a:rPr dirty="0" sz="2400" spc="19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Stochastiques</a:t>
            </a:r>
            <a:r>
              <a:rPr dirty="0" sz="2400" spc="3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Hybrides</a:t>
            </a:r>
            <a:r>
              <a:rPr dirty="0" sz="2400" spc="275">
                <a:latin typeface="Arial"/>
                <a:cs typeface="Arial"/>
              </a:rPr>
              <a:t> </a:t>
            </a:r>
            <a:r>
              <a:rPr dirty="0" sz="2400" spc="-5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  <a:p>
            <a:pPr marL="154940">
              <a:lnSpc>
                <a:spcPct val="100000"/>
              </a:lnSpc>
              <a:spcBef>
                <a:spcPts val="20"/>
              </a:spcBef>
            </a:pPr>
            <a:r>
              <a:rPr dirty="0" sz="2150" spc="-50">
                <a:latin typeface="Arial"/>
                <a:cs typeface="Arial"/>
              </a:rPr>
              <a:t>Pour</a:t>
            </a:r>
            <a:r>
              <a:rPr dirty="0" sz="2150" spc="20">
                <a:latin typeface="Arial"/>
                <a:cs typeface="Arial"/>
              </a:rPr>
              <a:t> </a:t>
            </a:r>
            <a:r>
              <a:rPr dirty="0" sz="2150">
                <a:latin typeface="Arial"/>
                <a:cs typeface="Arial"/>
              </a:rPr>
              <a:t>le</a:t>
            </a:r>
            <a:r>
              <a:rPr dirty="0" sz="2150" spc="-120">
                <a:latin typeface="Arial"/>
                <a:cs typeface="Arial"/>
              </a:rPr>
              <a:t> </a:t>
            </a:r>
            <a:r>
              <a:rPr dirty="0" sz="2150" spc="-35">
                <a:latin typeface="Arial"/>
                <a:cs typeface="Arial"/>
              </a:rPr>
              <a:t>hasard</a:t>
            </a:r>
            <a:r>
              <a:rPr dirty="0" sz="2150" spc="-30">
                <a:latin typeface="Arial"/>
                <a:cs typeface="Arial"/>
              </a:rPr>
              <a:t> </a:t>
            </a:r>
            <a:r>
              <a:rPr dirty="0" sz="2150">
                <a:latin typeface="Arial"/>
                <a:cs typeface="Arial"/>
              </a:rPr>
              <a:t>et</a:t>
            </a:r>
            <a:r>
              <a:rPr dirty="0" sz="2150" spc="-55">
                <a:latin typeface="Arial"/>
                <a:cs typeface="Arial"/>
              </a:rPr>
              <a:t> </a:t>
            </a:r>
            <a:r>
              <a:rPr dirty="0" sz="2150">
                <a:latin typeface="Arial"/>
                <a:cs typeface="Arial"/>
              </a:rPr>
              <a:t>les</a:t>
            </a:r>
            <a:r>
              <a:rPr dirty="0" sz="2150" spc="-130">
                <a:latin typeface="Arial"/>
                <a:cs typeface="Arial"/>
              </a:rPr>
              <a:t> </a:t>
            </a:r>
            <a:r>
              <a:rPr dirty="0" sz="2150" spc="-35">
                <a:latin typeface="Arial"/>
                <a:cs typeface="Arial"/>
              </a:rPr>
              <a:t>événements</a:t>
            </a:r>
            <a:r>
              <a:rPr dirty="0" sz="2150" spc="-65">
                <a:latin typeface="Arial"/>
                <a:cs typeface="Arial"/>
              </a:rPr>
              <a:t> </a:t>
            </a:r>
            <a:r>
              <a:rPr dirty="0" sz="2150" spc="-10">
                <a:latin typeface="Arial"/>
                <a:cs typeface="Arial"/>
              </a:rPr>
              <a:t>rares.</a:t>
            </a:r>
            <a:endParaRPr sz="215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188187" y="9191625"/>
            <a:ext cx="7080884" cy="3111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45">
                <a:latin typeface="Arial"/>
                <a:cs typeface="Arial"/>
              </a:rPr>
              <a:t>Rigueur</a:t>
            </a:r>
            <a:r>
              <a:rPr dirty="0" sz="1850" spc="65">
                <a:latin typeface="Arial"/>
                <a:cs typeface="Arial"/>
              </a:rPr>
              <a:t> </a:t>
            </a:r>
            <a:r>
              <a:rPr dirty="0" sz="1850" spc="-25">
                <a:latin typeface="Arial"/>
                <a:cs typeface="Arial"/>
              </a:rPr>
              <a:t>validée</a:t>
            </a:r>
            <a:r>
              <a:rPr dirty="0" sz="1850" spc="-35">
                <a:latin typeface="Arial"/>
                <a:cs typeface="Arial"/>
              </a:rPr>
              <a:t> </a:t>
            </a:r>
            <a:r>
              <a:rPr dirty="0" sz="1850" spc="-10">
                <a:latin typeface="Arial"/>
                <a:cs typeface="Arial"/>
              </a:rPr>
              <a:t>par</a:t>
            </a:r>
            <a:r>
              <a:rPr dirty="0" sz="1850" spc="-110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des</a:t>
            </a:r>
            <a:r>
              <a:rPr dirty="0" sz="1850" spc="-75">
                <a:latin typeface="Arial"/>
                <a:cs typeface="Arial"/>
              </a:rPr>
              <a:t> </a:t>
            </a:r>
            <a:r>
              <a:rPr dirty="0" sz="1850" spc="-20">
                <a:latin typeface="Arial"/>
                <a:cs typeface="Arial"/>
              </a:rPr>
              <a:t>preuves</a:t>
            </a:r>
            <a:r>
              <a:rPr dirty="0" sz="1850" spc="20">
                <a:latin typeface="Arial"/>
                <a:cs typeface="Arial"/>
              </a:rPr>
              <a:t> </a:t>
            </a:r>
            <a:r>
              <a:rPr dirty="0" sz="1850" spc="-35">
                <a:latin typeface="Arial"/>
                <a:cs typeface="Arial"/>
              </a:rPr>
              <a:t>d'Existence,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d'Unicité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et</a:t>
            </a:r>
            <a:r>
              <a:rPr dirty="0" sz="1850" spc="-80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de</a:t>
            </a:r>
            <a:r>
              <a:rPr dirty="0" sz="1850" spc="-70">
                <a:latin typeface="Arial"/>
                <a:cs typeface="Arial"/>
              </a:rPr>
              <a:t> </a:t>
            </a:r>
            <a:r>
              <a:rPr dirty="0" sz="1850" spc="-10">
                <a:latin typeface="Arial"/>
                <a:cs typeface="Arial"/>
              </a:rPr>
              <a:t>Stabilité.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86600" y="4521200"/>
            <a:ext cx="3289300" cy="7112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56900" y="2590800"/>
            <a:ext cx="4762500" cy="47498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29477" y="516819"/>
            <a:ext cx="15794355" cy="58674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650">
                <a:solidFill>
                  <a:srgbClr val="262626"/>
                </a:solidFill>
                <a:latin typeface="Arial"/>
                <a:cs typeface="Arial"/>
              </a:rPr>
              <a:t>Le</a:t>
            </a:r>
            <a:r>
              <a:rPr dirty="0" sz="3650" spc="-7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3650" spc="50">
                <a:solidFill>
                  <a:srgbClr val="212121"/>
                </a:solidFill>
                <a:latin typeface="Arial"/>
                <a:cs typeface="Arial"/>
              </a:rPr>
              <a:t>Pont </a:t>
            </a:r>
            <a:r>
              <a:rPr dirty="0" sz="3650" spc="65">
                <a:solidFill>
                  <a:srgbClr val="242424"/>
                </a:solidFill>
                <a:latin typeface="Arial"/>
                <a:cs typeface="Arial"/>
              </a:rPr>
              <a:t>vers</a:t>
            </a:r>
            <a:r>
              <a:rPr dirty="0" sz="3650" spc="-20">
                <a:solidFill>
                  <a:srgbClr val="242424"/>
                </a:solidFill>
                <a:latin typeface="Arial"/>
                <a:cs typeface="Arial"/>
              </a:rPr>
              <a:t> </a:t>
            </a:r>
            <a:r>
              <a:rPr dirty="0" sz="3650">
                <a:solidFill>
                  <a:srgbClr val="2A2A2A"/>
                </a:solidFill>
                <a:latin typeface="Arial"/>
                <a:cs typeface="Arial"/>
              </a:rPr>
              <a:t>la </a:t>
            </a:r>
            <a:r>
              <a:rPr dirty="0" sz="3650" spc="75">
                <a:solidFill>
                  <a:srgbClr val="262626"/>
                </a:solidFill>
                <a:latin typeface="Arial"/>
                <a:cs typeface="Arial"/>
              </a:rPr>
              <a:t>Clinique</a:t>
            </a:r>
            <a:r>
              <a:rPr dirty="0" sz="3650" spc="-1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3650" spc="6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dirty="0" sz="3650" spc="-1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3650">
                <a:solidFill>
                  <a:srgbClr val="282828"/>
                </a:solidFill>
                <a:latin typeface="Arial"/>
                <a:cs typeface="Arial"/>
              </a:rPr>
              <a:t>La</a:t>
            </a:r>
            <a:r>
              <a:rPr dirty="0" sz="3650" spc="-7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3650" spc="65">
                <a:solidFill>
                  <a:srgbClr val="282828"/>
                </a:solidFill>
                <a:latin typeface="Arial"/>
                <a:cs typeface="Arial"/>
              </a:rPr>
              <a:t>Théorie</a:t>
            </a:r>
            <a:r>
              <a:rPr dirty="0" sz="3650" spc="114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3650" spc="75">
                <a:solidFill>
                  <a:srgbClr val="2F2F2F"/>
                </a:solidFill>
                <a:latin typeface="Arial"/>
                <a:cs typeface="Arial"/>
              </a:rPr>
              <a:t>de</a:t>
            </a:r>
            <a:r>
              <a:rPr dirty="0" sz="3650" spc="-3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dirty="0" sz="3650">
                <a:solidFill>
                  <a:srgbClr val="262626"/>
                </a:solidFill>
                <a:latin typeface="Arial"/>
                <a:cs typeface="Arial"/>
              </a:rPr>
              <a:t>la</a:t>
            </a:r>
            <a:r>
              <a:rPr dirty="0" sz="3650" spc="3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3650" spc="130">
                <a:solidFill>
                  <a:srgbClr val="262626"/>
                </a:solidFill>
                <a:latin typeface="Arial"/>
                <a:cs typeface="Arial"/>
              </a:rPr>
              <a:t>Simplification</a:t>
            </a:r>
            <a:r>
              <a:rPr dirty="0" sz="3650" spc="-15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3650" spc="55">
                <a:solidFill>
                  <a:srgbClr val="232323"/>
                </a:solidFill>
                <a:latin typeface="Arial"/>
                <a:cs typeface="Arial"/>
              </a:rPr>
              <a:t>Essentielle</a:t>
            </a:r>
            <a:r>
              <a:rPr dirty="0" sz="3650" spc="65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3650" spc="-20">
                <a:solidFill>
                  <a:srgbClr val="282828"/>
                </a:solidFill>
                <a:latin typeface="Arial"/>
                <a:cs typeface="Arial"/>
              </a:rPr>
              <a:t>(EST)</a:t>
            </a:r>
            <a:endParaRPr sz="365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220206" y="1627011"/>
            <a:ext cx="2232025" cy="7778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ts val="3060"/>
              </a:lnSpc>
              <a:spcBef>
                <a:spcPts val="135"/>
              </a:spcBef>
            </a:pPr>
            <a:r>
              <a:rPr dirty="0" sz="2600" spc="-45">
                <a:latin typeface="Calibri"/>
                <a:cs typeface="Calibri"/>
              </a:rPr>
              <a:t>Vérité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Théorique</a:t>
            </a:r>
            <a:endParaRPr sz="2600">
              <a:latin typeface="Calibri"/>
              <a:cs typeface="Calibri"/>
            </a:endParaRPr>
          </a:p>
          <a:p>
            <a:pPr algn="ctr" marR="3175">
              <a:lnSpc>
                <a:spcPts val="2820"/>
              </a:lnSpc>
            </a:pPr>
            <a:r>
              <a:rPr dirty="0" sz="2400">
                <a:latin typeface="Calibri"/>
                <a:cs typeface="Calibri"/>
              </a:rPr>
              <a:t>(16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80">
                <a:latin typeface="Calibri"/>
                <a:cs typeface="Calibri"/>
              </a:rPr>
              <a:t>systèmes)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852598" y="5215466"/>
            <a:ext cx="938530" cy="62230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3020" marR="5080" indent="-20955">
              <a:lnSpc>
                <a:spcPts val="2200"/>
              </a:lnSpc>
              <a:spcBef>
                <a:spcPts val="420"/>
              </a:spcBef>
            </a:pPr>
            <a:r>
              <a:rPr dirty="0" sz="2050" spc="-105">
                <a:latin typeface="Arial"/>
                <a:cs typeface="Arial"/>
              </a:rPr>
              <a:t>Essence </a:t>
            </a:r>
            <a:r>
              <a:rPr dirty="0" sz="2050" spc="-80">
                <a:latin typeface="Arial"/>
                <a:cs typeface="Arial"/>
              </a:rPr>
              <a:t>Causale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401629" y="5260622"/>
            <a:ext cx="2673985" cy="8013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ts val="3125"/>
              </a:lnSpc>
              <a:spcBef>
                <a:spcPts val="125"/>
              </a:spcBef>
            </a:pPr>
            <a:r>
              <a:rPr dirty="0" sz="2750" spc="-434">
                <a:latin typeface="Arial"/>
                <a:cs typeface="Arial"/>
              </a:rPr>
              <a:t>EST</a:t>
            </a:r>
            <a:r>
              <a:rPr dirty="0" sz="2750" spc="4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/</a:t>
            </a:r>
            <a:r>
              <a:rPr dirty="0" sz="2750" spc="5">
                <a:latin typeface="Arial"/>
                <a:cs typeface="Arial"/>
              </a:rPr>
              <a:t> </a:t>
            </a:r>
            <a:r>
              <a:rPr dirty="0" sz="2750" spc="-215">
                <a:latin typeface="Arial"/>
                <a:cs typeface="Arial"/>
              </a:rPr>
              <a:t>Géométrie</a:t>
            </a:r>
            <a:r>
              <a:rPr dirty="0" sz="2750" spc="100">
                <a:latin typeface="Arial"/>
                <a:cs typeface="Arial"/>
              </a:rPr>
              <a:t> </a:t>
            </a:r>
            <a:r>
              <a:rPr dirty="0" sz="2750" spc="-95">
                <a:latin typeface="Arial"/>
                <a:cs typeface="Arial"/>
              </a:rPr>
              <a:t>de</a:t>
            </a:r>
            <a:endParaRPr sz="2750">
              <a:latin typeface="Arial"/>
              <a:cs typeface="Arial"/>
            </a:endParaRPr>
          </a:p>
          <a:p>
            <a:pPr algn="ctr" marR="35560">
              <a:lnSpc>
                <a:spcPts val="2945"/>
              </a:lnSpc>
            </a:pPr>
            <a:r>
              <a:rPr dirty="0" sz="2600" spc="-10">
                <a:latin typeface="Arial"/>
                <a:cs typeface="Arial"/>
              </a:rPr>
              <a:t>l'lnformation</a:t>
            </a:r>
            <a:endParaRPr sz="26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1760686" y="1644650"/>
            <a:ext cx="2724150" cy="762000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360680" marR="5080" indent="-348615">
              <a:lnSpc>
                <a:spcPts val="2800"/>
              </a:lnSpc>
              <a:spcBef>
                <a:spcPts val="360"/>
              </a:spcBef>
            </a:pPr>
            <a:r>
              <a:rPr dirty="0" sz="2500" spc="-20">
                <a:latin typeface="Arial"/>
                <a:cs typeface="Arial"/>
              </a:rPr>
              <a:t>Application</a:t>
            </a:r>
            <a:r>
              <a:rPr dirty="0" sz="2500" spc="-85">
                <a:latin typeface="Arial"/>
                <a:cs typeface="Arial"/>
              </a:rPr>
              <a:t> </a:t>
            </a:r>
            <a:r>
              <a:rPr dirty="0" sz="2500" spc="-55">
                <a:latin typeface="Arial"/>
                <a:cs typeface="Arial"/>
              </a:rPr>
              <a:t>Clinique </a:t>
            </a:r>
            <a:r>
              <a:rPr dirty="0" sz="2500" spc="-35">
                <a:latin typeface="Arial"/>
                <a:cs typeface="Arial"/>
              </a:rPr>
              <a:t>(5-</a:t>
            </a:r>
            <a:r>
              <a:rPr dirty="0" sz="2500">
                <a:latin typeface="Arial"/>
                <a:cs typeface="Arial"/>
              </a:rPr>
              <a:t>6</a:t>
            </a:r>
            <a:r>
              <a:rPr dirty="0" sz="2500" spc="15">
                <a:latin typeface="Arial"/>
                <a:cs typeface="Arial"/>
              </a:rPr>
              <a:t> </a:t>
            </a:r>
            <a:r>
              <a:rPr dirty="0" sz="2500" spc="-10">
                <a:latin typeface="Arial"/>
                <a:cs typeface="Arial"/>
              </a:rPr>
              <a:t>systèmes)</a:t>
            </a:r>
            <a:endParaRPr sz="25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2743294" y="5249686"/>
            <a:ext cx="937894" cy="6153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2225"/>
              </a:lnSpc>
              <a:spcBef>
                <a:spcPts val="110"/>
              </a:spcBef>
            </a:pPr>
            <a:r>
              <a:rPr dirty="0" sz="2000" spc="-70">
                <a:latin typeface="Arial"/>
                <a:cs typeface="Arial"/>
              </a:rPr>
              <a:t>Essence</a:t>
            </a:r>
            <a:endParaRPr sz="2000">
              <a:latin typeface="Arial"/>
              <a:cs typeface="Arial"/>
            </a:endParaRPr>
          </a:p>
          <a:p>
            <a:pPr marL="19050">
              <a:lnSpc>
                <a:spcPts val="2405"/>
              </a:lnSpc>
            </a:pPr>
            <a:r>
              <a:rPr dirty="0" sz="2150" spc="-110">
                <a:latin typeface="Arial"/>
                <a:cs typeface="Arial"/>
              </a:rPr>
              <a:t>Causale</a:t>
            </a:r>
            <a:endParaRPr sz="215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818850" y="8427155"/>
            <a:ext cx="16523969" cy="12414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3795"/>
              </a:lnSpc>
              <a:spcBef>
                <a:spcPts val="95"/>
              </a:spcBef>
              <a:tabLst>
                <a:tab pos="6443980" algn="l"/>
              </a:tabLst>
            </a:pPr>
            <a:r>
              <a:rPr dirty="0" sz="3200" spc="-300">
                <a:latin typeface="Arial"/>
                <a:cs typeface="Arial"/>
              </a:rPr>
              <a:t>Une</a:t>
            </a:r>
            <a:r>
              <a:rPr dirty="0" sz="3200" spc="-100">
                <a:latin typeface="Arial"/>
                <a:cs typeface="Arial"/>
              </a:rPr>
              <a:t> </a:t>
            </a:r>
            <a:r>
              <a:rPr dirty="0" sz="3200" spc="45">
                <a:latin typeface="Arial"/>
                <a:cs typeface="Arial"/>
              </a:rPr>
              <a:t>“</a:t>
            </a:r>
            <a:r>
              <a:rPr dirty="0" sz="3200">
                <a:latin typeface="Arial"/>
                <a:cs typeface="Arial"/>
              </a:rPr>
              <a:t>	</a:t>
            </a:r>
            <a:r>
              <a:rPr dirty="0" sz="3200" spc="75">
                <a:latin typeface="Arial"/>
                <a:cs typeface="Arial"/>
              </a:rPr>
              <a:t>”qui</a:t>
            </a:r>
            <a:r>
              <a:rPr dirty="0" sz="3200" spc="-150">
                <a:latin typeface="Arial"/>
                <a:cs typeface="Arial"/>
              </a:rPr>
              <a:t> </a:t>
            </a:r>
            <a:r>
              <a:rPr dirty="0" sz="3200" spc="-220">
                <a:latin typeface="Arial"/>
                <a:cs typeface="Arial"/>
              </a:rPr>
              <a:t>préserve</a:t>
            </a:r>
            <a:r>
              <a:rPr dirty="0" sz="3200" spc="25">
                <a:latin typeface="Arial"/>
                <a:cs typeface="Arial"/>
              </a:rPr>
              <a:t> </a:t>
            </a:r>
            <a:r>
              <a:rPr dirty="0" sz="3200" spc="-240">
                <a:latin typeface="Arial"/>
                <a:cs typeface="Arial"/>
              </a:rPr>
              <a:t>l'essence</a:t>
            </a:r>
            <a:r>
              <a:rPr dirty="0" sz="3200" spc="50">
                <a:latin typeface="Arial"/>
                <a:cs typeface="Arial"/>
              </a:rPr>
              <a:t> </a:t>
            </a:r>
            <a:r>
              <a:rPr dirty="0" sz="3200" spc="-260">
                <a:latin typeface="Arial"/>
                <a:cs typeface="Arial"/>
              </a:rPr>
              <a:t>causale.</a:t>
            </a:r>
            <a:r>
              <a:rPr dirty="0" sz="3200" spc="315">
                <a:latin typeface="Arial"/>
                <a:cs typeface="Arial"/>
              </a:rPr>
              <a:t> </a:t>
            </a:r>
            <a:r>
              <a:rPr dirty="0" sz="3200" spc="-300">
                <a:latin typeface="Arial"/>
                <a:cs typeface="Arial"/>
              </a:rPr>
              <a:t>Nous</a:t>
            </a:r>
            <a:r>
              <a:rPr dirty="0" sz="3200">
                <a:latin typeface="Arial"/>
                <a:cs typeface="Arial"/>
              </a:rPr>
              <a:t> </a:t>
            </a:r>
            <a:r>
              <a:rPr dirty="0" sz="3200" spc="-275">
                <a:latin typeface="Arial"/>
                <a:cs typeface="Arial"/>
              </a:rPr>
              <a:t>passons</a:t>
            </a:r>
            <a:r>
              <a:rPr dirty="0" sz="3200" spc="95">
                <a:latin typeface="Arial"/>
                <a:cs typeface="Arial"/>
              </a:rPr>
              <a:t> </a:t>
            </a:r>
            <a:r>
              <a:rPr dirty="0" sz="3200" spc="-254">
                <a:latin typeface="Arial"/>
                <a:cs typeface="Arial"/>
              </a:rPr>
              <a:t>de</a:t>
            </a:r>
            <a:r>
              <a:rPr dirty="0" sz="3200" spc="-145">
                <a:latin typeface="Arial"/>
                <a:cs typeface="Arial"/>
              </a:rPr>
              <a:t> </a:t>
            </a:r>
            <a:r>
              <a:rPr dirty="0" sz="3200" spc="-200">
                <a:latin typeface="Arial"/>
                <a:cs typeface="Arial"/>
              </a:rPr>
              <a:t>la</a:t>
            </a:r>
            <a:r>
              <a:rPr dirty="0" sz="3200" spc="55">
                <a:latin typeface="Arial"/>
                <a:cs typeface="Arial"/>
              </a:rPr>
              <a:t> </a:t>
            </a:r>
            <a:r>
              <a:rPr dirty="0" sz="3200" spc="-10">
                <a:latin typeface="Arial"/>
                <a:cs typeface="Arial"/>
              </a:rPr>
              <a:t>Vérité</a:t>
            </a:r>
            <a:endParaRPr sz="3200">
              <a:latin typeface="Arial"/>
              <a:cs typeface="Arial"/>
            </a:endParaRPr>
          </a:p>
          <a:p>
            <a:pPr marL="73660">
              <a:lnSpc>
                <a:spcPts val="3495"/>
              </a:lnSpc>
            </a:pPr>
            <a:r>
              <a:rPr dirty="0" sz="2950" spc="-75">
                <a:latin typeface="Arial"/>
                <a:cs typeface="Arial"/>
              </a:rPr>
              <a:t>Théorique</a:t>
            </a:r>
            <a:r>
              <a:rPr dirty="0" sz="2950" spc="-145">
                <a:latin typeface="Arial"/>
                <a:cs typeface="Arial"/>
              </a:rPr>
              <a:t> </a:t>
            </a:r>
            <a:r>
              <a:rPr dirty="0" sz="2950" spc="-265">
                <a:latin typeface="Arial"/>
                <a:cs typeface="Arial"/>
              </a:rPr>
              <a:t>(16</a:t>
            </a:r>
            <a:r>
              <a:rPr dirty="0" sz="2950" spc="-25">
                <a:latin typeface="Arial"/>
                <a:cs typeface="Arial"/>
              </a:rPr>
              <a:t> </a:t>
            </a:r>
            <a:r>
              <a:rPr dirty="0" sz="2950" spc="-105">
                <a:latin typeface="Arial"/>
                <a:cs typeface="Arial"/>
              </a:rPr>
              <a:t>systèmes)</a:t>
            </a:r>
            <a:r>
              <a:rPr dirty="0" sz="2950" spc="-100">
                <a:latin typeface="Arial"/>
                <a:cs typeface="Arial"/>
              </a:rPr>
              <a:t> </a:t>
            </a:r>
            <a:r>
              <a:rPr dirty="0" sz="2950" spc="-280">
                <a:latin typeface="Arial"/>
                <a:cs typeface="Arial"/>
              </a:rPr>
              <a:t>à</a:t>
            </a:r>
            <a:r>
              <a:rPr dirty="0" sz="2950" spc="35">
                <a:latin typeface="Arial"/>
                <a:cs typeface="Arial"/>
              </a:rPr>
              <a:t> </a:t>
            </a:r>
            <a:r>
              <a:rPr dirty="0" sz="2950" spc="-30">
                <a:latin typeface="Arial"/>
                <a:cs typeface="Arial"/>
              </a:rPr>
              <a:t>l'Application</a:t>
            </a:r>
            <a:r>
              <a:rPr dirty="0" sz="2950" spc="20">
                <a:latin typeface="Arial"/>
                <a:cs typeface="Arial"/>
              </a:rPr>
              <a:t> </a:t>
            </a:r>
            <a:r>
              <a:rPr dirty="0" sz="2950" spc="-65">
                <a:latin typeface="Arial"/>
                <a:cs typeface="Arial"/>
              </a:rPr>
              <a:t>Clinique</a:t>
            </a:r>
            <a:r>
              <a:rPr dirty="0" sz="2950" spc="-140">
                <a:latin typeface="Arial"/>
                <a:cs typeface="Arial"/>
              </a:rPr>
              <a:t> </a:t>
            </a:r>
            <a:r>
              <a:rPr dirty="0" sz="2950" spc="-50">
                <a:latin typeface="Arial"/>
                <a:cs typeface="Arial"/>
              </a:rPr>
              <a:t>(5-</a:t>
            </a:r>
            <a:r>
              <a:rPr dirty="0" sz="2950">
                <a:latin typeface="Arial"/>
                <a:cs typeface="Arial"/>
              </a:rPr>
              <a:t>6</a:t>
            </a:r>
            <a:r>
              <a:rPr dirty="0" sz="2950" spc="-170">
                <a:latin typeface="Arial"/>
                <a:cs typeface="Arial"/>
              </a:rPr>
              <a:t> </a:t>
            </a:r>
            <a:r>
              <a:rPr dirty="0" sz="2950" spc="-90">
                <a:latin typeface="Arial"/>
                <a:cs typeface="Arial"/>
              </a:rPr>
              <a:t>systèmes)</a:t>
            </a:r>
            <a:r>
              <a:rPr dirty="0" sz="2950">
                <a:latin typeface="Arial"/>
                <a:cs typeface="Arial"/>
              </a:rPr>
              <a:t> </a:t>
            </a:r>
            <a:r>
              <a:rPr dirty="0" sz="2950" spc="-114">
                <a:latin typeface="Arial"/>
                <a:cs typeface="Arial"/>
              </a:rPr>
              <a:t>avec</a:t>
            </a:r>
            <a:r>
              <a:rPr dirty="0" sz="2950" spc="-85">
                <a:latin typeface="Arial"/>
                <a:cs typeface="Arial"/>
              </a:rPr>
              <a:t> </a:t>
            </a:r>
            <a:r>
              <a:rPr dirty="0" sz="2950" spc="-95">
                <a:latin typeface="Arial"/>
                <a:cs typeface="Arial"/>
              </a:rPr>
              <a:t>des</a:t>
            </a:r>
            <a:r>
              <a:rPr dirty="0" sz="2950" spc="-114">
                <a:latin typeface="Arial"/>
                <a:cs typeface="Arial"/>
              </a:rPr>
              <a:t> </a:t>
            </a:r>
            <a:r>
              <a:rPr dirty="0" sz="2950" spc="-65">
                <a:latin typeface="Arial"/>
                <a:cs typeface="Arial"/>
              </a:rPr>
              <a:t>garanties</a:t>
            </a:r>
            <a:r>
              <a:rPr dirty="0" sz="2950">
                <a:latin typeface="Arial"/>
                <a:cs typeface="Arial"/>
              </a:rPr>
              <a:t> </a:t>
            </a:r>
            <a:r>
              <a:rPr dirty="0" sz="2950" spc="-10">
                <a:latin typeface="Arial"/>
                <a:cs typeface="Arial"/>
              </a:rPr>
              <a:t>mathématiques.</a:t>
            </a:r>
            <a:endParaRPr sz="295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  <a:spcBef>
                <a:spcPts val="660"/>
              </a:spcBef>
            </a:pPr>
            <a:r>
              <a:rPr dirty="0" sz="1350" spc="125">
                <a:latin typeface="Arial"/>
                <a:cs typeface="Arial"/>
              </a:rPr>
              <a:t>W</a:t>
            </a:r>
            <a:r>
              <a:rPr dirty="0" sz="1350" spc="130">
                <a:latin typeface="Arial"/>
                <a:cs typeface="Arial"/>
              </a:rPr>
              <a:t> </a:t>
            </a:r>
            <a:r>
              <a:rPr dirty="0" sz="1350" spc="-10">
                <a:latin typeface="Arial"/>
                <a:cs typeface="Arial"/>
              </a:rPr>
              <a:t>NotebaokLM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9400" y="3454400"/>
            <a:ext cx="3124200" cy="37973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67700" y="5130800"/>
            <a:ext cx="939800" cy="6477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42600" y="3937000"/>
            <a:ext cx="3124200" cy="28956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16562" rIns="0" bIns="0" rtlCol="0" vert="horz">
            <a:spAutoFit/>
          </a:bodyPr>
          <a:lstStyle/>
          <a:p>
            <a:pPr algn="ctr">
              <a:lnSpc>
                <a:spcPts val="6185"/>
              </a:lnSpc>
              <a:spcBef>
                <a:spcPts val="95"/>
              </a:spcBef>
            </a:pPr>
            <a:r>
              <a:rPr dirty="0" sz="5350">
                <a:solidFill>
                  <a:srgbClr val="212121"/>
                </a:solidFill>
                <a:latin typeface="Arial"/>
                <a:cs typeface="Arial"/>
              </a:rPr>
              <a:t>Dompter</a:t>
            </a:r>
            <a:r>
              <a:rPr dirty="0" sz="5350" spc="-10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5350" spc="120">
                <a:solidFill>
                  <a:srgbClr val="2A2A2A"/>
                </a:solidFill>
                <a:latin typeface="Arial"/>
                <a:cs typeface="Arial"/>
              </a:rPr>
              <a:t>le</a:t>
            </a:r>
            <a:r>
              <a:rPr dirty="0" sz="5350" spc="-465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5350" spc="-20">
                <a:solidFill>
                  <a:srgbClr val="232323"/>
                </a:solidFill>
                <a:latin typeface="Arial"/>
                <a:cs typeface="Arial"/>
              </a:rPr>
              <a:t>Chaos</a:t>
            </a:r>
            <a:r>
              <a:rPr dirty="0" sz="5350" spc="-15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5350" spc="-330" i="1">
                <a:solidFill>
                  <a:srgbClr val="2B2B2B"/>
                </a:solidFill>
                <a:latin typeface="Arial"/>
                <a:cs typeface="Arial"/>
              </a:rPr>
              <a:t>:</a:t>
            </a:r>
            <a:r>
              <a:rPr dirty="0" sz="5350" spc="-180" i="1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dirty="0" sz="5350" spc="-60">
                <a:solidFill>
                  <a:srgbClr val="262626"/>
                </a:solidFill>
                <a:latin typeface="Arial"/>
                <a:cs typeface="Arial"/>
              </a:rPr>
              <a:t>Une</a:t>
            </a:r>
            <a:r>
              <a:rPr dirty="0" sz="5350" spc="-19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5350">
                <a:solidFill>
                  <a:srgbClr val="262626"/>
                </a:solidFill>
                <a:latin typeface="Arial"/>
                <a:cs typeface="Arial"/>
              </a:rPr>
              <a:t>Approche</a:t>
            </a:r>
            <a:r>
              <a:rPr dirty="0" sz="5350" spc="-5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5350" spc="-155">
                <a:solidFill>
                  <a:srgbClr val="2D2D2D"/>
                </a:solidFill>
                <a:latin typeface="Arial"/>
                <a:cs typeface="Arial"/>
              </a:rPr>
              <a:t>à</a:t>
            </a:r>
            <a:r>
              <a:rPr dirty="0" sz="5350" spc="-465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5350" spc="-20">
                <a:solidFill>
                  <a:srgbClr val="262626"/>
                </a:solidFill>
                <a:latin typeface="Arial"/>
                <a:cs typeface="Arial"/>
              </a:rPr>
              <a:t>Deux</a:t>
            </a:r>
            <a:endParaRPr sz="5350">
              <a:latin typeface="Arial"/>
              <a:cs typeface="Arial"/>
            </a:endParaRPr>
          </a:p>
          <a:p>
            <a:pPr algn="ctr" marR="34290">
              <a:lnSpc>
                <a:spcPts val="6245"/>
              </a:lnSpc>
            </a:pPr>
            <a:r>
              <a:rPr dirty="0" sz="5400" spc="-10">
                <a:solidFill>
                  <a:srgbClr val="242424"/>
                </a:solidFill>
                <a:latin typeface="Arial"/>
                <a:cs typeface="Arial"/>
              </a:rPr>
              <a:t>Niveaux</a:t>
            </a:r>
            <a:r>
              <a:rPr dirty="0" sz="5400" spc="-135">
                <a:solidFill>
                  <a:srgbClr val="242424"/>
                </a:solidFill>
                <a:latin typeface="Arial"/>
                <a:cs typeface="Arial"/>
              </a:rPr>
              <a:t> </a:t>
            </a:r>
            <a:r>
              <a:rPr dirty="0" sz="5400" spc="50">
                <a:solidFill>
                  <a:srgbClr val="282828"/>
                </a:solidFill>
                <a:latin typeface="Arial"/>
                <a:cs typeface="Arial"/>
              </a:rPr>
              <a:t>pour</a:t>
            </a:r>
            <a:r>
              <a:rPr dirty="0" sz="5400" spc="-20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5400">
                <a:solidFill>
                  <a:srgbClr val="282828"/>
                </a:solidFill>
                <a:latin typeface="Arial"/>
                <a:cs typeface="Arial"/>
              </a:rPr>
              <a:t>la</a:t>
            </a:r>
            <a:r>
              <a:rPr dirty="0" sz="5400" spc="-37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5400">
                <a:solidFill>
                  <a:srgbClr val="262626"/>
                </a:solidFill>
                <a:latin typeface="Arial"/>
                <a:cs typeface="Arial"/>
              </a:rPr>
              <a:t>Crise</a:t>
            </a:r>
            <a:r>
              <a:rPr dirty="0" sz="5400" spc="-295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5400">
                <a:solidFill>
                  <a:srgbClr val="232323"/>
                </a:solidFill>
                <a:latin typeface="Arial"/>
                <a:cs typeface="Arial"/>
              </a:rPr>
              <a:t>des</a:t>
            </a:r>
            <a:r>
              <a:rPr dirty="0" sz="5400" spc="-459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5400" spc="-10">
                <a:solidFill>
                  <a:srgbClr val="262626"/>
                </a:solidFill>
                <a:latin typeface="Arial"/>
                <a:cs typeface="Arial"/>
              </a:rPr>
              <a:t>Données</a:t>
            </a:r>
            <a:endParaRPr sz="54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898211" y="7486328"/>
            <a:ext cx="4958715" cy="1254125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algn="ctr" marL="12065">
              <a:lnSpc>
                <a:spcPct val="100000"/>
              </a:lnSpc>
              <a:spcBef>
                <a:spcPts val="800"/>
              </a:spcBef>
            </a:pPr>
            <a:r>
              <a:rPr dirty="0" sz="2400" spc="185">
                <a:solidFill>
                  <a:srgbClr val="111111"/>
                </a:solidFill>
                <a:latin typeface="Calibri"/>
                <a:cs typeface="Calibri"/>
              </a:rPr>
              <a:t>Étape</a:t>
            </a:r>
            <a:r>
              <a:rPr dirty="0" sz="2400" spc="-19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2400" spc="50">
                <a:solidFill>
                  <a:srgbClr val="161616"/>
                </a:solidFill>
                <a:latin typeface="Calibri"/>
                <a:cs typeface="Calibri"/>
              </a:rPr>
              <a:t>1:</a:t>
            </a:r>
            <a:r>
              <a:rPr dirty="0" sz="2400" spc="-2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2400" spc="180">
                <a:solidFill>
                  <a:srgbClr val="131313"/>
                </a:solidFill>
                <a:latin typeface="Calibri"/>
                <a:cs typeface="Calibri"/>
              </a:rPr>
              <a:t>TRIER</a:t>
            </a:r>
            <a:r>
              <a:rPr dirty="0" sz="2400" spc="-55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2400" spc="65">
                <a:solidFill>
                  <a:srgbClr val="1F1F1F"/>
                </a:solidFill>
                <a:latin typeface="Calibri"/>
                <a:cs typeface="Calibri"/>
              </a:rPr>
              <a:t>&amp;</a:t>
            </a:r>
            <a:r>
              <a:rPr dirty="0" sz="24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2400" spc="175">
                <a:solidFill>
                  <a:srgbClr val="131313"/>
                </a:solidFill>
                <a:latin typeface="Calibri"/>
                <a:cs typeface="Calibri"/>
              </a:rPr>
              <a:t>ÉTIQUETER</a:t>
            </a:r>
            <a:endParaRPr sz="2400">
              <a:latin typeface="Calibri"/>
              <a:cs typeface="Calibri"/>
            </a:endParaRPr>
          </a:p>
          <a:p>
            <a:pPr algn="ctr" marL="12700" marR="5080">
              <a:lnSpc>
                <a:spcPts val="2600"/>
              </a:lnSpc>
              <a:spcBef>
                <a:spcPts val="940"/>
              </a:spcBef>
            </a:pPr>
            <a:r>
              <a:rPr dirty="0" sz="2350" spc="-65">
                <a:latin typeface="Arial"/>
                <a:cs typeface="Arial"/>
              </a:rPr>
              <a:t>Noyau</a:t>
            </a:r>
            <a:r>
              <a:rPr dirty="0" sz="2350" spc="-110">
                <a:latin typeface="Arial"/>
                <a:cs typeface="Arial"/>
              </a:rPr>
              <a:t> </a:t>
            </a:r>
            <a:r>
              <a:rPr dirty="0" sz="2350" spc="-10">
                <a:latin typeface="Arial"/>
                <a:cs typeface="Arial"/>
              </a:rPr>
              <a:t>de</a:t>
            </a:r>
            <a:r>
              <a:rPr dirty="0" sz="2350" spc="-150">
                <a:latin typeface="Arial"/>
                <a:cs typeface="Arial"/>
              </a:rPr>
              <a:t> </a:t>
            </a:r>
            <a:r>
              <a:rPr dirty="0" sz="2350" spc="-50">
                <a:latin typeface="Arial"/>
                <a:cs typeface="Arial"/>
              </a:rPr>
              <a:t>Tri</a:t>
            </a:r>
            <a:r>
              <a:rPr dirty="0" sz="2350" spc="-114"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0C0C0C"/>
                </a:solidFill>
                <a:latin typeface="Arial"/>
                <a:cs typeface="Arial"/>
              </a:rPr>
              <a:t>et</a:t>
            </a:r>
            <a:r>
              <a:rPr dirty="0" sz="2350" spc="-25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2350" spc="-45">
                <a:latin typeface="Arial"/>
                <a:cs typeface="Arial"/>
              </a:rPr>
              <a:t>d'Étiquetage</a:t>
            </a:r>
            <a:r>
              <a:rPr dirty="0" sz="2350" spc="-10">
                <a:latin typeface="Arial"/>
                <a:cs typeface="Arial"/>
              </a:rPr>
              <a:t> </a:t>
            </a:r>
            <a:r>
              <a:rPr dirty="0" sz="2350" spc="-30">
                <a:latin typeface="Arial"/>
                <a:cs typeface="Arial"/>
              </a:rPr>
              <a:t>Intelligent </a:t>
            </a:r>
            <a:r>
              <a:rPr dirty="0" sz="2350">
                <a:latin typeface="Arial"/>
                <a:cs typeface="Arial"/>
              </a:rPr>
              <a:t>Inter</a:t>
            </a:r>
            <a:r>
              <a:rPr dirty="0" sz="2350" spc="-50">
                <a:latin typeface="Arial"/>
                <a:cs typeface="Arial"/>
              </a:rPr>
              <a:t> </a:t>
            </a:r>
            <a:r>
              <a:rPr dirty="0" sz="2350" spc="-10">
                <a:latin typeface="Arial"/>
                <a:cs typeface="Arial"/>
              </a:rPr>
              <a:t>Regular</a:t>
            </a:r>
            <a:endParaRPr sz="235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438711" y="7486328"/>
            <a:ext cx="5591810" cy="1254125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algn="ctr" marR="635">
              <a:lnSpc>
                <a:spcPct val="100000"/>
              </a:lnSpc>
              <a:spcBef>
                <a:spcPts val="800"/>
              </a:spcBef>
            </a:pPr>
            <a:r>
              <a:rPr dirty="0" sz="2400">
                <a:solidFill>
                  <a:srgbClr val="111111"/>
                </a:solidFill>
                <a:latin typeface="Arial"/>
                <a:cs typeface="Arial"/>
              </a:rPr>
              <a:t>Étape</a:t>
            </a:r>
            <a:r>
              <a:rPr dirty="0" sz="2400" spc="-95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400" spc="75">
                <a:solidFill>
                  <a:srgbClr val="131313"/>
                </a:solidFill>
                <a:latin typeface="Arial"/>
                <a:cs typeface="Arial"/>
              </a:rPr>
              <a:t>2:</a:t>
            </a:r>
            <a:r>
              <a:rPr dirty="0" sz="2400" spc="-165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400" spc="-114">
                <a:solidFill>
                  <a:srgbClr val="131313"/>
                </a:solidFill>
                <a:latin typeface="Arial"/>
                <a:cs typeface="Arial"/>
              </a:rPr>
              <a:t>COMPLÉTER</a:t>
            </a:r>
            <a:r>
              <a:rPr dirty="0" sz="2400" spc="75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400" spc="-80">
                <a:solidFill>
                  <a:srgbClr val="1A1A1A"/>
                </a:solidFill>
                <a:latin typeface="Arial"/>
                <a:cs typeface="Arial"/>
              </a:rPr>
              <a:t>&amp;</a:t>
            </a:r>
            <a:r>
              <a:rPr dirty="0" sz="2400" spc="-15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0E0E0E"/>
                </a:solidFill>
                <a:latin typeface="Arial"/>
                <a:cs typeface="Arial"/>
              </a:rPr>
              <a:t>ENRICHIR</a:t>
            </a:r>
            <a:endParaRPr sz="2400">
              <a:latin typeface="Arial"/>
              <a:cs typeface="Arial"/>
            </a:endParaRPr>
          </a:p>
          <a:p>
            <a:pPr algn="ctr" marL="12700" marR="5080">
              <a:lnSpc>
                <a:spcPts val="2600"/>
              </a:lnSpc>
              <a:spcBef>
                <a:spcPts val="940"/>
              </a:spcBef>
            </a:pPr>
            <a:r>
              <a:rPr dirty="0" sz="2350" spc="-65">
                <a:latin typeface="Arial"/>
                <a:cs typeface="Arial"/>
              </a:rPr>
              <a:t>Noyau</a:t>
            </a:r>
            <a:r>
              <a:rPr dirty="0" sz="2350" spc="-95">
                <a:latin typeface="Arial"/>
                <a:cs typeface="Arial"/>
              </a:rPr>
              <a:t> </a:t>
            </a:r>
            <a:r>
              <a:rPr dirty="0" sz="2350" spc="-20">
                <a:latin typeface="Arial"/>
                <a:cs typeface="Arial"/>
              </a:rPr>
              <a:t>d'imputation</a:t>
            </a:r>
            <a:r>
              <a:rPr dirty="0" sz="2350" spc="-110">
                <a:latin typeface="Arial"/>
                <a:cs typeface="Arial"/>
              </a:rPr>
              <a:t> </a:t>
            </a:r>
            <a:r>
              <a:rPr dirty="0" sz="2350" spc="-30">
                <a:latin typeface="Arial"/>
                <a:cs typeface="Arial"/>
              </a:rPr>
              <a:t>Informé</a:t>
            </a:r>
            <a:r>
              <a:rPr dirty="0" sz="2350" spc="-95">
                <a:latin typeface="Arial"/>
                <a:cs typeface="Arial"/>
              </a:rPr>
              <a:t> </a:t>
            </a:r>
            <a:r>
              <a:rPr dirty="0" sz="2350" spc="-10">
                <a:latin typeface="Arial"/>
                <a:cs typeface="Arial"/>
              </a:rPr>
              <a:t>par</a:t>
            </a:r>
            <a:r>
              <a:rPr dirty="0" sz="2350" spc="-110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la</a:t>
            </a:r>
            <a:r>
              <a:rPr dirty="0" sz="2350" spc="-114">
                <a:latin typeface="Arial"/>
                <a:cs typeface="Arial"/>
              </a:rPr>
              <a:t> </a:t>
            </a:r>
            <a:r>
              <a:rPr dirty="0" sz="2350" spc="-70">
                <a:latin typeface="Arial"/>
                <a:cs typeface="Arial"/>
              </a:rPr>
              <a:t>Physique </a:t>
            </a:r>
            <a:r>
              <a:rPr dirty="0" sz="2350">
                <a:latin typeface="Arial"/>
                <a:cs typeface="Arial"/>
              </a:rPr>
              <a:t>Inter</a:t>
            </a:r>
            <a:r>
              <a:rPr dirty="0" sz="2350" spc="-150">
                <a:latin typeface="Arial"/>
                <a:cs typeface="Arial"/>
              </a:rPr>
              <a:t> </a:t>
            </a:r>
            <a:r>
              <a:rPr dirty="0" sz="2350" spc="-10">
                <a:latin typeface="Arial"/>
                <a:cs typeface="Arial"/>
              </a:rPr>
              <a:t>Regular</a:t>
            </a:r>
            <a:endParaRPr sz="2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75100" y="1765300"/>
            <a:ext cx="8864600" cy="59182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4323" rIns="0" bIns="0" rtlCol="0" vert="horz">
            <a:spAutoFit/>
          </a:bodyPr>
          <a:lstStyle/>
          <a:p>
            <a:pPr marL="2568575">
              <a:lnSpc>
                <a:spcPct val="100000"/>
              </a:lnSpc>
              <a:spcBef>
                <a:spcPts val="105"/>
              </a:spcBef>
            </a:pPr>
            <a:r>
              <a:rPr dirty="0" sz="4300">
                <a:solidFill>
                  <a:srgbClr val="000000"/>
                </a:solidFill>
                <a:latin typeface="Arial"/>
                <a:cs typeface="Arial"/>
              </a:rPr>
              <a:t>Étape</a:t>
            </a:r>
            <a:r>
              <a:rPr dirty="0" sz="4300" spc="-26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4300">
                <a:solidFill>
                  <a:srgbClr val="000000"/>
                </a:solidFill>
                <a:latin typeface="Arial"/>
                <a:cs typeface="Arial"/>
              </a:rPr>
              <a:t>1</a:t>
            </a:r>
            <a:r>
              <a:rPr dirty="0" sz="4300" spc="-4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430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dirty="0" sz="4300" spc="-9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4300">
                <a:solidFill>
                  <a:srgbClr val="000000"/>
                </a:solidFill>
                <a:latin typeface="Arial"/>
                <a:cs typeface="Arial"/>
              </a:rPr>
              <a:t>Le</a:t>
            </a:r>
            <a:r>
              <a:rPr dirty="0" sz="4300" spc="-19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4300" spc="60">
                <a:solidFill>
                  <a:srgbClr val="000000"/>
                </a:solidFill>
                <a:latin typeface="Arial"/>
                <a:cs typeface="Arial"/>
              </a:rPr>
              <a:t>Tri</a:t>
            </a:r>
            <a:r>
              <a:rPr dirty="0" sz="4300" spc="-17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4300">
                <a:solidFill>
                  <a:srgbClr val="000000"/>
                </a:solidFill>
                <a:latin typeface="Arial"/>
                <a:cs typeface="Arial"/>
              </a:rPr>
              <a:t>par</a:t>
            </a:r>
            <a:r>
              <a:rPr dirty="0" sz="4300" spc="18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4300">
                <a:solidFill>
                  <a:srgbClr val="000000"/>
                </a:solidFill>
                <a:latin typeface="Arial"/>
                <a:cs typeface="Arial"/>
              </a:rPr>
              <a:t>6</a:t>
            </a:r>
            <a:r>
              <a:rPr dirty="0" sz="4300" spc="9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4300" spc="85">
                <a:solidFill>
                  <a:srgbClr val="000000"/>
                </a:solidFill>
                <a:latin typeface="Arial"/>
                <a:cs typeface="Arial"/>
              </a:rPr>
              <a:t>Agents</a:t>
            </a:r>
            <a:r>
              <a:rPr dirty="0" sz="4300" spc="1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4300" spc="90">
                <a:solidFill>
                  <a:srgbClr val="000000"/>
                </a:solidFill>
                <a:latin typeface="Arial"/>
                <a:cs typeface="Arial"/>
              </a:rPr>
              <a:t>lA</a:t>
            </a:r>
            <a:r>
              <a:rPr dirty="0" sz="4300" spc="-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4300" spc="-10">
                <a:solidFill>
                  <a:srgbClr val="000000"/>
                </a:solidFill>
                <a:latin typeface="Arial"/>
                <a:cs typeface="Arial"/>
              </a:rPr>
              <a:t>Spécialisés</a:t>
            </a:r>
            <a:endParaRPr sz="43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970">
              <a:lnSpc>
                <a:spcPts val="1545"/>
              </a:lnSpc>
            </a:pPr>
            <a:r>
              <a:rPr dirty="0">
                <a:latin typeface="Calibri"/>
                <a:cs typeface="Calibri"/>
              </a:rPr>
              <a:t>G</a:t>
            </a:r>
            <a:r>
              <a:rPr dirty="0" spc="100">
                <a:latin typeface="Calibri"/>
                <a:cs typeface="Calibri"/>
              </a:rPr>
              <a:t>  </a:t>
            </a:r>
            <a:r>
              <a:rPr dirty="0" spc="-25">
                <a:latin typeface="Calibri"/>
                <a:cs typeface="Calibri"/>
              </a:rPr>
              <a:t>NotebookLM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391907" y="3186288"/>
            <a:ext cx="3059430" cy="3854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50" spc="-10">
                <a:latin typeface="Arial"/>
                <a:cs typeface="Arial"/>
              </a:rPr>
              <a:t>ClinicaloncologyAgent</a:t>
            </a:r>
            <a:endParaRPr sz="235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643310" y="5472288"/>
            <a:ext cx="4076700" cy="3854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50" spc="-10">
                <a:latin typeface="Arial"/>
                <a:cs typeface="Arial"/>
              </a:rPr>
              <a:t>EpidemiologyPreventionAgent</a:t>
            </a:r>
            <a:endParaRPr sz="235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869501" y="4432652"/>
            <a:ext cx="1694814" cy="8369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8740">
              <a:lnSpc>
                <a:spcPts val="3285"/>
              </a:lnSpc>
              <a:spcBef>
                <a:spcPts val="95"/>
              </a:spcBef>
            </a:pPr>
            <a:r>
              <a:rPr dirty="0" sz="2850" spc="-55">
                <a:latin typeface="Arial"/>
                <a:cs typeface="Arial"/>
              </a:rPr>
              <a:t>Moteur</a:t>
            </a:r>
            <a:r>
              <a:rPr dirty="0" sz="2850" spc="-95">
                <a:latin typeface="Arial"/>
                <a:cs typeface="Arial"/>
              </a:rPr>
              <a:t> </a:t>
            </a:r>
            <a:r>
              <a:rPr dirty="0" sz="2850" spc="-25">
                <a:latin typeface="Arial"/>
                <a:cs typeface="Arial"/>
              </a:rPr>
              <a:t>de</a:t>
            </a:r>
            <a:endParaRPr sz="2850">
              <a:latin typeface="Arial"/>
              <a:cs typeface="Arial"/>
            </a:endParaRPr>
          </a:p>
          <a:p>
            <a:pPr marL="12700">
              <a:lnSpc>
                <a:spcPts val="3105"/>
              </a:lnSpc>
            </a:pPr>
            <a:r>
              <a:rPr dirty="0" sz="2700" spc="-40">
                <a:latin typeface="Arial"/>
                <a:cs typeface="Arial"/>
              </a:rPr>
              <a:t>Consensus</a:t>
            </a:r>
            <a:endParaRPr sz="27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537634" y="7745589"/>
            <a:ext cx="14385290" cy="15925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680335">
              <a:lnSpc>
                <a:spcPct val="100000"/>
              </a:lnSpc>
              <a:spcBef>
                <a:spcPts val="110"/>
              </a:spcBef>
              <a:tabLst>
                <a:tab pos="8581390" algn="l"/>
              </a:tabLst>
            </a:pPr>
            <a:r>
              <a:rPr dirty="0" sz="2350" spc="-10">
                <a:latin typeface="Arial"/>
                <a:cs typeface="Arial"/>
              </a:rPr>
              <a:t>EndocrinologyMicrobiomeAgent</a:t>
            </a:r>
            <a:r>
              <a:rPr dirty="0" sz="2350">
                <a:latin typeface="Arial"/>
                <a:cs typeface="Arial"/>
              </a:rPr>
              <a:t>	</a:t>
            </a:r>
            <a:r>
              <a:rPr dirty="0" sz="2350" spc="-10">
                <a:latin typeface="Arial"/>
                <a:cs typeface="Arial"/>
              </a:rPr>
              <a:t>ImagingAgent</a:t>
            </a:r>
            <a:endParaRPr sz="2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2350">
              <a:latin typeface="Arial"/>
              <a:cs typeface="Arial"/>
            </a:endParaRPr>
          </a:p>
          <a:p>
            <a:pPr algn="ctr">
              <a:lnSpc>
                <a:spcPts val="3035"/>
              </a:lnSpc>
            </a:pPr>
            <a:r>
              <a:rPr dirty="0" sz="2600" spc="-114">
                <a:latin typeface="Arial"/>
                <a:cs typeface="Arial"/>
              </a:rPr>
              <a:t>Les</a:t>
            </a:r>
            <a:r>
              <a:rPr dirty="0" sz="2600" spc="-9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16</a:t>
            </a:r>
            <a:r>
              <a:rPr dirty="0" sz="2600" spc="-185">
                <a:latin typeface="Arial"/>
                <a:cs typeface="Arial"/>
              </a:rPr>
              <a:t> </a:t>
            </a:r>
            <a:r>
              <a:rPr dirty="0" sz="2600" spc="-25">
                <a:latin typeface="Arial"/>
                <a:cs typeface="Arial"/>
              </a:rPr>
              <a:t>domaines</a:t>
            </a:r>
            <a:r>
              <a:rPr dirty="0" sz="2600" spc="-114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sont</a:t>
            </a:r>
            <a:r>
              <a:rPr dirty="0" sz="2600" spc="-85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regroupés</a:t>
            </a:r>
            <a:r>
              <a:rPr dirty="0" sz="2600" spc="5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en</a:t>
            </a:r>
            <a:r>
              <a:rPr dirty="0" sz="2600" spc="-10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6</a:t>
            </a:r>
            <a:r>
              <a:rPr dirty="0" sz="2600" spc="-13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spécialités</a:t>
            </a:r>
            <a:r>
              <a:rPr dirty="0" sz="2600" spc="3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scientifiques,</a:t>
            </a:r>
            <a:r>
              <a:rPr dirty="0" sz="2600" spc="-18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chacune</a:t>
            </a:r>
            <a:r>
              <a:rPr dirty="0" sz="2600" spc="30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gérée</a:t>
            </a:r>
            <a:r>
              <a:rPr dirty="0" sz="2600" spc="-14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par</a:t>
            </a:r>
            <a:r>
              <a:rPr dirty="0" sz="2600" spc="-4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un</a:t>
            </a:r>
            <a:r>
              <a:rPr dirty="0" sz="2600" spc="-9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agent</a:t>
            </a:r>
            <a:r>
              <a:rPr dirty="0" sz="2600" spc="15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expert.</a:t>
            </a:r>
            <a:endParaRPr sz="2600">
              <a:latin typeface="Arial"/>
              <a:cs typeface="Arial"/>
            </a:endParaRPr>
          </a:p>
          <a:p>
            <a:pPr algn="ctr">
              <a:lnSpc>
                <a:spcPts val="3035"/>
              </a:lnSpc>
            </a:pPr>
            <a:r>
              <a:rPr dirty="0" sz="2600">
                <a:latin typeface="Arial"/>
                <a:cs typeface="Arial"/>
              </a:rPr>
              <a:t>Un</a:t>
            </a:r>
            <a:r>
              <a:rPr dirty="0" sz="2600" spc="-15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Moteur</a:t>
            </a:r>
            <a:r>
              <a:rPr dirty="0" sz="2600" spc="5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de</a:t>
            </a:r>
            <a:r>
              <a:rPr dirty="0" sz="2600" spc="-140">
                <a:latin typeface="Arial"/>
                <a:cs typeface="Arial"/>
              </a:rPr>
              <a:t> </a:t>
            </a:r>
            <a:r>
              <a:rPr dirty="0" sz="2600" spc="-40">
                <a:latin typeface="Arial"/>
                <a:cs typeface="Arial"/>
              </a:rPr>
              <a:t>Consensus</a:t>
            </a:r>
            <a:r>
              <a:rPr dirty="0" sz="2600" spc="12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arbitre</a:t>
            </a:r>
            <a:r>
              <a:rPr dirty="0" sz="2600" spc="15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les</a:t>
            </a:r>
            <a:r>
              <a:rPr dirty="0" sz="2600" spc="-17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conflits</a:t>
            </a:r>
            <a:r>
              <a:rPr dirty="0" sz="2600" spc="20">
                <a:latin typeface="Arial"/>
                <a:cs typeface="Arial"/>
              </a:rPr>
              <a:t> </a:t>
            </a:r>
            <a:r>
              <a:rPr dirty="0" sz="2600" spc="-20">
                <a:latin typeface="Arial"/>
                <a:cs typeface="Arial"/>
              </a:rPr>
              <a:t>avec</a:t>
            </a:r>
            <a:r>
              <a:rPr dirty="0" sz="2600" spc="-3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un</a:t>
            </a:r>
            <a:r>
              <a:rPr dirty="0" sz="2600" spc="-6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score</a:t>
            </a:r>
            <a:r>
              <a:rPr dirty="0" sz="2600" spc="-1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de</a:t>
            </a:r>
            <a:r>
              <a:rPr dirty="0" sz="2600" spc="-114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confiance</a:t>
            </a:r>
            <a:r>
              <a:rPr dirty="0" sz="2600" spc="60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adaptatif.</a:t>
            </a:r>
            <a:endParaRPr sz="26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010510" y="3186288"/>
            <a:ext cx="3117850" cy="3854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50" spc="-10">
                <a:latin typeface="Arial"/>
                <a:cs typeface="Arial"/>
              </a:rPr>
              <a:t>MolecularBiologyAgent</a:t>
            </a:r>
            <a:endParaRPr sz="235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1229109" y="5472288"/>
            <a:ext cx="2160905" cy="3854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50" spc="-10">
                <a:latin typeface="Arial"/>
                <a:cs typeface="Arial"/>
              </a:rPr>
              <a:t>PathologyAgent</a:t>
            </a:r>
            <a:endParaRPr sz="2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5600" y="2108200"/>
            <a:ext cx="12153900" cy="448310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2449186" y="3445852"/>
            <a:ext cx="421640" cy="173736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2780"/>
              </a:lnSpc>
            </a:pPr>
            <a:r>
              <a:rPr dirty="0" sz="2400" spc="50">
                <a:latin typeface="Arial"/>
                <a:cs typeface="Arial"/>
              </a:rPr>
              <a:t>J</a:t>
            </a:r>
            <a:r>
              <a:rPr dirty="0" sz="2400" spc="-405">
                <a:latin typeface="Arial"/>
                <a:cs typeface="Arial"/>
              </a:rPr>
              <a:t>nan</a:t>
            </a:r>
            <a:r>
              <a:rPr dirty="0" sz="2400" spc="-370">
                <a:latin typeface="Arial"/>
                <a:cs typeface="Arial"/>
              </a:rPr>
              <a:t>b</a:t>
            </a:r>
            <a:r>
              <a:rPr dirty="0" sz="2400" spc="-185">
                <a:latin typeface="Arial"/>
                <a:cs typeface="Arial"/>
              </a:rPr>
              <a:t>a</a:t>
            </a:r>
            <a:r>
              <a:rPr dirty="0" sz="2400" spc="-320">
                <a:latin typeface="Arial"/>
                <a:cs typeface="Arial"/>
              </a:rPr>
              <a:t>e</a:t>
            </a:r>
            <a:r>
              <a:rPr dirty="0" sz="2400" spc="-204">
                <a:latin typeface="Arial"/>
                <a:cs typeface="Arial"/>
              </a:rPr>
              <a:t>L</a:t>
            </a:r>
            <a:r>
              <a:rPr dirty="0" sz="2400" spc="-405">
                <a:latin typeface="Arial"/>
                <a:cs typeface="Arial"/>
              </a:rPr>
              <a:t>U</a:t>
            </a:r>
            <a:r>
              <a:rPr dirty="0" sz="2400" spc="-254">
                <a:latin typeface="Arial"/>
                <a:cs typeface="Arial"/>
              </a:rPr>
              <a:t>O</a:t>
            </a:r>
            <a:r>
              <a:rPr dirty="0" baseline="-9259" sz="3600" spc="202">
                <a:latin typeface="Arial"/>
                <a:cs typeface="Arial"/>
              </a:rPr>
              <a:t>!</a:t>
            </a:r>
            <a:r>
              <a:rPr dirty="0" baseline="-9259" sz="3600" spc="-592">
                <a:latin typeface="Arial"/>
                <a:cs typeface="Arial"/>
              </a:rPr>
              <a:t>B</a:t>
            </a:r>
            <a:endParaRPr baseline="-9259" sz="36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970">
              <a:lnSpc>
                <a:spcPts val="1545"/>
              </a:lnSpc>
            </a:pPr>
            <a:r>
              <a:rPr dirty="0">
                <a:latin typeface="Calibri"/>
                <a:cs typeface="Calibri"/>
              </a:rPr>
              <a:t>G</a:t>
            </a:r>
            <a:r>
              <a:rPr dirty="0" spc="100">
                <a:latin typeface="Calibri"/>
                <a:cs typeface="Calibri"/>
              </a:rPr>
              <a:t>  </a:t>
            </a:r>
            <a:r>
              <a:rPr dirty="0" spc="-25">
                <a:latin typeface="Calibri"/>
                <a:cs typeface="Calibri"/>
              </a:rPr>
              <a:t>NotebookLM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05818" y="577497"/>
            <a:ext cx="15622269" cy="7346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30320" algn="l"/>
              </a:tabLst>
            </a:pPr>
            <a:r>
              <a:rPr dirty="0" sz="4650">
                <a:solidFill>
                  <a:srgbClr val="242424"/>
                </a:solidFill>
                <a:latin typeface="Arial"/>
                <a:cs typeface="Arial"/>
              </a:rPr>
              <a:t>Étape</a:t>
            </a:r>
            <a:r>
              <a:rPr dirty="0" sz="4650" spc="120">
                <a:solidFill>
                  <a:srgbClr val="242424"/>
                </a:solidFill>
                <a:latin typeface="Arial"/>
                <a:cs typeface="Arial"/>
              </a:rPr>
              <a:t> </a:t>
            </a:r>
            <a:r>
              <a:rPr dirty="0" sz="4650" spc="50">
                <a:solidFill>
                  <a:srgbClr val="262626"/>
                </a:solidFill>
                <a:latin typeface="Arial"/>
                <a:cs typeface="Arial"/>
              </a:rPr>
              <a:t>2</a:t>
            </a:r>
            <a:r>
              <a:rPr dirty="0" sz="4650" spc="-365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4650">
                <a:solidFill>
                  <a:srgbClr val="2A2A2A"/>
                </a:solidFill>
                <a:latin typeface="Arial"/>
                <a:cs typeface="Arial"/>
              </a:rPr>
              <a:t>:</a:t>
            </a:r>
            <a:r>
              <a:rPr dirty="0" sz="4650" spc="-8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4650" spc="-100">
                <a:solidFill>
                  <a:srgbClr val="262626"/>
                </a:solidFill>
                <a:latin typeface="Arial"/>
                <a:cs typeface="Arial"/>
              </a:rPr>
              <a:t>De</a:t>
            </a:r>
            <a:r>
              <a:rPr dirty="0" sz="4650" spc="-235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4650" spc="-50">
                <a:solidFill>
                  <a:srgbClr val="1C1C1C"/>
                </a:solidFill>
                <a:latin typeface="Arial"/>
                <a:cs typeface="Arial"/>
              </a:rPr>
              <a:t>I</a:t>
            </a:r>
            <a:r>
              <a:rPr dirty="0" sz="4650">
                <a:solidFill>
                  <a:srgbClr val="1C1C1C"/>
                </a:solidFill>
                <a:latin typeface="Arial"/>
                <a:cs typeface="Arial"/>
              </a:rPr>
              <a:t>	</a:t>
            </a:r>
            <a:r>
              <a:rPr dirty="0" sz="4650" spc="130">
                <a:solidFill>
                  <a:srgbClr val="1C1C1C"/>
                </a:solidFill>
                <a:latin typeface="Arial"/>
                <a:cs typeface="Arial"/>
              </a:rPr>
              <a:t>nférence</a:t>
            </a:r>
            <a:r>
              <a:rPr dirty="0" sz="4650" spc="15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dirty="0" sz="4650" spc="150">
                <a:solidFill>
                  <a:srgbClr val="232323"/>
                </a:solidFill>
                <a:latin typeface="Arial"/>
                <a:cs typeface="Arial"/>
              </a:rPr>
              <a:t>Statistique</a:t>
            </a:r>
            <a:r>
              <a:rPr dirty="0" sz="4650" spc="10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4650">
                <a:solidFill>
                  <a:srgbClr val="242424"/>
                </a:solidFill>
                <a:latin typeface="Arial"/>
                <a:cs typeface="Arial"/>
              </a:rPr>
              <a:t>à</a:t>
            </a:r>
            <a:r>
              <a:rPr dirty="0" sz="4650" spc="-235">
                <a:solidFill>
                  <a:srgbClr val="242424"/>
                </a:solidFill>
                <a:latin typeface="Arial"/>
                <a:cs typeface="Arial"/>
              </a:rPr>
              <a:t> </a:t>
            </a:r>
            <a:r>
              <a:rPr dirty="0" sz="4650" spc="125">
                <a:solidFill>
                  <a:srgbClr val="232323"/>
                </a:solidFill>
                <a:latin typeface="Arial"/>
                <a:cs typeface="Arial"/>
              </a:rPr>
              <a:t>l'lnférence</a:t>
            </a:r>
            <a:r>
              <a:rPr dirty="0" sz="4650" spc="12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4650" spc="80">
                <a:solidFill>
                  <a:srgbClr val="232323"/>
                </a:solidFill>
                <a:latin typeface="Arial"/>
                <a:cs typeface="Arial"/>
              </a:rPr>
              <a:t>Physique</a:t>
            </a:r>
            <a:endParaRPr sz="465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129798" y="6682669"/>
            <a:ext cx="13305155" cy="223901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 marR="97155">
              <a:lnSpc>
                <a:spcPct val="100000"/>
              </a:lnSpc>
              <a:spcBef>
                <a:spcPts val="130"/>
              </a:spcBef>
            </a:pPr>
            <a:r>
              <a:rPr dirty="0" sz="2400" spc="-10">
                <a:latin typeface="Arial"/>
                <a:cs typeface="Arial"/>
              </a:rPr>
              <a:t>Temps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endParaRPr sz="2400">
              <a:latin typeface="Arial"/>
              <a:cs typeface="Arial"/>
            </a:endParaRPr>
          </a:p>
          <a:p>
            <a:pPr algn="ctr" marL="12700" marR="5080">
              <a:lnSpc>
                <a:spcPct val="103099"/>
              </a:lnSpc>
              <a:tabLst>
                <a:tab pos="10878820" algn="l"/>
              </a:tabLst>
            </a:pPr>
            <a:r>
              <a:rPr dirty="0" sz="2950" spc="-10">
                <a:latin typeface="Arial"/>
                <a:cs typeface="Arial"/>
              </a:rPr>
              <a:t>Plutôt</a:t>
            </a:r>
            <a:r>
              <a:rPr dirty="0" sz="2950" spc="-130">
                <a:latin typeface="Arial"/>
                <a:cs typeface="Arial"/>
              </a:rPr>
              <a:t> </a:t>
            </a:r>
            <a:r>
              <a:rPr dirty="0" sz="2950" spc="-80">
                <a:latin typeface="Arial"/>
                <a:cs typeface="Arial"/>
              </a:rPr>
              <a:t>que</a:t>
            </a:r>
            <a:r>
              <a:rPr dirty="0" sz="2950" spc="-125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de</a:t>
            </a:r>
            <a:r>
              <a:rPr dirty="0" sz="2950" spc="-175">
                <a:latin typeface="Arial"/>
                <a:cs typeface="Arial"/>
              </a:rPr>
              <a:t> </a:t>
            </a:r>
            <a:r>
              <a:rPr dirty="0" sz="2950" spc="-40">
                <a:latin typeface="Arial"/>
                <a:cs typeface="Arial"/>
              </a:rPr>
              <a:t>deviner</a:t>
            </a:r>
            <a:r>
              <a:rPr dirty="0" sz="2950" spc="-60">
                <a:latin typeface="Arial"/>
                <a:cs typeface="Arial"/>
              </a:rPr>
              <a:t> </a:t>
            </a:r>
            <a:r>
              <a:rPr dirty="0" sz="2950" spc="-50">
                <a:latin typeface="Arial"/>
                <a:cs typeface="Arial"/>
              </a:rPr>
              <a:t>les</a:t>
            </a:r>
            <a:r>
              <a:rPr dirty="0" sz="2950" spc="-140">
                <a:latin typeface="Arial"/>
                <a:cs typeface="Arial"/>
              </a:rPr>
              <a:t> </a:t>
            </a:r>
            <a:r>
              <a:rPr dirty="0" sz="2950" spc="-80">
                <a:latin typeface="Arial"/>
                <a:cs typeface="Arial"/>
              </a:rPr>
              <a:t>données</a:t>
            </a:r>
            <a:r>
              <a:rPr dirty="0" sz="2950" spc="-90">
                <a:latin typeface="Arial"/>
                <a:cs typeface="Arial"/>
              </a:rPr>
              <a:t> </a:t>
            </a:r>
            <a:r>
              <a:rPr dirty="0" sz="2950" spc="-70">
                <a:latin typeface="Arial"/>
                <a:cs typeface="Arial"/>
              </a:rPr>
              <a:t>manquantes,</a:t>
            </a:r>
            <a:r>
              <a:rPr dirty="0" sz="2950" spc="-5">
                <a:latin typeface="Arial"/>
                <a:cs typeface="Arial"/>
              </a:rPr>
              <a:t> </a:t>
            </a:r>
            <a:r>
              <a:rPr dirty="0" sz="2950" spc="-75">
                <a:latin typeface="Arial"/>
                <a:cs typeface="Arial"/>
              </a:rPr>
              <a:t>nous</a:t>
            </a:r>
            <a:r>
              <a:rPr dirty="0" sz="2950" spc="-80">
                <a:latin typeface="Arial"/>
                <a:cs typeface="Arial"/>
              </a:rPr>
              <a:t> </a:t>
            </a:r>
            <a:r>
              <a:rPr dirty="0" sz="2950" spc="-50">
                <a:latin typeface="Arial"/>
                <a:cs typeface="Arial"/>
              </a:rPr>
              <a:t>les</a:t>
            </a:r>
            <a:r>
              <a:rPr dirty="0" sz="2950" spc="-140">
                <a:latin typeface="Arial"/>
                <a:cs typeface="Arial"/>
              </a:rPr>
              <a:t> </a:t>
            </a:r>
            <a:r>
              <a:rPr dirty="0" sz="2950" spc="-85">
                <a:latin typeface="Arial"/>
                <a:cs typeface="Arial"/>
              </a:rPr>
              <a:t>générons. </a:t>
            </a:r>
            <a:r>
              <a:rPr dirty="0" sz="2950" spc="-70">
                <a:latin typeface="Arial"/>
                <a:cs typeface="Arial"/>
              </a:rPr>
              <a:t>Nous</a:t>
            </a:r>
            <a:r>
              <a:rPr dirty="0" sz="2950" spc="-135">
                <a:latin typeface="Arial"/>
                <a:cs typeface="Arial"/>
              </a:rPr>
              <a:t> </a:t>
            </a:r>
            <a:r>
              <a:rPr dirty="0" sz="2950" spc="-60">
                <a:latin typeface="Arial"/>
                <a:cs typeface="Arial"/>
              </a:rPr>
              <a:t>créons</a:t>
            </a:r>
            <a:r>
              <a:rPr dirty="0" sz="2950" spc="-140">
                <a:latin typeface="Arial"/>
                <a:cs typeface="Arial"/>
              </a:rPr>
              <a:t> </a:t>
            </a:r>
            <a:r>
              <a:rPr dirty="0" sz="2950" spc="-25">
                <a:latin typeface="Arial"/>
                <a:cs typeface="Arial"/>
              </a:rPr>
              <a:t>un </a:t>
            </a:r>
            <a:r>
              <a:rPr dirty="0" sz="2950" spc="-105">
                <a:latin typeface="Arial"/>
                <a:cs typeface="Arial"/>
              </a:rPr>
              <a:t>Jumeau </a:t>
            </a:r>
            <a:r>
              <a:rPr dirty="0" sz="2950" spc="-80">
                <a:latin typeface="Arial"/>
                <a:cs typeface="Arial"/>
              </a:rPr>
              <a:t>Numérique</a:t>
            </a:r>
            <a:r>
              <a:rPr dirty="0" sz="2950" spc="10">
                <a:latin typeface="Arial"/>
                <a:cs typeface="Arial"/>
              </a:rPr>
              <a:t> </a:t>
            </a:r>
            <a:r>
              <a:rPr dirty="0" sz="2950" spc="-10">
                <a:latin typeface="Arial"/>
                <a:cs typeface="Arial"/>
              </a:rPr>
              <a:t>du</a:t>
            </a:r>
            <a:r>
              <a:rPr dirty="0" sz="2950" spc="-200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patient,</a:t>
            </a:r>
            <a:r>
              <a:rPr dirty="0" sz="2950" spc="-110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et</a:t>
            </a:r>
            <a:r>
              <a:rPr dirty="0" sz="2950" spc="-165">
                <a:latin typeface="Arial"/>
                <a:cs typeface="Arial"/>
              </a:rPr>
              <a:t> </a:t>
            </a:r>
            <a:r>
              <a:rPr dirty="0" sz="2950" spc="-25">
                <a:latin typeface="Arial"/>
                <a:cs typeface="Arial"/>
              </a:rPr>
              <a:t>l'Équation</a:t>
            </a:r>
            <a:r>
              <a:rPr dirty="0" sz="2950" spc="-155">
                <a:latin typeface="Arial"/>
                <a:cs typeface="Arial"/>
              </a:rPr>
              <a:t> </a:t>
            </a:r>
            <a:r>
              <a:rPr dirty="0" sz="2950" spc="-30">
                <a:latin typeface="Arial"/>
                <a:cs typeface="Arial"/>
              </a:rPr>
              <a:t>Cosmique</a:t>
            </a:r>
            <a:r>
              <a:rPr dirty="0" sz="2950" spc="45">
                <a:latin typeface="Arial"/>
                <a:cs typeface="Arial"/>
              </a:rPr>
              <a:t> </a:t>
            </a:r>
            <a:r>
              <a:rPr dirty="0" sz="2950" spc="-180">
                <a:latin typeface="Arial"/>
                <a:cs typeface="Arial"/>
              </a:rPr>
              <a:t>(UHCF-</a:t>
            </a:r>
            <a:r>
              <a:rPr dirty="0" sz="2950" spc="-25">
                <a:latin typeface="Arial"/>
                <a:cs typeface="Arial"/>
              </a:rPr>
              <a:t>OM)</a:t>
            </a:r>
            <a:r>
              <a:rPr dirty="0" sz="2950">
                <a:latin typeface="Arial"/>
                <a:cs typeface="Arial"/>
              </a:rPr>
              <a:t>	</a:t>
            </a:r>
            <a:r>
              <a:rPr dirty="0" sz="2950" spc="-10">
                <a:latin typeface="Arial"/>
                <a:cs typeface="Arial"/>
              </a:rPr>
              <a:t>contraint</a:t>
            </a:r>
            <a:r>
              <a:rPr dirty="0" sz="2950" spc="-60">
                <a:latin typeface="Arial"/>
                <a:cs typeface="Arial"/>
              </a:rPr>
              <a:t> </a:t>
            </a:r>
            <a:r>
              <a:rPr dirty="0" sz="2950" spc="-20">
                <a:latin typeface="Arial"/>
                <a:cs typeface="Arial"/>
              </a:rPr>
              <a:t>l'IA </a:t>
            </a:r>
            <a:r>
              <a:rPr dirty="0" sz="2950" spc="-114">
                <a:latin typeface="Arial"/>
                <a:cs typeface="Arial"/>
              </a:rPr>
              <a:t>(PlNNs)</a:t>
            </a:r>
            <a:r>
              <a:rPr dirty="0" sz="2950" spc="-60">
                <a:latin typeface="Arial"/>
                <a:cs typeface="Arial"/>
              </a:rPr>
              <a:t> </a:t>
            </a:r>
            <a:r>
              <a:rPr dirty="0" sz="2950" spc="-280">
                <a:latin typeface="Arial"/>
                <a:cs typeface="Arial"/>
              </a:rPr>
              <a:t>à</a:t>
            </a:r>
            <a:r>
              <a:rPr dirty="0" sz="2950" spc="5">
                <a:latin typeface="Arial"/>
                <a:cs typeface="Arial"/>
              </a:rPr>
              <a:t> </a:t>
            </a:r>
            <a:r>
              <a:rPr dirty="0" sz="2950" spc="-45">
                <a:latin typeface="Arial"/>
                <a:cs typeface="Arial"/>
              </a:rPr>
              <a:t>combler</a:t>
            </a:r>
            <a:r>
              <a:rPr dirty="0" sz="2950" spc="-75">
                <a:latin typeface="Arial"/>
                <a:cs typeface="Arial"/>
              </a:rPr>
              <a:t> </a:t>
            </a:r>
            <a:r>
              <a:rPr dirty="0" sz="2950" spc="-50">
                <a:latin typeface="Arial"/>
                <a:cs typeface="Arial"/>
              </a:rPr>
              <a:t>les</a:t>
            </a:r>
            <a:r>
              <a:rPr dirty="0" sz="2950" spc="-155">
                <a:latin typeface="Arial"/>
                <a:cs typeface="Arial"/>
              </a:rPr>
              <a:t> </a:t>
            </a:r>
            <a:r>
              <a:rPr dirty="0" sz="2950" spc="-60">
                <a:latin typeface="Arial"/>
                <a:cs typeface="Arial"/>
              </a:rPr>
              <a:t>lacunes</a:t>
            </a:r>
            <a:r>
              <a:rPr dirty="0" sz="2950" spc="-20">
                <a:latin typeface="Arial"/>
                <a:cs typeface="Arial"/>
              </a:rPr>
              <a:t> </a:t>
            </a:r>
            <a:r>
              <a:rPr dirty="0" sz="2950" spc="-10">
                <a:latin typeface="Arial"/>
                <a:cs typeface="Arial"/>
              </a:rPr>
              <a:t>de</a:t>
            </a:r>
            <a:r>
              <a:rPr dirty="0" sz="2950" spc="-155">
                <a:latin typeface="Arial"/>
                <a:cs typeface="Arial"/>
              </a:rPr>
              <a:t> </a:t>
            </a:r>
            <a:r>
              <a:rPr dirty="0" sz="2950" spc="-90">
                <a:latin typeface="Arial"/>
                <a:cs typeface="Arial"/>
              </a:rPr>
              <a:t>manière</a:t>
            </a:r>
            <a:r>
              <a:rPr dirty="0" sz="2950" spc="-114">
                <a:latin typeface="Arial"/>
                <a:cs typeface="Arial"/>
              </a:rPr>
              <a:t> </a:t>
            </a:r>
            <a:r>
              <a:rPr dirty="0" sz="2950" spc="-35">
                <a:latin typeface="Arial"/>
                <a:cs typeface="Arial"/>
              </a:rPr>
              <a:t>biologiquement</a:t>
            </a:r>
            <a:r>
              <a:rPr dirty="0" sz="2950" spc="-145">
                <a:latin typeface="Arial"/>
                <a:cs typeface="Arial"/>
              </a:rPr>
              <a:t> </a:t>
            </a:r>
            <a:r>
              <a:rPr dirty="0" sz="2950" spc="-10">
                <a:latin typeface="Arial"/>
                <a:cs typeface="Arial"/>
              </a:rPr>
              <a:t>cohérente.</a:t>
            </a:r>
            <a:endParaRPr sz="295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1535833" y="2429227"/>
            <a:ext cx="3213100" cy="68516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ts val="2495"/>
              </a:lnSpc>
              <a:spcBef>
                <a:spcPts val="120"/>
              </a:spcBef>
            </a:pPr>
            <a:r>
              <a:rPr dirty="0" sz="2200">
                <a:latin typeface="Arial"/>
                <a:cs typeface="Arial"/>
              </a:rPr>
              <a:t>Minimisation</a:t>
            </a:r>
            <a:r>
              <a:rPr dirty="0" sz="2200" spc="19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des</a:t>
            </a:r>
            <a:r>
              <a:rPr dirty="0" sz="2200" spc="-10">
                <a:latin typeface="Arial"/>
                <a:cs typeface="Arial"/>
              </a:rPr>
              <a:t> Résidus</a:t>
            </a:r>
            <a:endParaRPr sz="2200">
              <a:latin typeface="Arial"/>
              <a:cs typeface="Arial"/>
            </a:endParaRPr>
          </a:p>
          <a:p>
            <a:pPr algn="ctr" marL="588010">
              <a:lnSpc>
                <a:spcPts val="2675"/>
              </a:lnSpc>
            </a:pPr>
            <a:r>
              <a:rPr dirty="0" sz="2350" spc="-10">
                <a:solidFill>
                  <a:srgbClr val="0F0F0F"/>
                </a:solidFill>
                <a:latin typeface="Arial"/>
                <a:cs typeface="Arial"/>
              </a:rPr>
              <a:t>Equation</a:t>
            </a:r>
            <a:endParaRPr sz="2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21200" y="4635500"/>
            <a:ext cx="8432800" cy="36703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31100" y="4254500"/>
            <a:ext cx="2400300" cy="2794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42300" y="3441700"/>
            <a:ext cx="1003300" cy="7112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874564" y="583847"/>
            <a:ext cx="13665200" cy="7346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50" spc="-140">
                <a:solidFill>
                  <a:srgbClr val="232323"/>
                </a:solidFill>
                <a:latin typeface="Arial"/>
                <a:cs typeface="Arial"/>
              </a:rPr>
              <a:t>Le</a:t>
            </a:r>
            <a:r>
              <a:rPr dirty="0" sz="4650" spc="-27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4650">
                <a:solidFill>
                  <a:srgbClr val="1D1D1D"/>
                </a:solidFill>
                <a:latin typeface="Arial"/>
                <a:cs typeface="Arial"/>
              </a:rPr>
              <a:t>Moteur</a:t>
            </a:r>
            <a:r>
              <a:rPr dirty="0" sz="4650" spc="125">
                <a:solidFill>
                  <a:srgbClr val="1D1D1D"/>
                </a:solidFill>
                <a:latin typeface="Arial"/>
                <a:cs typeface="Arial"/>
              </a:rPr>
              <a:t> </a:t>
            </a:r>
            <a:r>
              <a:rPr dirty="0" sz="4650">
                <a:solidFill>
                  <a:srgbClr val="1F1F1F"/>
                </a:solidFill>
                <a:latin typeface="Arial"/>
                <a:cs typeface="Arial"/>
              </a:rPr>
              <a:t>de</a:t>
            </a:r>
            <a:r>
              <a:rPr dirty="0" sz="4650" spc="-425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4650">
                <a:solidFill>
                  <a:srgbClr val="1F1F1F"/>
                </a:solidFill>
                <a:latin typeface="Arial"/>
                <a:cs typeface="Arial"/>
              </a:rPr>
              <a:t>Décision</a:t>
            </a:r>
            <a:r>
              <a:rPr dirty="0" sz="4650" spc="-20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4650">
                <a:solidFill>
                  <a:srgbClr val="1D1D1D"/>
                </a:solidFill>
                <a:latin typeface="Arial"/>
                <a:cs typeface="Arial"/>
              </a:rPr>
              <a:t>:</a:t>
            </a:r>
            <a:r>
              <a:rPr dirty="0" sz="4650" spc="-150">
                <a:solidFill>
                  <a:srgbClr val="1D1D1D"/>
                </a:solidFill>
                <a:latin typeface="Arial"/>
                <a:cs typeface="Arial"/>
              </a:rPr>
              <a:t> </a:t>
            </a:r>
            <a:r>
              <a:rPr dirty="0" sz="4650" spc="-140">
                <a:solidFill>
                  <a:srgbClr val="1D1D1D"/>
                </a:solidFill>
                <a:latin typeface="Arial"/>
                <a:cs typeface="Arial"/>
              </a:rPr>
              <a:t>Le</a:t>
            </a:r>
            <a:r>
              <a:rPr dirty="0" sz="4650" spc="-275">
                <a:solidFill>
                  <a:srgbClr val="1D1D1D"/>
                </a:solidFill>
                <a:latin typeface="Arial"/>
                <a:cs typeface="Arial"/>
              </a:rPr>
              <a:t> </a:t>
            </a:r>
            <a:r>
              <a:rPr dirty="0" sz="4650" spc="-145">
                <a:solidFill>
                  <a:srgbClr val="1D1D1D"/>
                </a:solidFill>
                <a:latin typeface="Arial"/>
                <a:cs typeface="Arial"/>
              </a:rPr>
              <a:t>Réseau</a:t>
            </a:r>
            <a:r>
              <a:rPr dirty="0" sz="4650" spc="35">
                <a:solidFill>
                  <a:srgbClr val="1D1D1D"/>
                </a:solidFill>
                <a:latin typeface="Arial"/>
                <a:cs typeface="Arial"/>
              </a:rPr>
              <a:t> </a:t>
            </a:r>
            <a:r>
              <a:rPr dirty="0" sz="4650">
                <a:solidFill>
                  <a:srgbClr val="1F1F1F"/>
                </a:solidFill>
                <a:latin typeface="Arial"/>
                <a:cs typeface="Arial"/>
              </a:rPr>
              <a:t>Adaptatif</a:t>
            </a:r>
            <a:r>
              <a:rPr dirty="0" sz="4650" spc="53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4650" spc="-110">
                <a:solidFill>
                  <a:srgbClr val="212121"/>
                </a:solidFill>
                <a:latin typeface="Arial"/>
                <a:cs typeface="Arial"/>
              </a:rPr>
              <a:t>(ACDN)</a:t>
            </a:r>
            <a:endParaRPr sz="465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970">
              <a:lnSpc>
                <a:spcPts val="1545"/>
              </a:lnSpc>
            </a:pPr>
            <a:r>
              <a:rPr dirty="0">
                <a:latin typeface="Calibri"/>
                <a:cs typeface="Calibri"/>
              </a:rPr>
              <a:t>G</a:t>
            </a:r>
            <a:r>
              <a:rPr dirty="0" spc="100">
                <a:latin typeface="Calibri"/>
                <a:cs typeface="Calibri"/>
              </a:rPr>
              <a:t>  </a:t>
            </a:r>
            <a:r>
              <a:rPr dirty="0" spc="-25">
                <a:latin typeface="Calibri"/>
                <a:cs typeface="Calibri"/>
              </a:rPr>
              <a:t>NotebookLM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2627743" y="1583619"/>
            <a:ext cx="12153265" cy="1043940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 marL="46990" marR="5080" indent="-34925">
              <a:lnSpc>
                <a:spcPts val="3600"/>
              </a:lnSpc>
              <a:spcBef>
                <a:spcPts val="900"/>
              </a:spcBef>
            </a:pPr>
            <a:r>
              <a:rPr dirty="0" sz="3650" spc="-55">
                <a:latin typeface="Calibri"/>
                <a:cs typeface="Calibri"/>
              </a:rPr>
              <a:t>La</a:t>
            </a:r>
            <a:r>
              <a:rPr dirty="0" sz="3650" spc="-305">
                <a:latin typeface="Calibri"/>
                <a:cs typeface="Calibri"/>
              </a:rPr>
              <a:t> </a:t>
            </a:r>
            <a:r>
              <a:rPr dirty="0" sz="3650" spc="-180">
                <a:latin typeface="Calibri"/>
                <a:cs typeface="Calibri"/>
              </a:rPr>
              <a:t>phase</a:t>
            </a:r>
            <a:r>
              <a:rPr dirty="0" sz="3650" spc="-20">
                <a:latin typeface="Calibri"/>
                <a:cs typeface="Calibri"/>
              </a:rPr>
              <a:t> </a:t>
            </a:r>
            <a:r>
              <a:rPr dirty="0" sz="3650" spc="-195">
                <a:latin typeface="Calibri"/>
                <a:cs typeface="Calibri"/>
              </a:rPr>
              <a:t>finale.</a:t>
            </a:r>
            <a:r>
              <a:rPr dirty="0" sz="3650" spc="65">
                <a:latin typeface="Calibri"/>
                <a:cs typeface="Calibri"/>
              </a:rPr>
              <a:t> </a:t>
            </a:r>
            <a:r>
              <a:rPr dirty="0" sz="3650" spc="-350">
                <a:latin typeface="Calibri"/>
                <a:cs typeface="Calibri"/>
              </a:rPr>
              <a:t>Une</a:t>
            </a:r>
            <a:r>
              <a:rPr dirty="0" sz="3650" spc="35">
                <a:latin typeface="Calibri"/>
                <a:cs typeface="Calibri"/>
              </a:rPr>
              <a:t> </a:t>
            </a:r>
            <a:r>
              <a:rPr dirty="0" sz="3650" spc="-245">
                <a:latin typeface="Calibri"/>
                <a:cs typeface="Calibri"/>
              </a:rPr>
              <a:t>architecture</a:t>
            </a:r>
            <a:r>
              <a:rPr dirty="0" sz="3650" spc="130">
                <a:latin typeface="Calibri"/>
                <a:cs typeface="Calibri"/>
              </a:rPr>
              <a:t> </a:t>
            </a:r>
            <a:r>
              <a:rPr dirty="0" sz="3650" spc="-254">
                <a:latin typeface="Calibri"/>
                <a:cs typeface="Calibri"/>
              </a:rPr>
              <a:t>hybride</a:t>
            </a:r>
            <a:r>
              <a:rPr dirty="0" sz="3650" spc="10">
                <a:latin typeface="Calibri"/>
                <a:cs typeface="Calibri"/>
              </a:rPr>
              <a:t> </a:t>
            </a:r>
            <a:r>
              <a:rPr dirty="0" sz="3650" spc="-265">
                <a:latin typeface="Calibri"/>
                <a:cs typeface="Calibri"/>
              </a:rPr>
              <a:t>intégrant</a:t>
            </a:r>
            <a:r>
              <a:rPr dirty="0" sz="3650" spc="120">
                <a:latin typeface="Calibri"/>
                <a:cs typeface="Calibri"/>
              </a:rPr>
              <a:t> </a:t>
            </a:r>
            <a:r>
              <a:rPr dirty="0" sz="3650" spc="-125">
                <a:latin typeface="Calibri"/>
                <a:cs typeface="Calibri"/>
              </a:rPr>
              <a:t>les</a:t>
            </a:r>
            <a:r>
              <a:rPr dirty="0" sz="3650" spc="-30">
                <a:latin typeface="Calibri"/>
                <a:cs typeface="Calibri"/>
              </a:rPr>
              <a:t> </a:t>
            </a:r>
            <a:r>
              <a:rPr dirty="0" sz="3650" spc="-280">
                <a:latin typeface="Calibri"/>
                <a:cs typeface="Calibri"/>
              </a:rPr>
              <a:t>modèles</a:t>
            </a:r>
            <a:r>
              <a:rPr dirty="0" sz="3650" spc="30">
                <a:latin typeface="Calibri"/>
                <a:cs typeface="Calibri"/>
              </a:rPr>
              <a:t> </a:t>
            </a:r>
            <a:r>
              <a:rPr dirty="0" sz="3650" spc="-130">
                <a:latin typeface="Calibri"/>
                <a:cs typeface="Calibri"/>
              </a:rPr>
              <a:t>physiques </a:t>
            </a:r>
            <a:r>
              <a:rPr dirty="0" sz="3650" spc="-515">
                <a:latin typeface="Calibri"/>
                <a:cs typeface="Calibri"/>
              </a:rPr>
              <a:t>(UHCF—</a:t>
            </a:r>
            <a:r>
              <a:rPr dirty="0" sz="3650" spc="-540">
                <a:latin typeface="Calibri"/>
                <a:cs typeface="Calibri"/>
              </a:rPr>
              <a:t>OM)</a:t>
            </a:r>
            <a:r>
              <a:rPr dirty="0" sz="3650" spc="409">
                <a:latin typeface="Calibri"/>
                <a:cs typeface="Calibri"/>
              </a:rPr>
              <a:t> </a:t>
            </a:r>
            <a:r>
              <a:rPr dirty="0" sz="3650" spc="-215">
                <a:latin typeface="Calibri"/>
                <a:cs typeface="Calibri"/>
              </a:rPr>
              <a:t>avec</a:t>
            </a:r>
            <a:r>
              <a:rPr dirty="0" sz="3650" spc="5">
                <a:latin typeface="Calibri"/>
                <a:cs typeface="Calibri"/>
              </a:rPr>
              <a:t> </a:t>
            </a:r>
            <a:r>
              <a:rPr dirty="0" sz="3650" spc="-305">
                <a:latin typeface="Calibri"/>
                <a:cs typeface="Calibri"/>
              </a:rPr>
              <a:t>une</a:t>
            </a:r>
            <a:r>
              <a:rPr dirty="0" sz="3650" spc="10">
                <a:latin typeface="Calibri"/>
                <a:cs typeface="Calibri"/>
              </a:rPr>
              <a:t> </a:t>
            </a:r>
            <a:r>
              <a:rPr dirty="0" sz="3650" spc="-265">
                <a:latin typeface="Calibri"/>
                <a:cs typeface="Calibri"/>
              </a:rPr>
              <a:t>adaptation</a:t>
            </a:r>
            <a:r>
              <a:rPr dirty="0" sz="3650" spc="70">
                <a:latin typeface="Calibri"/>
                <a:cs typeface="Calibri"/>
              </a:rPr>
              <a:t> </a:t>
            </a:r>
            <a:r>
              <a:rPr dirty="0" sz="3650" spc="-235">
                <a:latin typeface="Calibri"/>
                <a:cs typeface="Calibri"/>
              </a:rPr>
              <a:t>neuroplastique</a:t>
            </a:r>
            <a:r>
              <a:rPr dirty="0" sz="3650" spc="-300">
                <a:latin typeface="Calibri"/>
                <a:cs typeface="Calibri"/>
              </a:rPr>
              <a:t> </a:t>
            </a:r>
            <a:r>
              <a:rPr dirty="0" sz="3650" spc="-320">
                <a:latin typeface="Calibri"/>
                <a:cs typeface="Calibri"/>
              </a:rPr>
              <a:t>pour</a:t>
            </a:r>
            <a:r>
              <a:rPr dirty="0" sz="3650" spc="90">
                <a:latin typeface="Calibri"/>
                <a:cs typeface="Calibri"/>
              </a:rPr>
              <a:t> </a:t>
            </a:r>
            <a:r>
              <a:rPr dirty="0" sz="3650" spc="-200">
                <a:latin typeface="Calibri"/>
                <a:cs typeface="Calibri"/>
              </a:rPr>
              <a:t>la</a:t>
            </a:r>
            <a:r>
              <a:rPr dirty="0" sz="3650" spc="-25">
                <a:latin typeface="Calibri"/>
                <a:cs typeface="Calibri"/>
              </a:rPr>
              <a:t> </a:t>
            </a:r>
            <a:r>
              <a:rPr dirty="0" sz="3650" spc="-220">
                <a:latin typeface="Calibri"/>
                <a:cs typeface="Calibri"/>
              </a:rPr>
              <a:t>prise</a:t>
            </a:r>
            <a:r>
              <a:rPr dirty="0" sz="3650" spc="70">
                <a:latin typeface="Calibri"/>
                <a:cs typeface="Calibri"/>
              </a:rPr>
              <a:t> </a:t>
            </a:r>
            <a:r>
              <a:rPr dirty="0" sz="3650" spc="-215">
                <a:latin typeface="Calibri"/>
                <a:cs typeface="Calibri"/>
              </a:rPr>
              <a:t>de</a:t>
            </a:r>
            <a:r>
              <a:rPr dirty="0" sz="3650" spc="-160">
                <a:latin typeface="Calibri"/>
                <a:cs typeface="Calibri"/>
              </a:rPr>
              <a:t> </a:t>
            </a:r>
            <a:r>
              <a:rPr dirty="0" sz="3650" spc="-100">
                <a:latin typeface="Calibri"/>
                <a:cs typeface="Calibri"/>
              </a:rPr>
              <a:t>décision.</a:t>
            </a:r>
            <a:endParaRPr sz="36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101792" y="4524022"/>
            <a:ext cx="3250565" cy="79819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 marR="5080" indent="970915">
              <a:lnSpc>
                <a:spcPts val="2750"/>
              </a:lnSpc>
              <a:spcBef>
                <a:spcPts val="675"/>
              </a:spcBef>
            </a:pPr>
            <a:r>
              <a:rPr dirty="0" sz="2750" spc="-10">
                <a:latin typeface="Calibri"/>
                <a:cs typeface="Calibri"/>
              </a:rPr>
              <a:t>Efficacité </a:t>
            </a:r>
            <a:r>
              <a:rPr dirty="0" sz="2750" spc="-120">
                <a:latin typeface="Calibri"/>
                <a:cs typeface="Calibri"/>
              </a:rPr>
              <a:t>(Réduction</a:t>
            </a:r>
            <a:r>
              <a:rPr dirty="0" sz="2750" spc="-15">
                <a:latin typeface="Calibri"/>
                <a:cs typeface="Calibri"/>
              </a:rPr>
              <a:t> </a:t>
            </a:r>
            <a:r>
              <a:rPr dirty="0" sz="2750" spc="-80">
                <a:latin typeface="Calibri"/>
                <a:cs typeface="Calibri"/>
              </a:rPr>
              <a:t>de</a:t>
            </a:r>
            <a:r>
              <a:rPr dirty="0" sz="2750" spc="-100">
                <a:latin typeface="Calibri"/>
                <a:cs typeface="Calibri"/>
              </a:rPr>
              <a:t> </a:t>
            </a:r>
            <a:r>
              <a:rPr dirty="0" sz="2750">
                <a:latin typeface="Calibri"/>
                <a:cs typeface="Calibri"/>
              </a:rPr>
              <a:t>la</a:t>
            </a:r>
            <a:r>
              <a:rPr dirty="0" sz="2750" spc="-95">
                <a:latin typeface="Calibri"/>
                <a:cs typeface="Calibri"/>
              </a:rPr>
              <a:t> </a:t>
            </a:r>
            <a:r>
              <a:rPr dirty="0" sz="2750" spc="-165">
                <a:latin typeface="Calibri"/>
                <a:cs typeface="Calibri"/>
              </a:rPr>
              <a:t>tumeur)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890410" y="7134930"/>
            <a:ext cx="3711575" cy="760095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marL="12700" marR="5080" indent="1326515">
              <a:lnSpc>
                <a:spcPts val="2700"/>
              </a:lnSpc>
              <a:spcBef>
                <a:spcPts val="509"/>
              </a:spcBef>
            </a:pPr>
            <a:r>
              <a:rPr dirty="0" sz="2550" spc="-10">
                <a:latin typeface="Calibri"/>
                <a:cs typeface="Calibri"/>
              </a:rPr>
              <a:t>Toxicité </a:t>
            </a:r>
            <a:r>
              <a:rPr dirty="0" sz="2550" spc="-30">
                <a:latin typeface="Calibri"/>
                <a:cs typeface="Calibri"/>
              </a:rPr>
              <a:t>(Protection</a:t>
            </a:r>
            <a:r>
              <a:rPr dirty="0" sz="2550" spc="185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des</a:t>
            </a:r>
            <a:r>
              <a:rPr dirty="0" sz="2550" spc="110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tissus</a:t>
            </a:r>
            <a:r>
              <a:rPr dirty="0" sz="2550" spc="105">
                <a:latin typeface="Calibri"/>
                <a:cs typeface="Calibri"/>
              </a:rPr>
              <a:t> </a:t>
            </a:r>
            <a:r>
              <a:rPr dirty="0" sz="2550" spc="-10">
                <a:latin typeface="Calibri"/>
                <a:cs typeface="Calibri"/>
              </a:rPr>
              <a:t>sains)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0441892" y="7108472"/>
            <a:ext cx="2503170" cy="791845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marL="12700" marR="5080" indent="310515">
              <a:lnSpc>
                <a:spcPts val="2700"/>
              </a:lnSpc>
              <a:spcBef>
                <a:spcPts val="715"/>
              </a:spcBef>
            </a:pPr>
            <a:r>
              <a:rPr dirty="0" sz="2750" spc="-95">
                <a:latin typeface="Calibri"/>
                <a:cs typeface="Calibri"/>
              </a:rPr>
              <a:t>Qualité</a:t>
            </a:r>
            <a:r>
              <a:rPr dirty="0" sz="2750" spc="-35">
                <a:latin typeface="Calibri"/>
                <a:cs typeface="Calibri"/>
              </a:rPr>
              <a:t> </a:t>
            </a:r>
            <a:r>
              <a:rPr dirty="0" sz="2750">
                <a:latin typeface="Calibri"/>
                <a:cs typeface="Calibri"/>
              </a:rPr>
              <a:t>de</a:t>
            </a:r>
            <a:r>
              <a:rPr dirty="0" sz="2750" spc="-155">
                <a:latin typeface="Calibri"/>
                <a:cs typeface="Calibri"/>
              </a:rPr>
              <a:t> </a:t>
            </a:r>
            <a:r>
              <a:rPr dirty="0" sz="2750" spc="-25">
                <a:latin typeface="Calibri"/>
                <a:cs typeface="Calibri"/>
              </a:rPr>
              <a:t>Vie </a:t>
            </a:r>
            <a:r>
              <a:rPr dirty="0" sz="2750" spc="-85">
                <a:latin typeface="Calibri"/>
                <a:cs typeface="Calibri"/>
              </a:rPr>
              <a:t>(Facteurs</a:t>
            </a:r>
            <a:r>
              <a:rPr dirty="0" sz="2750" spc="-70">
                <a:latin typeface="Calibri"/>
                <a:cs typeface="Calibri"/>
              </a:rPr>
              <a:t> </a:t>
            </a:r>
            <a:r>
              <a:rPr dirty="0" sz="2750" spc="-90">
                <a:latin typeface="Calibri"/>
                <a:cs typeface="Calibri"/>
              </a:rPr>
              <a:t>palliatifs)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425283" y="8437739"/>
            <a:ext cx="12568555" cy="1007744"/>
          </a:xfrm>
          <a:prstGeom prst="rect">
            <a:avLst/>
          </a:prstGeom>
        </p:spPr>
        <p:txBody>
          <a:bodyPr wrap="square" lIns="0" tIns="130810" rIns="0" bIns="0" rtlCol="0" vert="horz">
            <a:spAutoFit/>
          </a:bodyPr>
          <a:lstStyle/>
          <a:p>
            <a:pPr marL="2683510" marR="5080" indent="-2671445">
              <a:lnSpc>
                <a:spcPct val="78700"/>
              </a:lnSpc>
              <a:spcBef>
                <a:spcPts val="1030"/>
              </a:spcBef>
              <a:tabLst>
                <a:tab pos="7574280" algn="l"/>
              </a:tabLst>
            </a:pPr>
            <a:r>
              <a:rPr dirty="0" sz="3600">
                <a:latin typeface="Calibri"/>
                <a:cs typeface="Calibri"/>
              </a:rPr>
              <a:t>La</a:t>
            </a:r>
            <a:r>
              <a:rPr dirty="0" sz="3600" spc="-204">
                <a:latin typeface="Calibri"/>
                <a:cs typeface="Calibri"/>
              </a:rPr>
              <a:t> </a:t>
            </a:r>
            <a:r>
              <a:rPr dirty="0" sz="3600" spc="-150">
                <a:latin typeface="Calibri"/>
                <a:cs typeface="Calibri"/>
              </a:rPr>
              <a:t>décision</a:t>
            </a:r>
            <a:r>
              <a:rPr dirty="0" sz="3600" spc="-40">
                <a:latin typeface="Calibri"/>
                <a:cs typeface="Calibri"/>
              </a:rPr>
              <a:t> </a:t>
            </a:r>
            <a:r>
              <a:rPr dirty="0" sz="3600" spc="-90">
                <a:latin typeface="Calibri"/>
                <a:cs typeface="Calibri"/>
              </a:rPr>
              <a:t>est</a:t>
            </a:r>
            <a:r>
              <a:rPr dirty="0" sz="3600" spc="35">
                <a:latin typeface="Calibri"/>
                <a:cs typeface="Calibri"/>
              </a:rPr>
              <a:t> </a:t>
            </a:r>
            <a:r>
              <a:rPr dirty="0" sz="3600" spc="-204">
                <a:latin typeface="Calibri"/>
                <a:cs typeface="Calibri"/>
              </a:rPr>
              <a:t>guidée</a:t>
            </a:r>
            <a:r>
              <a:rPr dirty="0" sz="3600" spc="45">
                <a:latin typeface="Calibri"/>
                <a:cs typeface="Calibri"/>
              </a:rPr>
              <a:t> </a:t>
            </a:r>
            <a:r>
              <a:rPr dirty="0" sz="3600" spc="-240">
                <a:latin typeface="Calibri"/>
                <a:cs typeface="Calibri"/>
              </a:rPr>
              <a:t>par</a:t>
            </a:r>
            <a:r>
              <a:rPr dirty="0" sz="3600" spc="-5">
                <a:latin typeface="Calibri"/>
                <a:cs typeface="Calibri"/>
              </a:rPr>
              <a:t> </a:t>
            </a:r>
            <a:r>
              <a:rPr dirty="0" sz="3600" spc="-285">
                <a:latin typeface="Calibri"/>
                <a:cs typeface="Calibri"/>
              </a:rPr>
              <a:t>une</a:t>
            </a:r>
            <a:r>
              <a:rPr dirty="0" sz="3600" spc="50">
                <a:latin typeface="Calibri"/>
                <a:cs typeface="Calibri"/>
              </a:rPr>
              <a:t> </a:t>
            </a:r>
            <a:r>
              <a:rPr dirty="0" sz="3600" spc="-190">
                <a:latin typeface="Calibri"/>
                <a:cs typeface="Calibri"/>
              </a:rPr>
              <a:t>'Fonction</a:t>
            </a:r>
            <a:r>
              <a:rPr dirty="0" sz="3600" spc="-20">
                <a:latin typeface="Calibri"/>
                <a:cs typeface="Calibri"/>
              </a:rPr>
              <a:t> </a:t>
            </a:r>
            <a:r>
              <a:rPr dirty="0" sz="3600" spc="-120">
                <a:latin typeface="Calibri"/>
                <a:cs typeface="Calibri"/>
              </a:rPr>
              <a:t>de</a:t>
            </a:r>
            <a:r>
              <a:rPr dirty="0" sz="3600" spc="-320">
                <a:latin typeface="Calibri"/>
                <a:cs typeface="Calibri"/>
              </a:rPr>
              <a:t> </a:t>
            </a:r>
            <a:r>
              <a:rPr dirty="0" sz="3600" spc="-155">
                <a:latin typeface="Calibri"/>
                <a:cs typeface="Calibri"/>
              </a:rPr>
              <a:t>Perte</a:t>
            </a:r>
            <a:r>
              <a:rPr dirty="0" sz="3600" spc="-125">
                <a:latin typeface="Calibri"/>
                <a:cs typeface="Calibri"/>
              </a:rPr>
              <a:t> </a:t>
            </a:r>
            <a:r>
              <a:rPr dirty="0" sz="3600" spc="-180">
                <a:latin typeface="Calibri"/>
                <a:cs typeface="Calibri"/>
              </a:rPr>
              <a:t>Hiérarchique</a:t>
            </a:r>
            <a:r>
              <a:rPr dirty="0" sz="3600" spc="155">
                <a:latin typeface="Calibri"/>
                <a:cs typeface="Calibri"/>
              </a:rPr>
              <a:t> </a:t>
            </a:r>
            <a:r>
              <a:rPr dirty="0" sz="3600" spc="-220">
                <a:latin typeface="Calibri"/>
                <a:cs typeface="Calibri"/>
              </a:rPr>
              <a:t>Multi-</a:t>
            </a:r>
            <a:r>
              <a:rPr dirty="0" sz="3600" spc="-135">
                <a:latin typeface="Calibri"/>
                <a:cs typeface="Calibri"/>
              </a:rPr>
              <a:t>Ordre' </a:t>
            </a:r>
            <a:r>
              <a:rPr dirty="0" sz="3600" spc="-225">
                <a:latin typeface="Calibri"/>
                <a:cs typeface="Calibri"/>
              </a:rPr>
              <a:t>qui</a:t>
            </a:r>
            <a:r>
              <a:rPr dirty="0" sz="3600" spc="15">
                <a:latin typeface="Calibri"/>
                <a:cs typeface="Calibri"/>
              </a:rPr>
              <a:t> </a:t>
            </a:r>
            <a:r>
              <a:rPr dirty="0" sz="3600" spc="-225">
                <a:latin typeface="Calibri"/>
                <a:cs typeface="Calibri"/>
              </a:rPr>
              <a:t>équilïbre</a:t>
            </a:r>
            <a:r>
              <a:rPr dirty="0" sz="3600" spc="75">
                <a:latin typeface="Calibri"/>
                <a:cs typeface="Calibri"/>
              </a:rPr>
              <a:t> </a:t>
            </a:r>
            <a:r>
              <a:rPr dirty="0" sz="3600" spc="-295">
                <a:latin typeface="Calibri"/>
                <a:cs typeface="Calibri"/>
              </a:rPr>
              <a:t>dynamiquement</a:t>
            </a:r>
            <a:r>
              <a:rPr dirty="0" sz="3600">
                <a:latin typeface="Calibri"/>
                <a:cs typeface="Calibri"/>
              </a:rPr>
              <a:t>	</a:t>
            </a:r>
            <a:r>
              <a:rPr dirty="0" sz="3600" spc="-185">
                <a:latin typeface="Calibri"/>
                <a:cs typeface="Calibri"/>
              </a:rPr>
              <a:t>trois</a:t>
            </a:r>
            <a:r>
              <a:rPr dirty="0" sz="3600" spc="-20">
                <a:latin typeface="Calibri"/>
                <a:cs typeface="Calibri"/>
              </a:rPr>
              <a:t> </a:t>
            </a:r>
            <a:r>
              <a:rPr dirty="0" sz="3600" spc="-75">
                <a:latin typeface="Calibri"/>
                <a:cs typeface="Calibri"/>
              </a:rPr>
              <a:t>objectifs.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59200" y="7632700"/>
            <a:ext cx="1892300" cy="6985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59200" y="6489700"/>
            <a:ext cx="1892300" cy="9398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83400" y="7162800"/>
            <a:ext cx="635000" cy="2667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918700" y="6985000"/>
            <a:ext cx="520700" cy="12446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217400" y="7302500"/>
            <a:ext cx="520700" cy="92710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94100" y="3657600"/>
            <a:ext cx="4419600" cy="196850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299700" y="3606800"/>
            <a:ext cx="2578100" cy="210820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581400" y="6057900"/>
            <a:ext cx="952500" cy="13970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759700" y="7607300"/>
            <a:ext cx="139700" cy="736600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594100" y="6794500"/>
            <a:ext cx="114300" cy="76200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604500" y="7391400"/>
            <a:ext cx="520700" cy="850900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759700" y="6451600"/>
            <a:ext cx="368300" cy="762000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2484100" y="8343900"/>
            <a:ext cx="1714500" cy="673100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950200" y="8064500"/>
            <a:ext cx="228600" cy="76200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7950200" y="8293100"/>
            <a:ext cx="228600" cy="76200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9512300" y="6667500"/>
            <a:ext cx="825500" cy="190500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0693400" y="6985000"/>
            <a:ext cx="317500" cy="139700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2344400" y="3149600"/>
            <a:ext cx="533400" cy="381000"/>
          </a:xfrm>
          <a:prstGeom prst="rect">
            <a:avLst/>
          </a:prstGeom>
        </p:spPr>
      </p:pic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4520352" y="583494"/>
            <a:ext cx="8424545" cy="1278890"/>
          </a:xfrm>
          <a:prstGeom prst="rect"/>
        </p:spPr>
        <p:txBody>
          <a:bodyPr wrap="square" lIns="0" tIns="81915" rIns="0" bIns="0" rtlCol="0" vert="horz">
            <a:spAutoFit/>
          </a:bodyPr>
          <a:lstStyle/>
          <a:p>
            <a:pPr marL="991869" marR="5080" indent="-979805">
              <a:lnSpc>
                <a:spcPts val="4700"/>
              </a:lnSpc>
              <a:spcBef>
                <a:spcPts val="645"/>
              </a:spcBef>
            </a:pPr>
            <a:r>
              <a:rPr dirty="0" sz="4300">
                <a:solidFill>
                  <a:srgbClr val="262626"/>
                </a:solidFill>
                <a:latin typeface="Arial"/>
                <a:cs typeface="Arial"/>
              </a:rPr>
              <a:t>Ouvrir</a:t>
            </a:r>
            <a:r>
              <a:rPr dirty="0" sz="4300" spc="-265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4300" spc="-45">
                <a:solidFill>
                  <a:srgbClr val="282828"/>
                </a:solidFill>
                <a:latin typeface="Arial"/>
                <a:cs typeface="Arial"/>
              </a:rPr>
              <a:t>la</a:t>
            </a:r>
            <a:r>
              <a:rPr dirty="0" sz="4300" spc="-32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4300" spc="-105">
                <a:solidFill>
                  <a:srgbClr val="262626"/>
                </a:solidFill>
                <a:latin typeface="Arial"/>
                <a:cs typeface="Arial"/>
              </a:rPr>
              <a:t>Boîte</a:t>
            </a:r>
            <a:r>
              <a:rPr dirty="0" sz="4300" spc="-26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4300" spc="110">
                <a:solidFill>
                  <a:srgbClr val="232323"/>
                </a:solidFill>
                <a:latin typeface="Arial"/>
                <a:cs typeface="Arial"/>
              </a:rPr>
              <a:t>Noire:</a:t>
            </a:r>
            <a:r>
              <a:rPr dirty="0" sz="4300" spc="-44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4300" spc="-10">
                <a:latin typeface="Arial"/>
                <a:cs typeface="Arial"/>
              </a:rPr>
              <a:t>L'Explicabilité </a:t>
            </a:r>
            <a:r>
              <a:rPr dirty="0" sz="4300" spc="-10">
                <a:solidFill>
                  <a:srgbClr val="232323"/>
                </a:solidFill>
                <a:latin typeface="Arial"/>
                <a:cs typeface="Arial"/>
              </a:rPr>
              <a:t>Adaptative</a:t>
            </a:r>
            <a:r>
              <a:rPr dirty="0" sz="4300" spc="-225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4300" spc="-245">
                <a:solidFill>
                  <a:srgbClr val="262626"/>
                </a:solidFill>
                <a:latin typeface="Arial"/>
                <a:cs typeface="Arial"/>
              </a:rPr>
              <a:t>à</a:t>
            </a:r>
            <a:r>
              <a:rPr dirty="0" sz="4300" spc="-33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4300" spc="-95">
                <a:solidFill>
                  <a:srgbClr val="262626"/>
                </a:solidFill>
                <a:latin typeface="Arial"/>
                <a:cs typeface="Arial"/>
              </a:rPr>
              <a:t>Double</a:t>
            </a:r>
            <a:r>
              <a:rPr dirty="0" sz="4300" spc="-204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4300" spc="-10">
                <a:solidFill>
                  <a:srgbClr val="232323"/>
                </a:solidFill>
                <a:latin typeface="Arial"/>
                <a:cs typeface="Arial"/>
              </a:rPr>
              <a:t>Niveau</a:t>
            </a:r>
            <a:endParaRPr sz="4300">
              <a:latin typeface="Arial"/>
              <a:cs typeface="Aria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3561706" y="2455686"/>
            <a:ext cx="4504055" cy="3327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00" spc="-80">
                <a:latin typeface="Arial"/>
                <a:cs typeface="Arial"/>
              </a:rPr>
              <a:t>Pour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le</a:t>
            </a:r>
            <a:r>
              <a:rPr dirty="0" sz="2000" spc="-204">
                <a:latin typeface="Arial"/>
                <a:cs typeface="Arial"/>
              </a:rPr>
              <a:t> </a:t>
            </a:r>
            <a:r>
              <a:rPr dirty="0" sz="2000" spc="-45">
                <a:latin typeface="Arial"/>
                <a:cs typeface="Arial"/>
              </a:rPr>
              <a:t>Spécialiste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: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-70">
                <a:latin typeface="Arial"/>
                <a:cs typeface="Arial"/>
              </a:rPr>
              <a:t>Explication</a:t>
            </a:r>
            <a:r>
              <a:rPr dirty="0" sz="2000" spc="50">
                <a:latin typeface="Arial"/>
                <a:cs typeface="Arial"/>
              </a:rPr>
              <a:t> </a:t>
            </a:r>
            <a:r>
              <a:rPr dirty="0" sz="2000" spc="-60">
                <a:latin typeface="Arial"/>
                <a:cs typeface="Arial"/>
              </a:rPr>
              <a:t>Technique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3552825" y="3096683"/>
            <a:ext cx="2524125" cy="2794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50" spc="-145">
                <a:latin typeface="Arial"/>
                <a:cs typeface="Arial"/>
              </a:rPr>
              <a:t>Métriques</a:t>
            </a:r>
            <a:r>
              <a:rPr dirty="0" sz="1650" spc="80">
                <a:latin typeface="Arial"/>
                <a:cs typeface="Arial"/>
              </a:rPr>
              <a:t> </a:t>
            </a:r>
            <a:r>
              <a:rPr dirty="0" sz="1650" spc="-135">
                <a:solidFill>
                  <a:srgbClr val="0C0C0C"/>
                </a:solidFill>
                <a:latin typeface="Arial"/>
                <a:cs typeface="Arial"/>
              </a:rPr>
              <a:t>d'importance</a:t>
            </a:r>
            <a:r>
              <a:rPr dirty="0" sz="1650" spc="105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650" spc="-160">
                <a:latin typeface="Arial"/>
                <a:cs typeface="Arial"/>
              </a:rPr>
              <a:t>Causale</a:t>
            </a:r>
            <a:endParaRPr sz="1650">
              <a:latin typeface="Arial"/>
              <a:cs typeface="Arial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7930020" y="7502525"/>
            <a:ext cx="247015" cy="438150"/>
          </a:xfrm>
          <a:prstGeom prst="rect">
            <a:avLst/>
          </a:prstGeom>
        </p:spPr>
        <p:txBody>
          <a:bodyPr wrap="square" lIns="0" tIns="6667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525"/>
              </a:spcBef>
            </a:pPr>
            <a:r>
              <a:rPr dirty="0" sz="800" spc="-20">
                <a:solidFill>
                  <a:srgbClr val="757575"/>
                </a:solidFill>
                <a:latin typeface="Arial"/>
                <a:cs typeface="Arial"/>
              </a:rPr>
              <a:t>•pgJ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1100" spc="-120">
                <a:solidFill>
                  <a:srgbClr val="9C9C9C"/>
                </a:solidFill>
                <a:latin typeface="Arial"/>
                <a:cs typeface="Arial"/>
              </a:rPr>
              <a:t>•g</a:t>
            </a:r>
            <a:r>
              <a:rPr dirty="0" sz="1100" spc="-155">
                <a:solidFill>
                  <a:srgbClr val="9C9C9C"/>
                </a:solidFill>
                <a:latin typeface="Arial"/>
                <a:cs typeface="Arial"/>
              </a:rPr>
              <a:t> </a:t>
            </a:r>
            <a:r>
              <a:rPr dirty="0" sz="1100" spc="-145">
                <a:solidFill>
                  <a:srgbClr val="626262"/>
                </a:solidFill>
                <a:latin typeface="Arial"/>
                <a:cs typeface="Arial"/>
              </a:rPr>
              <a:t>gz</a:t>
            </a:r>
            <a:endParaRPr sz="1100">
              <a:latin typeface="Arial"/>
              <a:cs typeface="Arial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9581505" y="2455686"/>
            <a:ext cx="3810635" cy="3327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00" spc="-80">
                <a:latin typeface="Arial"/>
                <a:cs typeface="Arial"/>
              </a:rPr>
              <a:t>Pour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le</a:t>
            </a:r>
            <a:r>
              <a:rPr dirty="0" sz="2000" spc="-265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Patient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1C1C1C"/>
                </a:solidFill>
                <a:latin typeface="Arial"/>
                <a:cs typeface="Arial"/>
              </a:rPr>
              <a:t>:</a:t>
            </a:r>
            <a:r>
              <a:rPr dirty="0" sz="2000" spc="-11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dirty="0" sz="2000" spc="-75">
                <a:latin typeface="Arial"/>
                <a:cs typeface="Arial"/>
              </a:rPr>
              <a:t>Traduction</a:t>
            </a:r>
            <a:r>
              <a:rPr dirty="0" sz="2000" spc="65">
                <a:latin typeface="Arial"/>
                <a:cs typeface="Arial"/>
              </a:rPr>
              <a:t> </a:t>
            </a:r>
            <a:r>
              <a:rPr dirty="0" sz="2000" spc="-60">
                <a:latin typeface="Arial"/>
                <a:cs typeface="Arial"/>
              </a:rPr>
              <a:t>Clinique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7678464" y="6205361"/>
            <a:ext cx="464820" cy="2374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63220" algn="l"/>
              </a:tabLst>
            </a:pPr>
            <a:r>
              <a:rPr dirty="0" sz="1350" spc="-50">
                <a:solidFill>
                  <a:srgbClr val="797979"/>
                </a:solidFill>
                <a:latin typeface="Arial"/>
                <a:cs typeface="Arial"/>
              </a:rPr>
              <a:t>”</a:t>
            </a:r>
            <a:r>
              <a:rPr dirty="0" sz="1350">
                <a:solidFill>
                  <a:srgbClr val="797979"/>
                </a:solidFill>
                <a:latin typeface="Arial"/>
                <a:cs typeface="Arial"/>
              </a:rPr>
              <a:t>	</a:t>
            </a:r>
            <a:r>
              <a:rPr dirty="0" sz="1350" spc="-25">
                <a:solidFill>
                  <a:srgbClr val="777777"/>
                </a:solidFill>
                <a:latin typeface="Arial"/>
                <a:cs typeface="Arial"/>
              </a:rPr>
              <a:t>’”</a:t>
            </a:r>
            <a:endParaRPr sz="1350">
              <a:latin typeface="Arial"/>
              <a:cs typeface="Arial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9604198" y="6205361"/>
            <a:ext cx="1769745" cy="2374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50">
                <a:solidFill>
                  <a:srgbClr val="7795A3"/>
                </a:solidFill>
                <a:latin typeface="Arial"/>
                <a:cs typeface="Arial"/>
              </a:rPr>
              <a:t>@</a:t>
            </a:r>
            <a:r>
              <a:rPr dirty="0" sz="1350" spc="125">
                <a:solidFill>
                  <a:srgbClr val="7795A3"/>
                </a:solidFill>
                <a:latin typeface="Arial"/>
                <a:cs typeface="Arial"/>
              </a:rPr>
              <a:t>  </a:t>
            </a:r>
            <a:r>
              <a:rPr dirty="0" sz="1350">
                <a:latin typeface="Arial"/>
                <a:cs typeface="Arial"/>
              </a:rPr>
              <a:t>Efficacité</a:t>
            </a:r>
            <a:r>
              <a:rPr dirty="0" sz="1350" spc="-5">
                <a:latin typeface="Arial"/>
                <a:cs typeface="Arial"/>
              </a:rPr>
              <a:t> </a:t>
            </a:r>
            <a:r>
              <a:rPr dirty="0" sz="1350" spc="-10">
                <a:latin typeface="Arial"/>
                <a:cs typeface="Arial"/>
              </a:rPr>
              <a:t>attendue</a:t>
            </a:r>
            <a:endParaRPr sz="1350">
              <a:latin typeface="Arial"/>
              <a:cs typeface="Arial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9554729" y="6927497"/>
            <a:ext cx="17462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45">
                <a:solidFill>
                  <a:srgbClr val="626262"/>
                </a:solidFill>
                <a:latin typeface="Arial"/>
                <a:cs typeface="Arial"/>
              </a:rPr>
              <a:t>BO</a:t>
            </a:r>
            <a:endParaRPr sz="900">
              <a:latin typeface="Arial"/>
              <a:cs typeface="Arial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9557173" y="7205839"/>
            <a:ext cx="172720" cy="1949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00" spc="-65">
                <a:solidFill>
                  <a:srgbClr val="3F3F3F"/>
                </a:solidFill>
                <a:latin typeface="Courier New"/>
                <a:cs typeface="Courier New"/>
              </a:rPr>
              <a:t>BO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9548354" y="7510639"/>
            <a:ext cx="193040" cy="1949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00" spc="-25">
                <a:solidFill>
                  <a:srgbClr val="3D3D3D"/>
                </a:solidFill>
                <a:latin typeface="Courier New"/>
                <a:cs typeface="Courier New"/>
              </a:rPr>
              <a:t>40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9559350" y="7824258"/>
            <a:ext cx="172720" cy="1841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-25">
                <a:solidFill>
                  <a:srgbClr val="646464"/>
                </a:solidFill>
                <a:latin typeface="Arial"/>
                <a:cs typeface="Arial"/>
              </a:rPr>
              <a:t>20</a:t>
            </a:r>
            <a:endParaRPr sz="1050">
              <a:latin typeface="Arial"/>
              <a:cs typeface="Arial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9623496" y="8120239"/>
            <a:ext cx="110489" cy="1949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00" spc="-50">
                <a:solidFill>
                  <a:srgbClr val="646464"/>
                </a:solidFill>
                <a:latin typeface="Courier New"/>
                <a:cs typeface="Courier New"/>
              </a:rPr>
              <a:t>0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10592461" y="7110941"/>
            <a:ext cx="504825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 spc="-55">
                <a:solidFill>
                  <a:srgbClr val="444444"/>
                </a:solidFill>
                <a:latin typeface="Arial"/>
                <a:cs typeface="Arial"/>
              </a:rPr>
              <a:t>bonne</a:t>
            </a:r>
            <a:endParaRPr sz="1450">
              <a:latin typeface="Arial"/>
              <a:cs typeface="Arial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0163809" y="8279341"/>
            <a:ext cx="692785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 spc="-35">
                <a:solidFill>
                  <a:srgbClr val="1A1A1A"/>
                </a:solidFill>
                <a:latin typeface="Arial"/>
                <a:cs typeface="Arial"/>
              </a:rPr>
              <a:t>Optien</a:t>
            </a:r>
            <a:r>
              <a:rPr dirty="0" sz="1450" spc="-4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450" spc="-100">
                <a:solidFill>
                  <a:srgbClr val="2F2F2F"/>
                </a:solidFill>
                <a:latin typeface="Arial"/>
                <a:cs typeface="Arial"/>
              </a:rPr>
              <a:t>A</a:t>
            </a:r>
            <a:endParaRPr sz="1450">
              <a:latin typeface="Arial"/>
              <a:cs typeface="Arial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12374157" y="6187722"/>
            <a:ext cx="107759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90">
                <a:latin typeface="Arial"/>
                <a:cs typeface="Arial"/>
              </a:rPr>
              <a:t>Qualité</a:t>
            </a:r>
            <a:r>
              <a:rPr dirty="0" sz="1500">
                <a:latin typeface="Arial"/>
                <a:cs typeface="Arial"/>
              </a:rPr>
              <a:t> </a:t>
            </a:r>
            <a:r>
              <a:rPr dirty="0" sz="1500" spc="-55">
                <a:latin typeface="Arial"/>
                <a:cs typeface="Arial"/>
              </a:rPr>
              <a:t>de</a:t>
            </a:r>
            <a:r>
              <a:rPr dirty="0" sz="1500" spc="-50">
                <a:latin typeface="Arial"/>
                <a:cs typeface="Arial"/>
              </a:rPr>
              <a:t> </a:t>
            </a:r>
            <a:r>
              <a:rPr dirty="0" sz="1500" spc="-30">
                <a:latin typeface="Arial"/>
                <a:cs typeface="Arial"/>
              </a:rPr>
              <a:t>vie</a:t>
            </a:r>
            <a:endParaRPr sz="1500">
              <a:latin typeface="Arial"/>
              <a:cs typeface="Arial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11746936" y="6680200"/>
            <a:ext cx="69215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50">
                <a:solidFill>
                  <a:srgbClr val="575757"/>
                </a:solidFill>
                <a:latin typeface="Arial"/>
                <a:cs typeface="Arial"/>
              </a:rPr>
              <a:t>'</a:t>
            </a:r>
            <a:endParaRPr sz="1250">
              <a:latin typeface="Arial"/>
              <a:cs typeface="Arial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11790543" y="6578600"/>
            <a:ext cx="259079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245">
                <a:solidFill>
                  <a:srgbClr val="575757"/>
                </a:solidFill>
                <a:latin typeface="Arial"/>
                <a:cs typeface="Arial"/>
              </a:rPr>
              <a:t>0</a:t>
            </a:r>
            <a:r>
              <a:rPr dirty="0" sz="1250" spc="245">
                <a:solidFill>
                  <a:srgbClr val="575757"/>
                </a:solidFill>
                <a:latin typeface="Arial"/>
                <a:cs typeface="Arial"/>
              </a:rPr>
              <a:t>0</a:t>
            </a:r>
            <a:endParaRPr sz="1250">
              <a:latin typeface="Arial"/>
              <a:cs typeface="Arial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12299632" y="6680200"/>
            <a:ext cx="353060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25">
                <a:latin typeface="Arial"/>
                <a:cs typeface="Arial"/>
              </a:rPr>
              <a:t>95%</a:t>
            </a:r>
            <a:endParaRPr sz="1250">
              <a:latin typeface="Arial"/>
              <a:cs typeface="Arial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11845008" y="6892219"/>
            <a:ext cx="195580" cy="8134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-25">
                <a:solidFill>
                  <a:srgbClr val="4F4F4F"/>
                </a:solidFill>
                <a:latin typeface="Courier New"/>
                <a:cs typeface="Courier New"/>
              </a:rPr>
              <a:t>80</a:t>
            </a:r>
            <a:endParaRPr sz="1150">
              <a:latin typeface="Courier New"/>
              <a:cs typeface="Courier New"/>
            </a:endParaRPr>
          </a:p>
          <a:p>
            <a:pPr marL="22860">
              <a:lnSpc>
                <a:spcPct val="100000"/>
              </a:lnSpc>
              <a:spcBef>
                <a:spcPts val="1019"/>
              </a:spcBef>
            </a:pPr>
            <a:r>
              <a:rPr dirty="0" sz="1150" spc="-40">
                <a:solidFill>
                  <a:srgbClr val="444444"/>
                </a:solidFill>
                <a:latin typeface="Courier New"/>
                <a:cs typeface="Courier New"/>
              </a:rPr>
              <a:t>BO</a:t>
            </a:r>
            <a:endParaRPr sz="1150">
              <a:latin typeface="Courier New"/>
              <a:cs typeface="Courier New"/>
            </a:endParaRPr>
          </a:p>
          <a:p>
            <a:pPr marL="14604">
              <a:lnSpc>
                <a:spcPct val="100000"/>
              </a:lnSpc>
              <a:spcBef>
                <a:spcPts val="1070"/>
              </a:spcBef>
            </a:pPr>
            <a:r>
              <a:rPr dirty="0" sz="1100" spc="-25">
                <a:solidFill>
                  <a:srgbClr val="383838"/>
                </a:solidFill>
                <a:latin typeface="Courier New"/>
                <a:cs typeface="Courier New"/>
              </a:rPr>
              <a:t>40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11858050" y="7824258"/>
            <a:ext cx="172720" cy="1841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-25">
                <a:solidFill>
                  <a:srgbClr val="4B4B4B"/>
                </a:solidFill>
                <a:latin typeface="Arial"/>
                <a:cs typeface="Arial"/>
              </a:rPr>
              <a:t>20</a:t>
            </a:r>
            <a:endParaRPr sz="1050">
              <a:latin typeface="Arial"/>
              <a:cs typeface="Arial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11922196" y="8120239"/>
            <a:ext cx="110489" cy="1949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00" spc="-50">
                <a:solidFill>
                  <a:srgbClr val="606060"/>
                </a:solidFill>
                <a:latin typeface="Courier New"/>
                <a:cs typeface="Courier New"/>
              </a:rPr>
              <a:t>0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12891731" y="6789560"/>
            <a:ext cx="506095" cy="427990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marL="12700" marR="5080" indent="83185">
              <a:lnSpc>
                <a:spcPts val="1500"/>
              </a:lnSpc>
              <a:spcBef>
                <a:spcPts val="285"/>
              </a:spcBef>
            </a:pPr>
            <a:r>
              <a:rPr dirty="0" sz="1350" spc="-20">
                <a:latin typeface="Arial"/>
                <a:cs typeface="Arial"/>
              </a:rPr>
              <a:t>Trës </a:t>
            </a:r>
            <a:r>
              <a:rPr dirty="0" sz="1350" spc="-10">
                <a:latin typeface="Arial"/>
                <a:cs typeface="Arial"/>
              </a:rPr>
              <a:t>bonne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89200" y="4318000"/>
            <a:ext cx="2616200" cy="17272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94300" y="4445000"/>
            <a:ext cx="1295400" cy="14732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96300" y="4559300"/>
            <a:ext cx="2438400" cy="12827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023600" y="4394200"/>
            <a:ext cx="3517900" cy="15748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630400" y="4927600"/>
            <a:ext cx="469900" cy="49530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265400" y="4203700"/>
            <a:ext cx="1473200" cy="185420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3082" rIns="0" bIns="0" rtlCol="0" vert="horz">
            <a:spAutoFit/>
          </a:bodyPr>
          <a:lstStyle/>
          <a:p>
            <a:pPr marL="300355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181818"/>
                </a:solidFill>
              </a:rPr>
              <a:t>Le</a:t>
            </a:r>
            <a:r>
              <a:rPr dirty="0" spc="-555">
                <a:solidFill>
                  <a:srgbClr val="181818"/>
                </a:solidFill>
              </a:rPr>
              <a:t> </a:t>
            </a:r>
            <a:r>
              <a:rPr dirty="0" spc="-150">
                <a:solidFill>
                  <a:srgbClr val="161616"/>
                </a:solidFill>
              </a:rPr>
              <a:t>Flux</a:t>
            </a:r>
            <a:r>
              <a:rPr dirty="0" spc="-200">
                <a:solidFill>
                  <a:srgbClr val="161616"/>
                </a:solidFill>
              </a:rPr>
              <a:t> </a:t>
            </a:r>
            <a:r>
              <a:rPr dirty="0" spc="-229">
                <a:solidFill>
                  <a:srgbClr val="181818"/>
                </a:solidFill>
              </a:rPr>
              <a:t>de</a:t>
            </a:r>
            <a:r>
              <a:rPr dirty="0" spc="-170">
                <a:solidFill>
                  <a:srgbClr val="181818"/>
                </a:solidFill>
              </a:rPr>
              <a:t> </a:t>
            </a:r>
            <a:r>
              <a:rPr dirty="0" spc="-180"/>
              <a:t>TravailComplet</a:t>
            </a:r>
            <a:r>
              <a:rPr dirty="0" spc="-235"/>
              <a:t> </a:t>
            </a:r>
            <a:r>
              <a:rPr dirty="0" spc="-415" i="1">
                <a:solidFill>
                  <a:srgbClr val="212121"/>
                </a:solidFill>
                <a:latin typeface="Calibri"/>
                <a:cs typeface="Calibri"/>
              </a:rPr>
              <a:t>:</a:t>
            </a:r>
            <a:r>
              <a:rPr dirty="0" spc="-190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pc="-250">
                <a:solidFill>
                  <a:srgbClr val="111111"/>
                </a:solidFill>
              </a:rPr>
              <a:t>De</a:t>
            </a:r>
            <a:r>
              <a:rPr dirty="0" spc="-425">
                <a:solidFill>
                  <a:srgbClr val="111111"/>
                </a:solidFill>
              </a:rPr>
              <a:t> </a:t>
            </a:r>
            <a:r>
              <a:rPr dirty="0" spc="-40">
                <a:solidFill>
                  <a:srgbClr val="1C1C1C"/>
                </a:solidFill>
              </a:rPr>
              <a:t>la</a:t>
            </a:r>
            <a:r>
              <a:rPr dirty="0" spc="-575">
                <a:solidFill>
                  <a:srgbClr val="1C1C1C"/>
                </a:solidFill>
              </a:rPr>
              <a:t> </a:t>
            </a:r>
            <a:r>
              <a:rPr dirty="0" spc="-340">
                <a:solidFill>
                  <a:srgbClr val="0F0F0F"/>
                </a:solidFill>
              </a:rPr>
              <a:t>Donnée</a:t>
            </a:r>
            <a:r>
              <a:rPr dirty="0" spc="-85">
                <a:solidFill>
                  <a:srgbClr val="0F0F0F"/>
                </a:solidFill>
              </a:rPr>
              <a:t> </a:t>
            </a:r>
            <a:r>
              <a:rPr dirty="0" spc="-265"/>
              <a:t>Brute</a:t>
            </a:r>
            <a:r>
              <a:rPr dirty="0" spc="-260"/>
              <a:t> </a:t>
            </a:r>
            <a:r>
              <a:rPr dirty="0">
                <a:solidFill>
                  <a:srgbClr val="181818"/>
                </a:solidFill>
              </a:rPr>
              <a:t>à</a:t>
            </a:r>
            <a:r>
              <a:rPr dirty="0" spc="-555">
                <a:solidFill>
                  <a:srgbClr val="181818"/>
                </a:solidFill>
              </a:rPr>
              <a:t> </a:t>
            </a:r>
            <a:r>
              <a:rPr dirty="0" spc="-40">
                <a:solidFill>
                  <a:srgbClr val="181818"/>
                </a:solidFill>
              </a:rPr>
              <a:t>la</a:t>
            </a:r>
            <a:r>
              <a:rPr dirty="0" spc="-575">
                <a:solidFill>
                  <a:srgbClr val="181818"/>
                </a:solidFill>
              </a:rPr>
              <a:t> </a:t>
            </a:r>
            <a:r>
              <a:rPr dirty="0" spc="-195"/>
              <a:t>Décision</a:t>
            </a:r>
            <a:r>
              <a:rPr dirty="0" spc="-204"/>
              <a:t> </a:t>
            </a:r>
            <a:r>
              <a:rPr dirty="0" spc="-40">
                <a:solidFill>
                  <a:srgbClr val="161616"/>
                </a:solidFill>
              </a:rPr>
              <a:t>Éclairée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785"/>
              </a:lnSpc>
            </a:pPr>
            <a:r>
              <a:rPr dirty="0"/>
              <a:t>G</a:t>
            </a:r>
            <a:r>
              <a:rPr dirty="0" spc="265"/>
              <a:t> </a:t>
            </a:r>
            <a:r>
              <a:rPr dirty="0" spc="-90"/>
              <a:t>NotebookLM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751937" y="5253213"/>
            <a:ext cx="886460" cy="480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689610" algn="l"/>
              </a:tabLst>
            </a:pPr>
            <a:r>
              <a:rPr dirty="0" sz="2950" spc="-50" i="1">
                <a:solidFill>
                  <a:srgbClr val="4D4D4D"/>
                </a:solidFill>
                <a:latin typeface="Arial"/>
                <a:cs typeface="Arial"/>
              </a:rPr>
              <a:t>'</a:t>
            </a:r>
            <a:r>
              <a:rPr dirty="0" sz="2950" i="1">
                <a:solidFill>
                  <a:srgbClr val="4D4D4D"/>
                </a:solidFill>
                <a:latin typeface="Arial"/>
                <a:cs typeface="Arial"/>
              </a:rPr>
              <a:t>	</a:t>
            </a:r>
            <a:r>
              <a:rPr dirty="0" sz="2950" spc="-50">
                <a:solidFill>
                  <a:srgbClr val="2A2A2A"/>
                </a:solidFill>
                <a:latin typeface="Arial"/>
                <a:cs typeface="Arial"/>
              </a:rPr>
              <a:t>y</a:t>
            </a:r>
            <a:endParaRPr sz="295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306468" y="5253213"/>
            <a:ext cx="967105" cy="480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46379" algn="l"/>
                <a:tab pos="647065" algn="l"/>
              </a:tabLst>
            </a:pPr>
            <a:r>
              <a:rPr dirty="0" sz="2950" spc="-340">
                <a:solidFill>
                  <a:srgbClr val="181818"/>
                </a:solidFill>
                <a:latin typeface="Arial"/>
                <a:cs typeface="Arial"/>
              </a:rPr>
              <a:t>:</a:t>
            </a:r>
            <a:r>
              <a:rPr dirty="0" sz="2950">
                <a:solidFill>
                  <a:srgbClr val="181818"/>
                </a:solidFill>
                <a:latin typeface="Arial"/>
                <a:cs typeface="Arial"/>
              </a:rPr>
              <a:t>	</a:t>
            </a:r>
            <a:r>
              <a:rPr dirty="0" sz="2950" spc="-600">
                <a:solidFill>
                  <a:srgbClr val="424242"/>
                </a:solidFill>
                <a:latin typeface="Arial"/>
                <a:cs typeface="Arial"/>
              </a:rPr>
              <a:t>fi</a:t>
            </a:r>
            <a:r>
              <a:rPr dirty="0" sz="2950">
                <a:solidFill>
                  <a:srgbClr val="424242"/>
                </a:solidFill>
                <a:latin typeface="Arial"/>
                <a:cs typeface="Arial"/>
              </a:rPr>
              <a:t>	</a:t>
            </a:r>
            <a:r>
              <a:rPr dirty="0" sz="2950" spc="-290">
                <a:solidFill>
                  <a:srgbClr val="424242"/>
                </a:solidFill>
                <a:latin typeface="Arial"/>
                <a:cs typeface="Arial"/>
              </a:rPr>
              <a:t>:</a:t>
            </a:r>
            <a:r>
              <a:rPr dirty="0" sz="2950" spc="24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2950" spc="-50">
                <a:solidFill>
                  <a:srgbClr val="363636"/>
                </a:solidFill>
                <a:latin typeface="Arial"/>
                <a:cs typeface="Arial"/>
              </a:rPr>
              <a:t>:</a:t>
            </a:r>
            <a:endParaRPr sz="2950">
              <a:latin typeface="Arial"/>
              <a:cs typeface="Arial"/>
            </a:endParaRPr>
          </a:p>
        </p:txBody>
      </p:sp>
      <p:graphicFrame>
        <p:nvGraphicFramePr>
          <p:cNvPr id="11" name="object 11" descr=""/>
          <p:cNvGraphicFramePr>
            <a:graphicFrameLocks noGrp="1"/>
          </p:cNvGraphicFramePr>
          <p:nvPr/>
        </p:nvGraphicFramePr>
        <p:xfrm>
          <a:off x="461786" y="6405289"/>
          <a:ext cx="16736060" cy="1104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98700"/>
                <a:gridCol w="2132965"/>
                <a:gridCol w="1861185"/>
                <a:gridCol w="1976754"/>
                <a:gridCol w="2061210"/>
                <a:gridCol w="1906270"/>
                <a:gridCol w="1811020"/>
                <a:gridCol w="2611119"/>
              </a:tblGrid>
              <a:tr h="374650">
                <a:tc>
                  <a:txBody>
                    <a:bodyPr/>
                    <a:lstStyle/>
                    <a:p>
                      <a:pPr algn="ctr" marR="170180">
                        <a:lnSpc>
                          <a:spcPts val="2850"/>
                        </a:lnSpc>
                      </a:pPr>
                      <a:r>
                        <a:rPr dirty="0" sz="2750" spc="-315">
                          <a:latin typeface="Arial"/>
                          <a:cs typeface="Arial"/>
                        </a:rPr>
                        <a:t>Données</a:t>
                      </a:r>
                      <a:r>
                        <a:rPr dirty="0" sz="275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750" spc="-130">
                          <a:latin typeface="Arial"/>
                          <a:cs typeface="Arial"/>
                        </a:rPr>
                        <a:t>Brutes</a:t>
                      </a:r>
                      <a:endParaRPr sz="27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53975">
                        <a:lnSpc>
                          <a:spcPts val="2850"/>
                        </a:lnSpc>
                      </a:pPr>
                      <a:r>
                        <a:rPr dirty="0" sz="2750" spc="-310">
                          <a:latin typeface="Arial"/>
                          <a:cs typeface="Arial"/>
                        </a:rPr>
                        <a:t>Noyau</a:t>
                      </a:r>
                      <a:r>
                        <a:rPr dirty="0" sz="275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750" spc="-280">
                          <a:latin typeface="Arial"/>
                          <a:cs typeface="Arial"/>
                        </a:rPr>
                        <a:t>de</a:t>
                      </a:r>
                      <a:r>
                        <a:rPr dirty="0" sz="2750" spc="-229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750" spc="-25">
                          <a:latin typeface="Arial"/>
                          <a:cs typeface="Arial"/>
                        </a:rPr>
                        <a:t>Tri</a:t>
                      </a:r>
                      <a:endParaRPr sz="27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3655">
                        <a:lnSpc>
                          <a:spcPts val="2850"/>
                        </a:lnSpc>
                      </a:pPr>
                      <a:r>
                        <a:rPr dirty="0" sz="2750" spc="-260">
                          <a:latin typeface="Arial"/>
                          <a:cs typeface="Arial"/>
                        </a:rPr>
                        <a:t>Flux</a:t>
                      </a:r>
                      <a:r>
                        <a:rPr dirty="0" sz="275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750" spc="-305">
                          <a:latin typeface="Arial"/>
                          <a:cs typeface="Arial"/>
                        </a:rPr>
                        <a:t>de</a:t>
                      </a:r>
                      <a:endParaRPr sz="27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6990">
                        <a:lnSpc>
                          <a:spcPts val="2850"/>
                        </a:lnSpc>
                      </a:pPr>
                      <a:r>
                        <a:rPr dirty="0" sz="2750" spc="-95">
                          <a:latin typeface="Arial"/>
                          <a:cs typeface="Arial"/>
                        </a:rPr>
                        <a:t>Imputation</a:t>
                      </a:r>
                      <a:endParaRPr sz="27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14300">
                        <a:lnSpc>
                          <a:spcPts val="2850"/>
                        </a:lnSpc>
                      </a:pPr>
                      <a:r>
                        <a:rPr dirty="0" sz="2750" spc="-114">
                          <a:latin typeface="Arial"/>
                          <a:cs typeface="Arial"/>
                        </a:rPr>
                        <a:t>Trajectoire</a:t>
                      </a:r>
                      <a:endParaRPr sz="27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21920">
                        <a:lnSpc>
                          <a:spcPts val="2850"/>
                        </a:lnSpc>
                      </a:pPr>
                      <a:r>
                        <a:rPr dirty="0" sz="2750" spc="-95">
                          <a:latin typeface="Arial"/>
                          <a:cs typeface="Arial"/>
                        </a:rPr>
                        <a:t>Modèle</a:t>
                      </a:r>
                      <a:endParaRPr sz="27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86055">
                        <a:lnSpc>
                          <a:spcPts val="2850"/>
                        </a:lnSpc>
                      </a:pPr>
                      <a:r>
                        <a:rPr dirty="0" sz="2750" spc="-120">
                          <a:latin typeface="Arial"/>
                          <a:cs typeface="Arial"/>
                        </a:rPr>
                        <a:t>Décision</a:t>
                      </a:r>
                      <a:endParaRPr sz="27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26060">
                        <a:lnSpc>
                          <a:spcPts val="2850"/>
                        </a:lnSpc>
                      </a:pPr>
                      <a:r>
                        <a:rPr dirty="0" sz="2750" spc="-204">
                          <a:latin typeface="Arial"/>
                          <a:cs typeface="Arial"/>
                        </a:rPr>
                        <a:t>Recommandation</a:t>
                      </a:r>
                      <a:endParaRPr sz="27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355600">
                <a:tc>
                  <a:txBody>
                    <a:bodyPr/>
                    <a:lstStyle/>
                    <a:p>
                      <a:pPr algn="ctr" marR="169545">
                        <a:lnSpc>
                          <a:spcPts val="2700"/>
                        </a:lnSpc>
                      </a:pPr>
                      <a:r>
                        <a:rPr dirty="0" sz="2750" spc="-295">
                          <a:latin typeface="Arial"/>
                          <a:cs typeface="Arial"/>
                        </a:rPr>
                        <a:t>du</a:t>
                      </a:r>
                      <a:r>
                        <a:rPr dirty="0" sz="2750" spc="-1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750" spc="-85">
                          <a:latin typeface="Arial"/>
                          <a:cs typeface="Arial"/>
                        </a:rPr>
                        <a:t>Patient</a:t>
                      </a:r>
                      <a:endParaRPr sz="27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91440">
                        <a:lnSpc>
                          <a:spcPts val="2700"/>
                        </a:lnSpc>
                      </a:pPr>
                      <a:r>
                        <a:rPr dirty="0" sz="2750" spc="-180">
                          <a:latin typeface="Arial"/>
                          <a:cs typeface="Arial"/>
                        </a:rPr>
                        <a:t>(6</a:t>
                      </a:r>
                      <a:r>
                        <a:rPr dirty="0" sz="2750" spc="-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750" spc="-100">
                          <a:latin typeface="Arial"/>
                          <a:cs typeface="Arial"/>
                        </a:rPr>
                        <a:t>Agents)</a:t>
                      </a:r>
                      <a:endParaRPr sz="27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9050">
                        <a:lnSpc>
                          <a:spcPts val="2700"/>
                        </a:lnSpc>
                      </a:pPr>
                      <a:r>
                        <a:rPr dirty="0" sz="2750" spc="-325">
                          <a:latin typeface="Arial"/>
                          <a:cs typeface="Arial"/>
                        </a:rPr>
                        <a:t>Données</a:t>
                      </a:r>
                      <a:endParaRPr sz="27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9530">
                        <a:lnSpc>
                          <a:spcPts val="2700"/>
                        </a:lnSpc>
                      </a:pPr>
                      <a:r>
                        <a:rPr dirty="0" sz="2750" spc="-275">
                          <a:latin typeface="Arial"/>
                          <a:cs typeface="Arial"/>
                        </a:rPr>
                        <a:t>(Jumeau</a:t>
                      </a:r>
                      <a:endParaRPr sz="27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10489">
                        <a:lnSpc>
                          <a:spcPts val="2700"/>
                        </a:lnSpc>
                      </a:pPr>
                      <a:r>
                        <a:rPr dirty="0" sz="2750" spc="-280">
                          <a:latin typeface="Arial"/>
                          <a:cs typeface="Arial"/>
                        </a:rPr>
                        <a:t>de</a:t>
                      </a:r>
                      <a:r>
                        <a:rPr dirty="0" sz="2750" spc="-1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750" spc="-325">
                          <a:latin typeface="Arial"/>
                          <a:cs typeface="Arial"/>
                        </a:rPr>
                        <a:t>Données</a:t>
                      </a:r>
                      <a:endParaRPr sz="27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06680">
                        <a:lnSpc>
                          <a:spcPts val="2700"/>
                        </a:lnSpc>
                      </a:pPr>
                      <a:r>
                        <a:rPr dirty="0" sz="2750" spc="-70">
                          <a:latin typeface="Arial"/>
                          <a:cs typeface="Arial"/>
                        </a:rPr>
                        <a:t>Simplifié</a:t>
                      </a:r>
                      <a:endParaRPr sz="27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78435">
                        <a:lnSpc>
                          <a:spcPts val="2700"/>
                        </a:lnSpc>
                      </a:pPr>
                      <a:r>
                        <a:rPr dirty="0" sz="2750" spc="-400">
                          <a:latin typeface="Arial"/>
                          <a:cs typeface="Arial"/>
                        </a:rPr>
                        <a:t>(ACDN)</a:t>
                      </a:r>
                      <a:endParaRPr sz="27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67005">
                        <a:lnSpc>
                          <a:spcPts val="2700"/>
                        </a:lnSpc>
                      </a:pPr>
                      <a:r>
                        <a:rPr dirty="0" sz="2750" spc="-185">
                          <a:latin typeface="Arial"/>
                          <a:cs typeface="Arial"/>
                        </a:rPr>
                        <a:t>Thérapeutique</a:t>
                      </a:r>
                      <a:endParaRPr sz="27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3746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7145">
                        <a:lnSpc>
                          <a:spcPts val="2850"/>
                        </a:lnSpc>
                      </a:pPr>
                      <a:r>
                        <a:rPr dirty="0" sz="2750" spc="-114">
                          <a:latin typeface="Arial"/>
                          <a:cs typeface="Arial"/>
                        </a:rPr>
                        <a:t>Structurés</a:t>
                      </a:r>
                      <a:endParaRPr sz="27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3180">
                        <a:lnSpc>
                          <a:spcPts val="2850"/>
                        </a:lnSpc>
                      </a:pPr>
                      <a:r>
                        <a:rPr dirty="0" sz="2750" spc="-275">
                          <a:latin typeface="Arial"/>
                          <a:cs typeface="Arial"/>
                        </a:rPr>
                        <a:t>Numérique)</a:t>
                      </a:r>
                      <a:endParaRPr sz="27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04775">
                        <a:lnSpc>
                          <a:spcPts val="2850"/>
                        </a:lnSpc>
                      </a:pPr>
                      <a:r>
                        <a:rPr dirty="0" sz="2750" spc="-265">
                          <a:latin typeface="Arial"/>
                          <a:cs typeface="Arial"/>
                        </a:rPr>
                        <a:t>Continue</a:t>
                      </a:r>
                      <a:endParaRPr sz="27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28270">
                        <a:lnSpc>
                          <a:spcPts val="2850"/>
                        </a:lnSpc>
                      </a:pPr>
                      <a:r>
                        <a:rPr dirty="0" sz="2750" spc="-370">
                          <a:latin typeface="Arial"/>
                          <a:cs typeface="Arial"/>
                        </a:rPr>
                        <a:t>(EST)</a:t>
                      </a:r>
                      <a:endParaRPr sz="27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74625">
                        <a:lnSpc>
                          <a:spcPts val="2850"/>
                        </a:lnSpc>
                      </a:pPr>
                      <a:r>
                        <a:rPr dirty="0" sz="2750" spc="-270">
                          <a:latin typeface="Arial"/>
                          <a:cs typeface="Arial"/>
                        </a:rPr>
                        <a:t>Expliquée</a:t>
                      </a:r>
                      <a:endParaRPr sz="27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8320" y="568677"/>
            <a:ext cx="11825605" cy="74549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700" spc="-450">
                <a:solidFill>
                  <a:srgbClr val="161616"/>
                </a:solidFill>
                <a:latin typeface="Arial"/>
                <a:cs typeface="Arial"/>
              </a:rPr>
              <a:t>Le</a:t>
            </a:r>
            <a:r>
              <a:rPr dirty="0" sz="4700" spc="-24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4700" spc="-370">
                <a:solidFill>
                  <a:srgbClr val="131313"/>
                </a:solidFill>
                <a:latin typeface="Arial"/>
                <a:cs typeface="Arial"/>
              </a:rPr>
              <a:t>Saut</a:t>
            </a:r>
            <a:r>
              <a:rPr dirty="0" sz="4700" spc="-35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4700" spc="-225">
                <a:solidFill>
                  <a:srgbClr val="111111"/>
                </a:solidFill>
                <a:latin typeface="Arial"/>
                <a:cs typeface="Arial"/>
              </a:rPr>
              <a:t>9uantique</a:t>
            </a:r>
            <a:r>
              <a:rPr dirty="0" sz="4700" spc="-10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4700">
                <a:solidFill>
                  <a:srgbClr val="181818"/>
                </a:solidFill>
                <a:latin typeface="Arial"/>
                <a:cs typeface="Arial"/>
              </a:rPr>
              <a:t>:</a:t>
            </a:r>
            <a:r>
              <a:rPr dirty="0" sz="4700" spc="-17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dirty="0" sz="4700" spc="-545">
                <a:solidFill>
                  <a:srgbClr val="161616"/>
                </a:solidFill>
                <a:latin typeface="Arial"/>
                <a:cs typeface="Arial"/>
              </a:rPr>
              <a:t>Un</a:t>
            </a:r>
            <a:r>
              <a:rPr dirty="0" sz="4700" spc="-22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4700" spc="-409">
                <a:solidFill>
                  <a:srgbClr val="181818"/>
                </a:solidFill>
                <a:latin typeface="Arial"/>
                <a:cs typeface="Arial"/>
              </a:rPr>
              <a:t>Changement</a:t>
            </a:r>
            <a:r>
              <a:rPr dirty="0" sz="4700" spc="19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dirty="0" sz="4700" spc="-370">
                <a:solidFill>
                  <a:srgbClr val="161616"/>
                </a:solidFill>
                <a:latin typeface="Arial"/>
                <a:cs typeface="Arial"/>
              </a:rPr>
              <a:t>de</a:t>
            </a:r>
            <a:r>
              <a:rPr dirty="0" sz="4700" spc="-335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4700" spc="-370">
                <a:solidFill>
                  <a:srgbClr val="131313"/>
                </a:solidFill>
                <a:latin typeface="Arial"/>
                <a:cs typeface="Arial"/>
              </a:rPr>
              <a:t>Paradigme</a:t>
            </a:r>
            <a:endParaRPr sz="47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785"/>
              </a:lnSpc>
            </a:pPr>
            <a:r>
              <a:rPr dirty="0"/>
              <a:t>G</a:t>
            </a:r>
            <a:r>
              <a:rPr dirty="0" spc="265"/>
              <a:t> </a:t>
            </a:r>
            <a:r>
              <a:rPr dirty="0" spc="-90"/>
              <a:t>NotebookLM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740602" y="1782938"/>
            <a:ext cx="5586730" cy="1033144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1022985" marR="5080" indent="-1010919">
              <a:lnSpc>
                <a:spcPts val="3600"/>
              </a:lnSpc>
              <a:spcBef>
                <a:spcPts val="830"/>
              </a:spcBef>
            </a:pPr>
            <a:r>
              <a:rPr dirty="0" sz="3600" spc="-535">
                <a:solidFill>
                  <a:srgbClr val="0C0C0C"/>
                </a:solidFill>
                <a:latin typeface="Arial"/>
                <a:cs typeface="Arial"/>
              </a:rPr>
              <a:t>AVANT</a:t>
            </a:r>
            <a:r>
              <a:rPr dirty="0" sz="3600" spc="-105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3600" spc="-220">
                <a:solidFill>
                  <a:srgbClr val="161616"/>
                </a:solidFill>
                <a:latin typeface="Arial"/>
                <a:cs typeface="Arial"/>
              </a:rPr>
              <a:t>:</a:t>
            </a:r>
            <a:r>
              <a:rPr dirty="0" sz="3600" spc="-114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3600" spc="-340">
                <a:solidFill>
                  <a:srgbClr val="0F0F0F"/>
                </a:solidFill>
                <a:latin typeface="Arial"/>
                <a:cs typeface="Arial"/>
              </a:rPr>
              <a:t>Médecine</a:t>
            </a:r>
            <a:r>
              <a:rPr dirty="0" sz="3600" spc="6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3600" spc="-380">
                <a:solidFill>
                  <a:srgbClr val="0F0F0F"/>
                </a:solidFill>
                <a:latin typeface="Arial"/>
                <a:cs typeface="Arial"/>
              </a:rPr>
              <a:t>basée</a:t>
            </a:r>
            <a:r>
              <a:rPr dirty="0" sz="3600" spc="-35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3600" spc="-320">
                <a:solidFill>
                  <a:srgbClr val="111111"/>
                </a:solidFill>
                <a:latin typeface="Arial"/>
                <a:cs typeface="Arial"/>
              </a:rPr>
              <a:t>sur</a:t>
            </a:r>
            <a:r>
              <a:rPr dirty="0" sz="3600" spc="-7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600" spc="-175">
                <a:solidFill>
                  <a:srgbClr val="111111"/>
                </a:solidFill>
                <a:latin typeface="Arial"/>
                <a:cs typeface="Arial"/>
              </a:rPr>
              <a:t>les </a:t>
            </a:r>
            <a:r>
              <a:rPr dirty="0" sz="3600" spc="-245">
                <a:solidFill>
                  <a:srgbClr val="0C0C0C"/>
                </a:solidFill>
                <a:latin typeface="Arial"/>
                <a:cs typeface="Arial"/>
              </a:rPr>
              <a:t>protocoles</a:t>
            </a:r>
            <a:r>
              <a:rPr dirty="0" sz="3600" spc="2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3600" spc="-370">
                <a:solidFill>
                  <a:srgbClr val="0C0C0C"/>
                </a:solidFill>
                <a:latin typeface="Arial"/>
                <a:cs typeface="Arial"/>
              </a:rPr>
              <a:t>généraux</a:t>
            </a:r>
            <a:endParaRPr sz="36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775080" y="5429602"/>
            <a:ext cx="821055" cy="472440"/>
          </a:xfrm>
          <a:prstGeom prst="rect">
            <a:avLst/>
          </a:prstGeom>
        </p:spPr>
        <p:txBody>
          <a:bodyPr wrap="square" lIns="0" tIns="52705" rIns="0" bIns="0" rtlCol="0" vert="horz">
            <a:spAutoFit/>
          </a:bodyPr>
          <a:lstStyle/>
          <a:p>
            <a:pPr marL="69215" marR="5080" indent="-57150">
              <a:lnSpc>
                <a:spcPts val="1600"/>
              </a:lnSpc>
              <a:spcBef>
                <a:spcPts val="415"/>
              </a:spcBef>
            </a:pPr>
            <a:r>
              <a:rPr dirty="0" sz="1600" spc="-130">
                <a:latin typeface="Arial"/>
                <a:cs typeface="Arial"/>
              </a:rPr>
              <a:t>Diagnostic </a:t>
            </a:r>
            <a:r>
              <a:rPr dirty="0" sz="1600" spc="-95">
                <a:latin typeface="Arial"/>
                <a:cs typeface="Arial"/>
              </a:rPr>
              <a:t>Standard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393636" y="8571794"/>
            <a:ext cx="4281805" cy="4914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050" spc="-310">
                <a:latin typeface="Calibri"/>
                <a:cs typeface="Calibri"/>
              </a:rPr>
              <a:t>Approche</a:t>
            </a:r>
            <a:r>
              <a:rPr dirty="0" sz="3050" spc="-15">
                <a:latin typeface="Calibri"/>
                <a:cs typeface="Calibri"/>
              </a:rPr>
              <a:t> </a:t>
            </a:r>
            <a:r>
              <a:rPr dirty="0" sz="3050" spc="-145">
                <a:latin typeface="Calibri"/>
                <a:cs typeface="Calibri"/>
              </a:rPr>
              <a:t>par”essais</a:t>
            </a:r>
            <a:r>
              <a:rPr dirty="0" sz="3050" spc="70">
                <a:latin typeface="Calibri"/>
                <a:cs typeface="Calibri"/>
              </a:rPr>
              <a:t> </a:t>
            </a:r>
            <a:r>
              <a:rPr dirty="0" sz="3050" spc="-310">
                <a:latin typeface="Calibri"/>
                <a:cs typeface="Calibri"/>
              </a:rPr>
              <a:t>et</a:t>
            </a:r>
            <a:r>
              <a:rPr dirty="0" sz="3050" spc="-25">
                <a:latin typeface="Calibri"/>
                <a:cs typeface="Calibri"/>
              </a:rPr>
              <a:t> </a:t>
            </a:r>
            <a:r>
              <a:rPr dirty="0" sz="3050" spc="-285">
                <a:latin typeface="Calibri"/>
                <a:cs typeface="Calibri"/>
              </a:rPr>
              <a:t>erreurs".</a:t>
            </a:r>
            <a:endParaRPr sz="305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0160675" y="1800577"/>
            <a:ext cx="5540375" cy="1018540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694055" marR="5080" indent="-681990">
              <a:lnSpc>
                <a:spcPts val="3650"/>
              </a:lnSpc>
              <a:spcBef>
                <a:spcPts val="650"/>
              </a:spcBef>
            </a:pPr>
            <a:r>
              <a:rPr dirty="0" sz="3450" spc="-545">
                <a:solidFill>
                  <a:srgbClr val="131313"/>
                </a:solidFill>
                <a:latin typeface="Arial"/>
                <a:cs typeface="Arial"/>
              </a:rPr>
              <a:t>APRÈS</a:t>
            </a:r>
            <a:r>
              <a:rPr dirty="0" sz="3450" spc="-13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3450">
                <a:solidFill>
                  <a:srgbClr val="131313"/>
                </a:solidFill>
                <a:latin typeface="Arial"/>
                <a:cs typeface="Arial"/>
              </a:rPr>
              <a:t>:</a:t>
            </a:r>
            <a:r>
              <a:rPr dirty="0" sz="3450" spc="-11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3450" spc="-270">
                <a:solidFill>
                  <a:srgbClr val="0E0E0E"/>
                </a:solidFill>
                <a:latin typeface="Arial"/>
                <a:cs typeface="Arial"/>
              </a:rPr>
              <a:t>Médecine</a:t>
            </a:r>
            <a:r>
              <a:rPr dirty="0" sz="3450" spc="3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dirty="0" sz="3450" spc="-305">
                <a:solidFill>
                  <a:srgbClr val="0C0C0C"/>
                </a:solidFill>
                <a:latin typeface="Arial"/>
                <a:cs typeface="Arial"/>
              </a:rPr>
              <a:t>basée</a:t>
            </a:r>
            <a:r>
              <a:rPr dirty="0" sz="3450" spc="-9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3450" spc="-225">
                <a:solidFill>
                  <a:srgbClr val="0C0C0C"/>
                </a:solidFill>
                <a:latin typeface="Arial"/>
                <a:cs typeface="Arial"/>
              </a:rPr>
              <a:t>sur</a:t>
            </a:r>
            <a:r>
              <a:rPr dirty="0" sz="3450" spc="-25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3450" spc="-60">
                <a:solidFill>
                  <a:srgbClr val="131313"/>
                </a:solidFill>
                <a:latin typeface="Arial"/>
                <a:cs typeface="Arial"/>
              </a:rPr>
              <a:t>les </a:t>
            </a:r>
            <a:r>
              <a:rPr dirty="0" sz="3450" spc="-295">
                <a:solidFill>
                  <a:srgbClr val="0F0F0F"/>
                </a:solidFill>
                <a:latin typeface="Arial"/>
                <a:cs typeface="Arial"/>
              </a:rPr>
              <a:t>mécanismes</a:t>
            </a:r>
            <a:r>
              <a:rPr dirty="0" sz="3450" spc="315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3450" spc="-60">
                <a:solidFill>
                  <a:srgbClr val="0E0E0E"/>
                </a:solidFill>
                <a:latin typeface="Arial"/>
                <a:cs typeface="Arial"/>
              </a:rPr>
              <a:t>individuels</a:t>
            </a:r>
            <a:endParaRPr sz="345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911681" y="5410200"/>
            <a:ext cx="69850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50">
                <a:solidFill>
                  <a:srgbClr val="9A8967"/>
                </a:solidFill>
                <a:latin typeface="Arial"/>
                <a:cs typeface="Arial"/>
              </a:rPr>
              <a:t>r</a:t>
            </a:r>
            <a:endParaRPr sz="125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873605" y="5922786"/>
            <a:ext cx="1233170" cy="586740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marL="173355" marR="5080" indent="-161290">
              <a:lnSpc>
                <a:spcPts val="2000"/>
              </a:lnSpc>
              <a:spcBef>
                <a:spcPts val="509"/>
              </a:spcBef>
            </a:pPr>
            <a:r>
              <a:rPr dirty="0" sz="2000" spc="-95">
                <a:latin typeface="Arial"/>
                <a:cs typeface="Arial"/>
              </a:rPr>
              <a:t>Profil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180">
                <a:latin typeface="Arial"/>
                <a:cs typeface="Arial"/>
              </a:rPr>
              <a:t>Patient </a:t>
            </a:r>
            <a:r>
              <a:rPr dirty="0" sz="2000" spc="-65">
                <a:latin typeface="Arial"/>
                <a:cs typeface="Arial"/>
              </a:rPr>
              <a:t>Individuel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4863165" y="4055886"/>
            <a:ext cx="1095375" cy="2855595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marL="198755" marR="71120" indent="-184150">
              <a:lnSpc>
                <a:spcPts val="2000"/>
              </a:lnSpc>
              <a:spcBef>
                <a:spcPts val="509"/>
              </a:spcBef>
            </a:pPr>
            <a:r>
              <a:rPr dirty="0" sz="2000" spc="-170">
                <a:latin typeface="Arial"/>
                <a:cs typeface="Arial"/>
              </a:rPr>
              <a:t>Traitement </a:t>
            </a:r>
            <a:r>
              <a:rPr dirty="0" sz="2000" spc="-175">
                <a:latin typeface="Arial"/>
                <a:cs typeface="Arial"/>
              </a:rPr>
              <a:t>Cible</a:t>
            </a:r>
            <a:r>
              <a:rPr dirty="0" sz="2000" spc="-204">
                <a:latin typeface="Arial"/>
                <a:cs typeface="Arial"/>
              </a:rPr>
              <a:t> </a:t>
            </a:r>
            <a:r>
              <a:rPr dirty="0" sz="2000" spc="-5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2000">
              <a:latin typeface="Arial"/>
              <a:cs typeface="Arial"/>
            </a:endParaRPr>
          </a:p>
          <a:p>
            <a:pPr algn="ctr" marL="90805">
              <a:lnSpc>
                <a:spcPts val="2290"/>
              </a:lnSpc>
              <a:spcBef>
                <a:spcPts val="5"/>
              </a:spcBef>
            </a:pPr>
            <a:r>
              <a:rPr dirty="0" sz="2150" spc="-275">
                <a:latin typeface="Arial"/>
                <a:cs typeface="Arial"/>
              </a:rPr>
              <a:t>Traitement</a:t>
            </a:r>
            <a:endParaRPr sz="2150">
              <a:latin typeface="Arial"/>
              <a:cs typeface="Arial"/>
            </a:endParaRPr>
          </a:p>
          <a:p>
            <a:pPr algn="ctr" marL="122555">
              <a:lnSpc>
                <a:spcPts val="2170"/>
              </a:lnSpc>
            </a:pPr>
            <a:r>
              <a:rPr dirty="0" sz="2050" spc="-215">
                <a:latin typeface="Arial"/>
                <a:cs typeface="Arial"/>
              </a:rPr>
              <a:t>Cible</a:t>
            </a:r>
            <a:r>
              <a:rPr dirty="0" sz="2050" spc="-50">
                <a:latin typeface="Arial"/>
                <a:cs typeface="Arial"/>
              </a:rPr>
              <a:t> 2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50">
              <a:latin typeface="Arial"/>
              <a:cs typeface="Arial"/>
            </a:endParaRPr>
          </a:p>
          <a:p>
            <a:pPr marL="196215" marR="81280" indent="-184150">
              <a:lnSpc>
                <a:spcPct val="79300"/>
              </a:lnSpc>
            </a:pPr>
            <a:r>
              <a:rPr dirty="0" sz="2050" spc="-215">
                <a:latin typeface="Cambria"/>
                <a:cs typeface="Cambria"/>
              </a:rPr>
              <a:t>Traitement </a:t>
            </a:r>
            <a:r>
              <a:rPr dirty="0" sz="2050" spc="-130">
                <a:latin typeface="Cambria"/>
                <a:cs typeface="Cambria"/>
              </a:rPr>
              <a:t>Cible</a:t>
            </a:r>
            <a:r>
              <a:rPr dirty="0" sz="2050" spc="-65">
                <a:latin typeface="Cambria"/>
                <a:cs typeface="Cambria"/>
              </a:rPr>
              <a:t> </a:t>
            </a:r>
            <a:r>
              <a:rPr dirty="0" sz="2050" spc="-50">
                <a:latin typeface="Cambria"/>
                <a:cs typeface="Cambria"/>
              </a:rPr>
              <a:t>3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596640" y="8580614"/>
            <a:ext cx="6646545" cy="480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950" spc="-530">
                <a:latin typeface="Arial"/>
                <a:cs typeface="Arial"/>
              </a:rPr>
              <a:t>Une</a:t>
            </a:r>
            <a:r>
              <a:rPr dirty="0" sz="2950" spc="-40">
                <a:latin typeface="Arial"/>
                <a:cs typeface="Arial"/>
              </a:rPr>
              <a:t> </a:t>
            </a:r>
            <a:r>
              <a:rPr dirty="0" sz="2950" spc="-290">
                <a:latin typeface="Arial"/>
                <a:cs typeface="Arial"/>
              </a:rPr>
              <a:t>“conclusion</a:t>
            </a:r>
            <a:r>
              <a:rPr dirty="0" sz="2950" spc="50">
                <a:latin typeface="Arial"/>
                <a:cs typeface="Arial"/>
              </a:rPr>
              <a:t> </a:t>
            </a:r>
            <a:r>
              <a:rPr dirty="0" sz="2950" spc="-265">
                <a:latin typeface="Arial"/>
                <a:cs typeface="Arial"/>
              </a:rPr>
              <a:t>scientifique</a:t>
            </a:r>
            <a:r>
              <a:rPr dirty="0" sz="2950" spc="40">
                <a:latin typeface="Arial"/>
                <a:cs typeface="Arial"/>
              </a:rPr>
              <a:t> </a:t>
            </a:r>
            <a:r>
              <a:rPr dirty="0" sz="2950" spc="-320">
                <a:latin typeface="Arial"/>
                <a:cs typeface="Arial"/>
              </a:rPr>
              <a:t>précise</a:t>
            </a:r>
            <a:r>
              <a:rPr dirty="0" sz="2950" spc="70">
                <a:latin typeface="Arial"/>
                <a:cs typeface="Arial"/>
              </a:rPr>
              <a:t> </a:t>
            </a:r>
            <a:r>
              <a:rPr dirty="0" sz="2950" spc="-325">
                <a:latin typeface="Arial"/>
                <a:cs typeface="Arial"/>
              </a:rPr>
              <a:t>et</a:t>
            </a:r>
            <a:r>
              <a:rPr dirty="0" sz="2950" spc="-50">
                <a:latin typeface="Arial"/>
                <a:cs typeface="Arial"/>
              </a:rPr>
              <a:t> </a:t>
            </a:r>
            <a:r>
              <a:rPr dirty="0" sz="2950" spc="-290">
                <a:latin typeface="Arial"/>
                <a:cs typeface="Arial"/>
              </a:rPr>
              <a:t>explicable“.</a:t>
            </a:r>
            <a:endParaRPr sz="2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52100" y="5956300"/>
            <a:ext cx="12700" cy="381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80400" y="1270000"/>
            <a:ext cx="863600" cy="171450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2545511" y="455436"/>
            <a:ext cx="12340590" cy="7137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500">
                <a:solidFill>
                  <a:srgbClr val="484848"/>
                </a:solidFill>
                <a:latin typeface="Arial"/>
                <a:cs typeface="Arial"/>
              </a:rPr>
              <a:t>Une</a:t>
            </a:r>
            <a:r>
              <a:rPr dirty="0" sz="4500" spc="130">
                <a:solidFill>
                  <a:srgbClr val="484848"/>
                </a:solidFill>
                <a:latin typeface="Arial"/>
                <a:cs typeface="Arial"/>
              </a:rPr>
              <a:t> </a:t>
            </a:r>
            <a:r>
              <a:rPr dirty="0" sz="4500">
                <a:solidFill>
                  <a:srgbClr val="3F3F3F"/>
                </a:solidFill>
                <a:latin typeface="Arial"/>
                <a:cs typeface="Arial"/>
              </a:rPr>
              <a:t>Nouvelle</a:t>
            </a:r>
            <a:r>
              <a:rPr dirty="0" sz="4500" spc="265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4500">
                <a:solidFill>
                  <a:srgbClr val="444444"/>
                </a:solidFill>
                <a:latin typeface="Arial"/>
                <a:cs typeface="Arial"/>
              </a:rPr>
              <a:t>Ère</a:t>
            </a:r>
            <a:r>
              <a:rPr dirty="0" sz="4500" spc="17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4500">
                <a:solidFill>
                  <a:srgbClr val="464646"/>
                </a:solidFill>
                <a:latin typeface="Arial"/>
                <a:cs typeface="Arial"/>
              </a:rPr>
              <a:t>pour</a:t>
            </a:r>
            <a:r>
              <a:rPr dirty="0" sz="4500" spc="38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4500">
                <a:solidFill>
                  <a:srgbClr val="3F3F3F"/>
                </a:solidFill>
                <a:latin typeface="Arial"/>
                <a:cs typeface="Arial"/>
              </a:rPr>
              <a:t>l'Oncologie</a:t>
            </a:r>
            <a:r>
              <a:rPr dirty="0" sz="4500" spc="54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4500" spc="70">
                <a:solidFill>
                  <a:srgbClr val="444444"/>
                </a:solidFill>
                <a:latin typeface="Arial"/>
                <a:cs typeface="Arial"/>
              </a:rPr>
              <a:t>de</a:t>
            </a:r>
            <a:r>
              <a:rPr dirty="0" sz="4500" spc="5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4500" spc="-10">
                <a:solidFill>
                  <a:srgbClr val="3B3B3B"/>
                </a:solidFill>
                <a:latin typeface="Arial"/>
                <a:cs typeface="Arial"/>
              </a:rPr>
              <a:t>Précision</a:t>
            </a:r>
            <a:endParaRPr sz="45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60626" y="3086805"/>
            <a:ext cx="15304769" cy="2820670"/>
          </a:xfrm>
          <a:prstGeom prst="rect"/>
        </p:spPr>
        <p:txBody>
          <a:bodyPr wrap="square" lIns="0" tIns="191135" rIns="0" bIns="0" rtlCol="0" vert="horz">
            <a:spAutoFit/>
          </a:bodyPr>
          <a:lstStyle/>
          <a:p>
            <a:pPr algn="ctr" marL="12065" marR="5080">
              <a:lnSpc>
                <a:spcPts val="6900"/>
              </a:lnSpc>
              <a:spcBef>
                <a:spcPts val="1505"/>
              </a:spcBef>
            </a:pPr>
            <a:r>
              <a:rPr dirty="0" sz="6950" spc="-370">
                <a:solidFill>
                  <a:srgbClr val="1A1A1A"/>
                </a:solidFill>
                <a:latin typeface="Arial"/>
                <a:cs typeface="Arial"/>
              </a:rPr>
              <a:t>Üobjectif</a:t>
            </a:r>
            <a:r>
              <a:rPr dirty="0" sz="695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6950" spc="-375">
                <a:solidFill>
                  <a:srgbClr val="1C1C1C"/>
                </a:solidFill>
                <a:latin typeface="Arial"/>
                <a:cs typeface="Arial"/>
              </a:rPr>
              <a:t>ultime</a:t>
            </a:r>
            <a:r>
              <a:rPr dirty="0" sz="6950" spc="-405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dirty="0" sz="6950" spc="-350">
                <a:solidFill>
                  <a:srgbClr val="1F1F1F"/>
                </a:solidFill>
                <a:latin typeface="Arial"/>
                <a:cs typeface="Arial"/>
              </a:rPr>
              <a:t>est</a:t>
            </a:r>
            <a:r>
              <a:rPr dirty="0" sz="6950" spc="-54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6950" spc="-70">
                <a:solidFill>
                  <a:srgbClr val="181818"/>
                </a:solidFill>
                <a:latin typeface="Arial"/>
                <a:cs typeface="Arial"/>
              </a:rPr>
              <a:t>atteint:</a:t>
            </a:r>
            <a:r>
              <a:rPr dirty="0" sz="6950" spc="-56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dirty="0" sz="6950" spc="-210">
                <a:solidFill>
                  <a:srgbClr val="181818"/>
                </a:solidFill>
                <a:latin typeface="Arial"/>
                <a:cs typeface="Arial"/>
              </a:rPr>
              <a:t>traiter</a:t>
            </a:r>
            <a:r>
              <a:rPr dirty="0" sz="6950" spc="-265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dirty="0" sz="6950" spc="-254">
                <a:solidFill>
                  <a:srgbClr val="1C1C1C"/>
                </a:solidFill>
                <a:latin typeface="Arial"/>
                <a:cs typeface="Arial"/>
              </a:rPr>
              <a:t>le</a:t>
            </a:r>
            <a:r>
              <a:rPr dirty="0" sz="6950" spc="-70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dirty="0" sz="6950" spc="-165">
                <a:solidFill>
                  <a:srgbClr val="1A1A1A"/>
                </a:solidFill>
                <a:latin typeface="Arial"/>
                <a:cs typeface="Arial"/>
              </a:rPr>
              <a:t>patient, </a:t>
            </a:r>
            <a:r>
              <a:rPr dirty="0" sz="6500">
                <a:solidFill>
                  <a:srgbClr val="1C1C1C"/>
                </a:solidFill>
                <a:latin typeface="Arial"/>
                <a:cs typeface="Arial"/>
              </a:rPr>
              <a:t>et</a:t>
            </a:r>
            <a:r>
              <a:rPr dirty="0" sz="6500" spc="-45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dirty="0" sz="6500" spc="-190">
                <a:solidFill>
                  <a:srgbClr val="1F1F1F"/>
                </a:solidFill>
                <a:latin typeface="Arial"/>
                <a:cs typeface="Arial"/>
              </a:rPr>
              <a:t>non</a:t>
            </a:r>
            <a:r>
              <a:rPr dirty="0" sz="6500" spc="-54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6500" spc="-160">
                <a:solidFill>
                  <a:srgbClr val="1A1A1A"/>
                </a:solidFill>
                <a:latin typeface="Arial"/>
                <a:cs typeface="Arial"/>
              </a:rPr>
              <a:t>la</a:t>
            </a:r>
            <a:r>
              <a:rPr dirty="0" sz="6500" spc="-39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6500" spc="-229">
                <a:solidFill>
                  <a:srgbClr val="181818"/>
                </a:solidFill>
                <a:latin typeface="Arial"/>
                <a:cs typeface="Arial"/>
              </a:rPr>
              <a:t>maladie, </a:t>
            </a:r>
            <a:r>
              <a:rPr dirty="0" sz="6500" spc="-225">
                <a:solidFill>
                  <a:srgbClr val="181818"/>
                </a:solidFill>
                <a:latin typeface="Arial"/>
                <a:cs typeface="Arial"/>
              </a:rPr>
              <a:t>en</a:t>
            </a:r>
            <a:r>
              <a:rPr dirty="0" sz="6500" spc="-495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dirty="0" sz="6500" spc="-280">
                <a:solidFill>
                  <a:srgbClr val="181818"/>
                </a:solidFill>
                <a:latin typeface="Arial"/>
                <a:cs typeface="Arial"/>
              </a:rPr>
              <a:t>se</a:t>
            </a:r>
            <a:r>
              <a:rPr dirty="0" sz="6500" spc="-505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dirty="0" sz="6500" spc="-120">
                <a:solidFill>
                  <a:srgbClr val="181818"/>
                </a:solidFill>
                <a:latin typeface="Arial"/>
                <a:cs typeface="Arial"/>
              </a:rPr>
              <a:t>fondant</a:t>
            </a:r>
            <a:r>
              <a:rPr dirty="0" sz="6500" spc="-185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dirty="0" sz="6500" spc="-220">
                <a:solidFill>
                  <a:srgbClr val="181818"/>
                </a:solidFill>
                <a:latin typeface="Arial"/>
                <a:cs typeface="Arial"/>
              </a:rPr>
              <a:t>sur</a:t>
            </a:r>
            <a:r>
              <a:rPr dirty="0" sz="6500" spc="-355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dirty="0" sz="6500" spc="-25">
                <a:solidFill>
                  <a:srgbClr val="181818"/>
                </a:solidFill>
                <a:latin typeface="Arial"/>
                <a:cs typeface="Arial"/>
              </a:rPr>
              <a:t>une </a:t>
            </a:r>
            <a:r>
              <a:rPr dirty="0" sz="6300" spc="-185">
                <a:solidFill>
                  <a:srgbClr val="181818"/>
                </a:solidFill>
                <a:latin typeface="Arial"/>
                <a:cs typeface="Arial"/>
              </a:rPr>
              <a:t>compréhensiÒn</a:t>
            </a:r>
            <a:r>
              <a:rPr dirty="0" sz="6300" spc="-22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dirty="0" sz="6300" spc="-30">
                <a:solidFill>
                  <a:srgbClr val="161616"/>
                </a:solidFill>
                <a:latin typeface="Arial"/>
                <a:cs typeface="Arial"/>
              </a:rPr>
              <a:t>complète,</a:t>
            </a:r>
            <a:r>
              <a:rPr dirty="0" sz="6300" spc="-335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6300">
                <a:solidFill>
                  <a:srgbClr val="181818"/>
                </a:solidFill>
                <a:latin typeface="Arial"/>
                <a:cs typeface="Arial"/>
              </a:rPr>
              <a:t>profonde</a:t>
            </a:r>
            <a:r>
              <a:rPr dirty="0" sz="6300" spc="-37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dirty="0" sz="6300" spc="-25">
                <a:solidFill>
                  <a:srgbClr val="1C1C1C"/>
                </a:solidFill>
                <a:latin typeface="Arial"/>
                <a:cs typeface="Arial"/>
              </a:rPr>
              <a:t>et</a:t>
            </a:r>
            <a:endParaRPr sz="63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042725" y="5768622"/>
            <a:ext cx="11332845" cy="102044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500" spc="-105">
                <a:solidFill>
                  <a:srgbClr val="161616"/>
                </a:solidFill>
                <a:latin typeface="Arial"/>
                <a:cs typeface="Arial"/>
              </a:rPr>
              <a:t>explicable</a:t>
            </a:r>
            <a:r>
              <a:rPr dirty="0" sz="6500" spc="-235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6500" spc="-225">
                <a:solidFill>
                  <a:srgbClr val="1A1A1A"/>
                </a:solidFill>
                <a:latin typeface="Arial"/>
                <a:cs typeface="Arial"/>
              </a:rPr>
              <a:t>de</a:t>
            </a:r>
            <a:r>
              <a:rPr dirty="0" sz="6500" spc="-4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6500" spc="-280">
                <a:solidFill>
                  <a:srgbClr val="1C1C1C"/>
                </a:solidFill>
                <a:latin typeface="Arial"/>
                <a:cs typeface="Arial"/>
              </a:rPr>
              <a:t>sa</a:t>
            </a:r>
            <a:r>
              <a:rPr dirty="0" sz="6500" spc="-47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dirty="0" sz="6500" spc="-90">
                <a:solidFill>
                  <a:srgbClr val="181818"/>
                </a:solidFill>
                <a:latin typeface="Arial"/>
                <a:cs typeface="Arial"/>
              </a:rPr>
              <a:t>biologie</a:t>
            </a:r>
            <a:r>
              <a:rPr dirty="0" sz="6500" spc="-36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dirty="0" sz="6500" spc="-90">
                <a:solidFill>
                  <a:srgbClr val="181818"/>
                </a:solidFill>
                <a:latin typeface="Arial"/>
                <a:cs typeface="Arial"/>
              </a:rPr>
              <a:t>unique.</a:t>
            </a:r>
            <a:endParaRPr sz="65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312297" y="6382102"/>
            <a:ext cx="4512945" cy="1031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11830" algn="l"/>
                <a:tab pos="4368165" algn="l"/>
              </a:tabLst>
            </a:pPr>
            <a:r>
              <a:rPr dirty="0" sz="6600" spc="-1150">
                <a:solidFill>
                  <a:srgbClr val="AE8954"/>
                </a:solidFill>
                <a:latin typeface="Arial"/>
                <a:cs typeface="Arial"/>
              </a:rPr>
              <a:t>›"›</a:t>
            </a:r>
            <a:r>
              <a:rPr dirty="0" sz="6600">
                <a:solidFill>
                  <a:srgbClr val="AE8954"/>
                </a:solidFill>
                <a:latin typeface="Arial"/>
                <a:cs typeface="Arial"/>
              </a:rPr>
              <a:t>	</a:t>
            </a:r>
            <a:r>
              <a:rPr dirty="0" sz="6600" spc="-975">
                <a:solidFill>
                  <a:srgbClr val="AF8557"/>
                </a:solidFill>
                <a:latin typeface="Arial"/>
                <a:cs typeface="Arial"/>
              </a:rPr>
              <a:t>-</a:t>
            </a:r>
            <a:r>
              <a:rPr dirty="0" sz="6600">
                <a:solidFill>
                  <a:srgbClr val="AF8557"/>
                </a:solidFill>
                <a:latin typeface="Arial"/>
                <a:cs typeface="Arial"/>
              </a:rPr>
              <a:t>	</a:t>
            </a:r>
            <a:r>
              <a:rPr dirty="0" sz="6600" spc="-1240">
                <a:solidFill>
                  <a:srgbClr val="A88357"/>
                </a:solidFill>
                <a:latin typeface="Arial"/>
                <a:cs typeface="Arial"/>
              </a:rPr>
              <a:t>‹</a:t>
            </a:r>
            <a:endParaRPr sz="66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752818" y="9296752"/>
            <a:ext cx="594804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30">
                <a:latin typeface="Arial"/>
                <a:cs typeface="Arial"/>
              </a:rPr>
              <a:t>lngënieur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 spc="-55">
                <a:latin typeface="Arial"/>
                <a:cs typeface="Arial"/>
              </a:rPr>
              <a:t>Bensebane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 spc="-45">
                <a:latin typeface="Arial"/>
                <a:cs typeface="Arial"/>
              </a:rPr>
              <a:t>Sofiane</a:t>
            </a:r>
            <a:r>
              <a:rPr dirty="0" sz="1600" spc="-60">
                <a:latin typeface="Arial"/>
                <a:cs typeface="Arial"/>
              </a:rPr>
              <a:t> </a:t>
            </a:r>
            <a:r>
              <a:rPr dirty="0" baseline="-12152" sz="2400">
                <a:solidFill>
                  <a:srgbClr val="444444"/>
                </a:solidFill>
                <a:latin typeface="Arial"/>
                <a:cs typeface="Arial"/>
              </a:rPr>
              <a:t>I</a:t>
            </a:r>
            <a:r>
              <a:rPr dirty="0" baseline="-12152" sz="2400" spc="-44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600" spc="-45">
                <a:latin typeface="Arial"/>
                <a:cs typeface="Arial"/>
              </a:rPr>
              <a:t>[Placeholder</a:t>
            </a:r>
            <a:r>
              <a:rPr dirty="0" sz="1600" spc="130"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111111"/>
                </a:solidFill>
                <a:latin typeface="Arial"/>
                <a:cs typeface="Arial"/>
              </a:rPr>
              <a:t>for</a:t>
            </a:r>
            <a:r>
              <a:rPr dirty="0" sz="1600" spc="-65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600" spc="-25">
                <a:latin typeface="Arial"/>
                <a:cs typeface="Arial"/>
              </a:rPr>
              <a:t>Contact</a:t>
            </a:r>
            <a:r>
              <a:rPr dirty="0" sz="1600" spc="-10">
                <a:latin typeface="Arial"/>
                <a:cs typeface="Arial"/>
              </a:rPr>
              <a:t> Information]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6106012" y="9413522"/>
            <a:ext cx="123063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>
                <a:latin typeface="Arial"/>
                <a:cs typeface="Arial"/>
              </a:rPr>
              <a:t>G</a:t>
            </a:r>
            <a:r>
              <a:rPr dirty="0" sz="1500" spc="275">
                <a:latin typeface="Arial"/>
                <a:cs typeface="Arial"/>
              </a:rPr>
              <a:t> </a:t>
            </a:r>
            <a:r>
              <a:rPr dirty="0" sz="1500" spc="-90">
                <a:latin typeface="Arial"/>
                <a:cs typeface="Arial"/>
              </a:rPr>
              <a:t>NotebookLM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2025-12-11T07:05:46Z</dcterms:created>
  <dcterms:modified xsi:type="dcterms:W3CDTF">2025-12-11T07:05:46Z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2025-12-11T00:00:00Z</vt:filetime>
  </property>
  <property fmtid="{D5CDD505-2E9C-101B-9397-08002B2CF9AE}" pid="3" name="LastSaved">
    <vt:filetime>2025-12-11T00:00:00Z</vt:filetime>
  </property>
</Properties>
</file>